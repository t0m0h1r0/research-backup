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1bb7e4b7be94e2f" /><Relationship Type="http://schemas.openxmlformats.org/officeDocument/2006/relationships/extended-properties" Target="/docProps/app.xml" Id="R5d1ab6fa28a74b5d" /><Relationship Type="http://schemas.openxmlformats.org/officeDocument/2006/relationships/officeDocument" Target="/ppt/presentation.xml" Id="R692fd2c0f6e7429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0638090351b4c45"/>
  </p:sldMasterIdLst>
  <p:notesMasterIdLst>
    <p:notesMasterId xmlns:r="http://schemas.openxmlformats.org/officeDocument/2006/relationships" r:id="R41e4758736cf4cb0"/>
  </p:notesMasterIdLst>
  <p:sldIdLst>
    <p:sldId xmlns:r="http://schemas.openxmlformats.org/officeDocument/2006/relationships" id="256" r:id="Rb067fbc0d10941fb"/>
    <p:sldId xmlns:r="http://schemas.openxmlformats.org/officeDocument/2006/relationships" id="257" r:id="R73488b53727543bb"/>
    <p:sldId xmlns:r="http://schemas.openxmlformats.org/officeDocument/2006/relationships" id="258" r:id="Rcc48a474a15d4e7c"/>
    <p:sldId xmlns:r="http://schemas.openxmlformats.org/officeDocument/2006/relationships" id="259" r:id="R3ff64a93867641ca"/>
    <p:sldId xmlns:r="http://schemas.openxmlformats.org/officeDocument/2006/relationships" id="260" r:id="R58026e6bf1aa4bd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638090351b4c45" /><Relationship Type="http://schemas.openxmlformats.org/officeDocument/2006/relationships/theme" Target="/ppt/theme/theme1.xml" Id="R0acceab0f28e41b9" /><Relationship Type="http://schemas.openxmlformats.org/officeDocument/2006/relationships/notesMaster" Target="/ppt/notesMasters/notesMaster1.xml" Id="R41e4758736cf4cb0" /><Relationship Type="http://schemas.openxmlformats.org/officeDocument/2006/relationships/presProps" Target="/ppt/presProps.xml" Id="R674e7bee9a064be8" /><Relationship Type="http://schemas.openxmlformats.org/officeDocument/2006/relationships/viewProps" Target="/ppt/viewProps.xml" Id="R0ed17215abd343b4" /><Relationship Type="http://schemas.openxmlformats.org/officeDocument/2006/relationships/tableStyles" Target="/ppt/tableStyles.xml" Id="R35e05f2dcaf04e11" /><Relationship Type="http://schemas.openxmlformats.org/officeDocument/2006/relationships/slide" Target="/ppt/slides/slide1.xml" Id="Rb067fbc0d10941fb" /><Relationship Type="http://schemas.openxmlformats.org/officeDocument/2006/relationships/slide" Target="/ppt/slides/slide2.xml" Id="R73488b53727543bb" /><Relationship Type="http://schemas.openxmlformats.org/officeDocument/2006/relationships/slide" Target="/ppt/slides/slide3.xml" Id="Rcc48a474a15d4e7c" /><Relationship Type="http://schemas.openxmlformats.org/officeDocument/2006/relationships/slide" Target="/ppt/slides/slide4.xml" Id="R3ff64a93867641ca" /><Relationship Type="http://schemas.openxmlformats.org/officeDocument/2006/relationships/slide" Target="/ppt/slides/slide5.xml" Id="R58026e6bf1aa4bd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5ff0ce091bc0405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a3ce4ff7eed497e" /><Relationship Type="http://schemas.openxmlformats.org/officeDocument/2006/relationships/notesMaster" Target="/ppt/notesMasters/notesMaster1.xml" Id="R0e0547fdb350426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01382d56b56404f" /><Relationship Type="http://schemas.openxmlformats.org/officeDocument/2006/relationships/notesMaster" Target="/ppt/notesMasters/notesMaster1.xml" Id="R94d1b75cac4f4c7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481820735bb46ff" /><Relationship Type="http://schemas.openxmlformats.org/officeDocument/2006/relationships/notesMaster" Target="/ppt/notesMasters/notesMaster1.xml" Id="R3439fd2671374fe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dd442ab5b7a4dd6" /><Relationship Type="http://schemas.openxmlformats.org/officeDocument/2006/relationships/notesMaster" Target="/ppt/notesMasters/notesMaster1.xml" Id="R9f1582af8b7443a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313fd11d7ee49bc" /><Relationship Type="http://schemas.openxmlformats.org/officeDocument/2006/relationships/notesMaster" Target="/ppt/notesMasters/notesMaster1.xml" Id="Ra795a52b6ccb48e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172539d5f0468b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c9b97ad8e8c14b53" /><Relationship Type="http://schemas.openxmlformats.org/officeDocument/2006/relationships/slideLayout" Target="/ppt/slideLayouts/slideLayout2.xml" Id="Rc496f0efc013465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496f0efc013465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2c8aee9bdfa427f" /><Relationship Type="http://schemas.openxmlformats.org/officeDocument/2006/relationships/notesSlide" Target="/ppt/notesSlides/notesSlide1.xml" Id="Re261568561204bb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815811010bb4093" /><Relationship Type="http://schemas.openxmlformats.org/officeDocument/2006/relationships/notesSlide" Target="/ppt/notesSlides/notesSlide2.xml" Id="R5938b155a3f8443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3dce29d97b2425a" /><Relationship Type="http://schemas.openxmlformats.org/officeDocument/2006/relationships/notesSlide" Target="/ppt/notesSlides/notesSlide3.xml" Id="R38d7a31ddd87425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855485475be47e2" /><Relationship Type="http://schemas.openxmlformats.org/officeDocument/2006/relationships/notesSlide" Target="/ppt/notesSlides/notesSlide4.xml" Id="R0f44bd526a0c46d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52b58c6645d411f" /><Relationship Type="http://schemas.openxmlformats.org/officeDocument/2006/relationships/notesSlide" Target="/ppt/notesSlides/notesSlide5.xml" Id="Ra646c39696be458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A12B065-0628-4B86-8A88-EBCF8C2C6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2CA525-F434-4CE5-9EFC-87A42F495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84D4D0-ACEB-4CB0-992B-A79827105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04800"/>
            <a:ext cx="666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766E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0F766E"/>
                </a:solidFill>
                <a:latin typeface="Hiragino Sans"/>
                <a:ea typeface="Hiragino Sans"/>
                <a:cs typeface="Hiragino Sans"/>
              </a:rPr>
              <a:t>事故当日の問いから始める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1447A6-3AA5-41A7-8757-248ECE725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76225"/>
            <a:ext cx="609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F6B7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868091-98C3-4484-9FC4-B101B7E28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04850"/>
            <a:ext cx="10191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rPr>
              <a:t>最新バックアップが、危ない復元先になりうる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DE10FC-B812-4015-B682-D1B1A25FF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04950"/>
            <a:ext cx="10363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A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5F6B7A"/>
                </a:solidFill>
                <a:latin typeface="Hiragino Sans"/>
                <a:ea typeface="Hiragino Sans"/>
                <a:cs typeface="Hiragino Sans"/>
              </a:rPr>
              <a:t>本モデルでは、侵入後に潜伏するケースを扱う。症状が出た日に見るべきなのは、最新ではなく「推定した侵入前」の清浄候補。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0D978A-B88E-461B-BE82-B6C8933A7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0250"/>
            <a:ext cx="10801350" cy="3295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50631A-CC8B-4B6E-BA44-DCD41FC97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66950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rPr>
              <a:t>復元候補の時系列：最新より、侵入前の清浄候補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19F932-44E4-4A93-B26E-4CCBB6F3D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705100"/>
            <a:ext cx="670560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4E2">
              <a:alpha val="53333"/>
            </a:srgbClr>
          </a:solidFill>
          <a:ln xmlns:a="http://schemas.openxmlformats.org/drawingml/2006/main" w="9525">
            <a:solidFill>
              <a:srgbClr val="B4231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19AC3C-5199-4C75-9618-0A593E4E6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838450"/>
            <a:ext cx="5029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B42318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B42318"/>
                </a:solidFill>
                <a:latin typeface="Hiragino Sans"/>
                <a:ea typeface="Hiragino Sans"/>
                <a:cs typeface="Hiragino Sans"/>
              </a:rPr>
              <a:t>侵入後に取得された世代は、見た目が正常でも要注意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3FBC0D-876A-4ED6-9351-8E748DEBF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448050"/>
            <a:ext cx="8858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250A29-4385-475E-8C6E-204B46FF3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400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923129-4E0B-4CE5-9DB1-68F8C70CD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33800"/>
            <a:ext cx="106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rPr>
              <a:t>12日前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15B7BA-670D-4678-BE40-178AF125E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57650"/>
            <a:ext cx="1104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8AB50E-6504-4CE7-BFB6-7E2822144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24325"/>
            <a:ext cx="9525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803D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15803D"/>
                </a:solidFill>
                <a:latin typeface="Hiragino Sans"/>
                <a:ea typeface="Hiragino Sans"/>
                <a:cs typeface="Hiragino Sans"/>
              </a:rPr>
              <a:t>清浄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27C1F5-DCC8-4EE7-852B-B5B142C39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400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1F0B72-B87F-4DD6-BBCC-6FF18C131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733800"/>
            <a:ext cx="106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rPr>
              <a:t>10日前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25F4AC-4B5D-4904-86D4-DB904BD17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057650"/>
            <a:ext cx="1104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A59868-EADE-4B9B-9D62-5465E099B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124325"/>
            <a:ext cx="9525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803D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15803D"/>
                </a:solidFill>
                <a:latin typeface="Hiragino Sans"/>
                <a:ea typeface="Hiragino Sans"/>
                <a:cs typeface="Hiragino Sans"/>
              </a:rPr>
              <a:t>清浄候補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5D8AE8-63B0-4D79-A4A6-6E2F6B215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400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D7C2CC-D5B6-4CBD-98EA-941E5DEAA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733800"/>
            <a:ext cx="106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rPr>
              <a:t>7日前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3DB2AF-2D9A-44C9-ABD8-9DA2B55E3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057650"/>
            <a:ext cx="1104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4E2"/>
          </a:solidFill>
          <a:ln xmlns:a="http://schemas.openxmlformats.org/drawingml/2006/main" w="0">
            <a:solidFill>
              <a:srgbClr val="FEE4E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F1682B-A421-4746-880E-9E8CBD9D0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124325"/>
            <a:ext cx="9525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42318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42318"/>
                </a:solidFill>
                <a:latin typeface="Hiragino Sans"/>
                <a:ea typeface="Hiragino Sans"/>
                <a:cs typeface="Hiragino Sans"/>
              </a:rPr>
              <a:t>汚染疑い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684948-6784-40CB-871D-1F3FA1EF1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400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E2F81A-93EC-4881-B2AA-7B880DDF9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106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rPr>
              <a:t>3日前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2C942A-FEFD-4AAB-B5D8-A37DA06AD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057650"/>
            <a:ext cx="1104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4E2"/>
          </a:solidFill>
          <a:ln xmlns:a="http://schemas.openxmlformats.org/drawingml/2006/main" w="0">
            <a:solidFill>
              <a:srgbClr val="FEE4E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A8FAB7A-42D3-4B85-85F5-95E938FE4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24325"/>
            <a:ext cx="9525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42318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42318"/>
                </a:solidFill>
                <a:latin typeface="Hiragino Sans"/>
                <a:ea typeface="Hiragino Sans"/>
                <a:cs typeface="Hiragino Sans"/>
              </a:rPr>
              <a:t>汚染疑い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DF2C67A-8AEC-4601-98AB-7D001BBAF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400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A90AE71-FBC7-443D-AD2F-C5160F937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733800"/>
            <a:ext cx="106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rPr>
              <a:t>今日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CF3AD4F-60F5-4AE0-A0DF-509D0A29E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057650"/>
            <a:ext cx="1104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4E2"/>
          </a:solidFill>
          <a:ln xmlns:a="http://schemas.openxmlformats.org/drawingml/2006/main" w="0">
            <a:solidFill>
              <a:srgbClr val="FEE4E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71E66A5-BF72-425D-A5B1-EE1422948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124325"/>
            <a:ext cx="9525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42318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42318"/>
                </a:solidFill>
                <a:latin typeface="Hiragino Sans"/>
                <a:ea typeface="Hiragino Sans"/>
                <a:cs typeface="Hiragino Sans"/>
              </a:rPr>
              <a:t>最新だが危険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AA5CCA3-C8C3-4108-832F-B0D656EF5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552700"/>
            <a:ext cx="3810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56B288D-85BF-4352-AE60-A9CD098DE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533650"/>
            <a:ext cx="971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6F2E7D1-929D-4263-AA0A-11F32660C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600325"/>
            <a:ext cx="8191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45309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45309"/>
                </a:solidFill>
                <a:latin typeface="Hiragino Sans"/>
                <a:ea typeface="Hiragino Sans"/>
                <a:cs typeface="Hiragino Sans"/>
              </a:rPr>
              <a:t>推定侵入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F49DCF3-8B4C-464A-88B7-11E5855AF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552700"/>
            <a:ext cx="47625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84EB2EE-718A-4712-93E7-987F4646E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247900"/>
            <a:ext cx="106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4E2"/>
          </a:solidFill>
          <a:ln xmlns:a="http://schemas.openxmlformats.org/drawingml/2006/main" w="0">
            <a:solidFill>
              <a:srgbClr val="FEE4E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0FB5F57-1B4F-41E0-93A0-363C6FFE7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314575"/>
            <a:ext cx="9144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42318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42318"/>
                </a:solidFill>
                <a:latin typeface="Hiragino Sans"/>
                <a:ea typeface="Hiragino Sans"/>
                <a:cs typeface="Hiragino Sans"/>
              </a:rPr>
              <a:t>発症・検知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4B0FD9F-5B50-45E5-80F3-28EBBF0B2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304800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5803D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7D22FFE-4038-4A8E-9428-31C9BC7F6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3105150"/>
            <a:ext cx="400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5803D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5803D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A33EF88-8932-4BCE-A30B-CE665CAE6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4800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B4231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4692C52-F43A-48C8-855E-4767172D8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3095625"/>
            <a:ext cx="419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×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979375B-CEED-4E72-9EE8-8F16E0926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610100"/>
            <a:ext cx="68961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rPr>
              <a:t>復旧判断は「最新へ戻す」ではなく</a:t>
            </a:r>
          </a:p>
          <a:p xmlns:a="http://schemas.openxmlformats.org/drawingml/2006/main">
            <a:pPr algn="ctr">
              <a:defRPr sz="1650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rPr>
              <a:t>「推定した侵入前へ戻れるか」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2A4CB38-1816-4601-8230-BCE6DF1B9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562600"/>
            <a:ext cx="8458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91E4577-CF19-4346-9232-807911A00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715000"/>
            <a:ext cx="781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rPr>
              <a:t>復元前に清浄性を確認する。研究の入口は「清浄な復元点が残っているか」。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B272262-FD68-47D5-BCF2-999AD2034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11239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90B12D5-6394-4E6E-900B-41F307467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53200"/>
            <a:ext cx="11125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Provenance note: 01_introduction.tex; 02_model_formulation.tex. Model boundary: post-intrusion backups may be contaminated.</a:t>
            </a:r>
          </a:p>
        </p:txBody>
      </p:sp>
    </p:spTree>
    <p:extLst>
      <p:ext uri="{BB962C8B-B14F-4D97-AF65-F5344CB8AC3E}">
        <p14:creationId xmlns:p14="http://schemas.microsoft.com/office/powerpoint/2010/main" val="178238357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7AF3622-2036-4066-A257-CE9682ED0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77B445-AAE7-4A84-9DA1-5E49F4ABE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07575F-3AF3-4599-8663-CDE70892F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04800"/>
            <a:ext cx="666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766E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0F766E"/>
                </a:solidFill>
                <a:latin typeface="Hiragino Sans"/>
                <a:ea typeface="Hiragino Sans"/>
                <a:cs typeface="Hiragino Sans"/>
              </a:rPr>
              <a:t>検知を復旧可能性で評価する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433CF1-C176-4692-9BE8-ED7A4367C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76225"/>
            <a:ext cx="609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F6B7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3DCEF5-9AC8-4E3A-A631-D18A897C0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04850"/>
            <a:ext cx="10191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rPr>
              <a:t>良いアラートは、清浄世代が消える前に鳴る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7E3D6D-3241-4907-9D99-E75D7475B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04950"/>
            <a:ext cx="10363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A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5F6B7A"/>
                </a:solidFill>
                <a:latin typeface="Hiragino Sans"/>
                <a:ea typeface="Hiragino Sans"/>
                <a:cs typeface="Hiragino Sans"/>
              </a:rPr>
              <a:t>アラート時刻を、復旧できる／できないの設計判定に翻訳する。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FEB949-B7EE-4AEB-BBD4-686EB24D2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000250"/>
            <a:ext cx="8267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defRPr>
            </a:pPr>
            <a:r>
              <a:rPr sz="2550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rPr>
              <a:t>検知性能  →  清浄復旧できたか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8A86A0-0E56-45EC-96A7-0E60F9C3C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1083945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278F37-D65E-47B9-8CAA-706FCB15E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009900"/>
            <a:ext cx="3905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aₙ(Δ) = nΔ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932221-7C0A-4ECF-9C3B-BFEC56C74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943350"/>
            <a:ext cx="7219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06E048-8A12-4894-A5D6-2B10452B4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94335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4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198072-9774-4AF5-90E7-8124506CA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114800"/>
            <a:ext cx="89344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03BF73-3822-4A94-B636-00E596366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714750"/>
            <a:ext cx="38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0D5391-A381-4A81-A838-DC7C7065D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714750"/>
            <a:ext cx="38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FDA1B8-C2F6-4219-9142-2CAF2F564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48200"/>
            <a:ext cx="1581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C6EC35-12DF-4D80-B339-1DFAA0EFC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714875"/>
            <a:ext cx="14287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5803D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15803D"/>
                </a:solidFill>
                <a:latin typeface="Hiragino Sans"/>
                <a:ea typeface="Hiragino Sans"/>
                <a:cs typeface="Hiragino Sans"/>
              </a:rPr>
              <a:t>侵入前の清浄候補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A935F6-1F6D-424B-BE30-59C9540CF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648200"/>
            <a:ext cx="1104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4E2"/>
          </a:solidFill>
          <a:ln xmlns:a="http://schemas.openxmlformats.org/drawingml/2006/main" w="0">
            <a:solidFill>
              <a:srgbClr val="FEE4E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D23091-870B-4EDB-9DCD-99F969646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714875"/>
            <a:ext cx="9525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42318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B42318"/>
                </a:solidFill>
                <a:latin typeface="Hiragino Sans"/>
                <a:ea typeface="Hiragino Sans"/>
                <a:cs typeface="Hiragino Sans"/>
              </a:rPr>
              <a:t>保持期限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B46660-24C9-42EB-AB6D-3D7ECC066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343400"/>
            <a:ext cx="5219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5803D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5803D"/>
                </a:solidFill>
                <a:latin typeface="Hiragino Sans"/>
                <a:ea typeface="Hiragino Sans"/>
                <a:cs typeface="Hiragino Sans"/>
              </a:rPr>
              <a:t>検知時点の感染後経過時間が nΔ 内なら、復旧可能として扱う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C88135-83B0-45DB-813C-448E311E6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200650"/>
            <a:ext cx="3352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42318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B42318"/>
                </a:solidFill>
                <a:latin typeface="Hiragino Sans"/>
                <a:ea typeface="Hiragino Sans"/>
                <a:cs typeface="Hiragino Sans"/>
              </a:rPr>
              <a:t>この設計では清浄復旧に失敗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AADDA2-DB12-4759-9F1C-47DD6F588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429250"/>
            <a:ext cx="1657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28F978-9807-4C9F-80D3-777D721B8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495925"/>
            <a:ext cx="15049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D4ED8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1D4ED8"/>
                </a:solidFill>
                <a:latin typeface="Hiragino Sans"/>
                <a:ea typeface="Hiragino Sans"/>
                <a:cs typeface="Hiragino Sans"/>
              </a:rPr>
              <a:t>n = 保持世代数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D686B5-93D2-4475-A490-AB5850FD4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429250"/>
            <a:ext cx="1371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C20E2D-06B1-4C69-9CBB-313FE6195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5495925"/>
            <a:ext cx="12192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45309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B45309"/>
                </a:solidFill>
                <a:latin typeface="Hiragino Sans"/>
                <a:ea typeface="Hiragino Sans"/>
                <a:cs typeface="Hiragino Sans"/>
              </a:rPr>
              <a:t>Δ = 間隔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9FDCCC-A4A2-4E4F-A172-EBAB43518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429250"/>
            <a:ext cx="2400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FBF1"/>
          </a:solidFill>
          <a:ln xmlns:a="http://schemas.openxmlformats.org/drawingml/2006/main" w="0">
            <a:solidFill>
              <a:srgbClr val="CCFBF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AFE2F5-EC09-4ABC-933B-F6B0EB87F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495925"/>
            <a:ext cx="22479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F766E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0F766E"/>
                </a:solidFill>
                <a:latin typeface="Hiragino Sans"/>
                <a:ea typeface="Hiragino Sans"/>
                <a:cs typeface="Hiragino Sans"/>
              </a:rPr>
              <a:t>aₙ = 清浄復旧ホライズン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141BFDA-71AC-4DD2-BE5C-8A74E9D61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429250"/>
            <a:ext cx="1847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AB3373-F44C-4347-B49A-4C4CAA9D1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495925"/>
            <a:ext cx="16954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F6B7A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5F6B7A"/>
                </a:solidFill>
                <a:latin typeface="Hiragino Sans"/>
                <a:ea typeface="Hiragino Sans"/>
                <a:cs typeface="Hiragino Sans"/>
              </a:rPr>
              <a:t>評価領域: nΔ &gt; tₘ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A841AC8-5F92-4611-9DA8-193BAE56D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11239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2A35CFD-3290-422D-95DF-285A8C599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53200"/>
            <a:ext cx="11125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Provenance note: 02_model_formulation.tex; 08_conclusion.tex. Recoverability is modeled through infection age and clean-backup horizon.</a:t>
            </a:r>
          </a:p>
        </p:txBody>
      </p:sp>
    </p:spTree>
    <p:extLst>
      <p:ext uri="{BB962C8B-B14F-4D97-AF65-F5344CB8AC3E}">
        <p14:creationId xmlns:p14="http://schemas.microsoft.com/office/powerpoint/2010/main" val="90941684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1979F6B-4D61-4B02-800E-938A00DF0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3FF19B-658B-4C6C-BF46-1BEDF3D24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EA8F43-3CD6-4F5E-81BE-AC682B54F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04800"/>
            <a:ext cx="666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766E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0F766E"/>
                </a:solidFill>
                <a:latin typeface="Hiragino Sans"/>
                <a:ea typeface="Hiragino Sans"/>
                <a:cs typeface="Hiragino Sans"/>
              </a:rPr>
              <a:t>なぜ平均では危ないか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58A9F7-39E0-4DC8-A06F-85D968AC0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76225"/>
            <a:ext cx="609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F6B7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07C498-5186-4FBC-96D4-248F466E9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04850"/>
            <a:ext cx="10191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rPr>
              <a:t>Pareto型の潜伏モデルでは、少数の長期感染が保持窓を超える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88A3A7-938F-4344-B32B-EB603CFD9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04950"/>
            <a:ext cx="10363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A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5F6B7A"/>
                </a:solidFill>
                <a:latin typeface="Hiragino Sans"/>
                <a:ea typeface="Hiragino Sans"/>
                <a:cs typeface="Hiragino Sans"/>
              </a:rPr>
              <a:t>モデル上のポイントは、典型的な潜伏時間ではなく、長く残る尾が復旧不能リスクを作ること。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405C06-163E-460B-B412-66CAFF87A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4857750" cy="3067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D24DCA-A30D-4D94-A816-E4F4B3D04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24100"/>
            <a:ext cx="2952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rPr>
              <a:t>短い潜伏だけを見る保持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4838A5-2439-4416-AE97-E1539EC89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91000"/>
            <a:ext cx="3638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F85159-F396-49C6-948F-56604478B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99085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F6B7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5F6B7A"/>
                </a:solidFill>
                <a:latin typeface="Hiragino Sans"/>
                <a:ea typeface="Hiragino Sans"/>
                <a:cs typeface="Hiragino Sans"/>
              </a:rPr>
              <a:t>横軸: 潜伏期間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9EA592-EE89-432C-951B-5B12A202A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19400"/>
            <a:ext cx="990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F6B7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5F6B7A"/>
                </a:solidFill>
                <a:latin typeface="Hiragino Sans"/>
                <a:ea typeface="Hiragino Sans"/>
                <a:cs typeface="Hiragino Sans"/>
              </a:rPr>
              <a:t>発生しやすさ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0BCB8A-9EE9-4213-8DB4-40EA176E2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676650"/>
            <a:ext cx="247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6B04FD-E710-4DBC-A96F-4FD4A8E87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333750"/>
            <a:ext cx="2476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A0EC3C-8E7D-4366-8FDA-E1C4F5F11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048000"/>
            <a:ext cx="2476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E4EED0-A827-4D9F-AC22-8D737B3DE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95650"/>
            <a:ext cx="2476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E8CD0B-6309-4C75-9DD2-5602E4060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714750"/>
            <a:ext cx="2476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B8CA3F-4972-47FB-9056-9AE23A22A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724150"/>
            <a:ext cx="381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782DD6-EA80-413C-B525-556FA7A3C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686050"/>
            <a:ext cx="1866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10534D-706F-4211-96D7-2EDAFDA9A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752725"/>
            <a:ext cx="17145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45309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45309"/>
                </a:solidFill>
                <a:latin typeface="Hiragino Sans"/>
                <a:ea typeface="Hiragino Sans"/>
                <a:cs typeface="Hiragino Sans"/>
              </a:rPr>
              <a:t>保持窓（ポリシー境界）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1859C4-5326-493B-829A-02D89DE50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495800"/>
            <a:ext cx="219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D4ED8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1D4ED8"/>
                </a:solidFill>
                <a:latin typeface="Hiragino Sans"/>
                <a:ea typeface="Hiragino Sans"/>
                <a:cs typeface="Hiragino Sans"/>
              </a:rPr>
              <a:t>典型例だけ見ると</a:t>
            </a:r>
          </a:p>
          <a:p xmlns:a="http://schemas.openxmlformats.org/drawingml/2006/main">
            <a:pPr algn="ctr">
              <a:defRPr sz="1350" b="1">
                <a:solidFill>
                  <a:srgbClr val="1D4ED8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1D4ED8"/>
                </a:solidFill>
                <a:latin typeface="Hiragino Sans"/>
                <a:ea typeface="Hiragino Sans"/>
                <a:cs typeface="Hiragino Sans"/>
              </a:rPr>
              <a:t>十分に見える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F342BD-AA89-46C4-AB09-0282B0313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076450"/>
            <a:ext cx="4857750" cy="3067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AD7B81-8291-42F3-BED3-E9B675483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32410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rPr>
              <a:t>尾まで見る保持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E87CBF-51B6-4A91-8423-2F52E4422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191000"/>
            <a:ext cx="3638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F2A98E-0C4C-4F27-AB0C-495BD63C6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99085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F6B7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5F6B7A"/>
                </a:solidFill>
                <a:latin typeface="Hiragino Sans"/>
                <a:ea typeface="Hiragino Sans"/>
                <a:cs typeface="Hiragino Sans"/>
              </a:rPr>
              <a:t>横軸: 潜伏期間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C52FF9-21AF-4BBC-918A-EAE94ECCC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724150"/>
            <a:ext cx="112395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4E2">
              <a:alpha val="53333"/>
            </a:srgbClr>
          </a:solidFill>
          <a:ln xmlns:a="http://schemas.openxmlformats.org/drawingml/2006/main" w="9525">
            <a:solidFill>
              <a:srgbClr val="B4231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0A006A-8EFB-4D93-B24A-7A6274B41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543300"/>
            <a:ext cx="2095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9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1C90519-9ADA-4ACA-AE8A-B59D63132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238500"/>
            <a:ext cx="2095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9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16878F1-31BA-4203-A5ED-89B2A3588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933700"/>
            <a:ext cx="2095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9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DD4D4B5-7D59-4139-BAC8-457BAD8C9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295650"/>
            <a:ext cx="2095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9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69685F7-CBE0-4564-BA25-8174B6308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524250"/>
            <a:ext cx="2095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9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FE72555-36E0-4829-AA5A-C9A57D740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638550"/>
            <a:ext cx="209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4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7AF2D76-E744-48FF-BF5B-FB7D32F65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771900"/>
            <a:ext cx="209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4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043A4C5-27BD-4DA4-83F9-9F9693E43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724150"/>
            <a:ext cx="381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67A461F-DA5E-454E-B85C-91F6701DF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86050"/>
            <a:ext cx="1695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CCE8FC9-33FC-4E78-8142-375106CD9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752725"/>
            <a:ext cx="15430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45309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B45309"/>
                </a:solidFill>
                <a:latin typeface="Hiragino Sans"/>
                <a:ea typeface="Hiragino Sans"/>
                <a:cs typeface="Hiragino Sans"/>
              </a:rPr>
              <a:t>保持窓（同じ境界）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0562945-E3BB-4305-B97A-FB9DBF166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95800"/>
            <a:ext cx="2724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42318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B42318"/>
                </a:solidFill>
                <a:latin typeface="Hiragino Sans"/>
                <a:ea typeface="Hiragino Sans"/>
                <a:cs typeface="Hiragino Sans"/>
              </a:rPr>
              <a:t>少数の長期潜伏が</a:t>
            </a:r>
          </a:p>
          <a:p xmlns:a="http://schemas.openxmlformats.org/drawingml/2006/main">
            <a:pPr algn="ctr">
              <a:defRPr sz="1350" b="1">
                <a:solidFill>
                  <a:srgbClr val="B42318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B42318"/>
                </a:solidFill>
                <a:latin typeface="Hiragino Sans"/>
                <a:ea typeface="Hiragino Sans"/>
                <a:cs typeface="Hiragino Sans"/>
              </a:rPr>
              <a:t>清浄世代を押し出す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D2FF2AF-C5DD-463A-B000-8E9D0C8D9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600700"/>
            <a:ext cx="9525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rPr>
              <a:t>典型例が短く見えても、少数の長期潜伏が保持窓を超える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60BD321-23F3-4B1E-BDDE-333799530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11239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EA2BB9D-5B5F-46AF-B87C-FE24C4851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53200"/>
            <a:ext cx="11125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Provenance note: 01_introduction.tex; 04_tauber_transition.tex. Pareto dwell time is a model assumption, not an empirical claim.</a:t>
            </a:r>
          </a:p>
        </p:txBody>
      </p:sp>
    </p:spTree>
    <p:extLst>
      <p:ext uri="{BB962C8B-B14F-4D97-AF65-F5344CB8AC3E}">
        <p14:creationId xmlns:p14="http://schemas.microsoft.com/office/powerpoint/2010/main" val="168661617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56B8C5B-8C9D-49B1-8477-79DA4CFFE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EAD2AA-5C89-46F9-AB33-52B44E8A6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34CD00-1DAA-40EF-A9ED-525F3A0C4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04800"/>
            <a:ext cx="666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766E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0F766E"/>
                </a:solidFill>
                <a:latin typeface="Hiragino Sans"/>
                <a:ea typeface="Hiragino Sans"/>
                <a:cs typeface="Hiragino Sans"/>
              </a:rPr>
              <a:t>論文の答えを運用語へ直す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D77260-5DCA-4901-A4A6-E1DD63F8F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76225"/>
            <a:ext cx="609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F6B7A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3EC985-8BB9-4946-85FB-EA28E4F67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04850"/>
            <a:ext cx="10191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rPr>
              <a:t>まず決めるのは、何日前まで清浄に戻れるべきか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36F3C5-CEE7-4E2E-845F-E2A2CAF7B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04950"/>
            <a:ext cx="10363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A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5F6B7A"/>
                </a:solidFill>
                <a:latin typeface="Hiragino Sans"/>
                <a:ea typeface="Hiragino Sans"/>
                <a:cs typeface="Hiragino Sans"/>
              </a:rPr>
              <a:t>清浄復旧ホライズンを先に決め、あとから世代数 n とバックアップ間隔 Δ に分解する。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96269F-BEE6-43B9-9D6E-98B6932BD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10858500" cy="3409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A14C6C-6826-4DF8-BD8E-5520B4FF1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05050"/>
            <a:ext cx="514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rPr>
              <a:t>損失・復旧時間・スキャン負荷から a* を出す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F6C22A-0666-40E7-B402-6D02E55B3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895600"/>
            <a:ext cx="4819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Δ* = [L − (d₁τ_R + d₀)] / (d₁κ_s n)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510E15-BDD2-4596-818B-02829CACA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62350"/>
            <a:ext cx="590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a* = nΔ* = [L − (d₁τ_R + d₀)] / (d₁κ_s)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280001-72B0-46CD-A4E5-FC9D01986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324350"/>
            <a:ext cx="1790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8D3ABD-AD78-4A51-AC96-EF869C089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391025"/>
            <a:ext cx="16383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45309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B45309"/>
                </a:solidFill>
                <a:latin typeface="Hiragino Sans"/>
                <a:ea typeface="Hiragino Sans"/>
                <a:cs typeface="Hiragino Sans"/>
              </a:rPr>
              <a:t>Δ*: バックアップ間隔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7AA8A3-27CA-415B-A799-9317C42E9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324350"/>
            <a:ext cx="2114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FBF1"/>
          </a:solidFill>
          <a:ln xmlns:a="http://schemas.openxmlformats.org/drawingml/2006/main" w="0">
            <a:solidFill>
              <a:srgbClr val="CCFBF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AE0F13-0BDB-40D1-9560-71CD1A775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391025"/>
            <a:ext cx="19621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F766E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0F766E"/>
                </a:solidFill>
                <a:latin typeface="Hiragino Sans"/>
                <a:ea typeface="Hiragino Sans"/>
                <a:cs typeface="Hiragino Sans"/>
              </a:rPr>
              <a:t>a*: 残すべき清浄期間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2A15C4-4171-474A-9252-8DF82F467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781550"/>
            <a:ext cx="4229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F1F5F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367781-E48A-4DD9-A642-59F1C15AA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848225"/>
            <a:ext cx="40767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F6B7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5F6B7A"/>
                </a:solidFill>
                <a:latin typeface="Hiragino Sans"/>
                <a:ea typeface="Hiragino Sans"/>
                <a:cs typeface="Hiragino Sans"/>
              </a:rPr>
              <a:t>内点条件: L &gt; d₁τ_R+d₀, κ_s&gt;0, Δ*∈D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9564D7-525E-4F32-AC74-3DAEBCE58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647950"/>
            <a:ext cx="36576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F0E6AF-713D-497C-B98C-261600689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85750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rPr>
              <a:t>変数の読み方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949FFC-C90D-413A-BA13-2542D094D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3909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49E146-F798-415E-8DB4-D07621C1D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314700"/>
            <a:ext cx="2781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1717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171717"/>
                </a:solidFill>
                <a:latin typeface="Hiragino Sans"/>
                <a:ea typeface="Hiragino Sans"/>
                <a:cs typeface="Hiragino Sans"/>
              </a:rPr>
              <a:t>損失差 → 古い清浄点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ABC930-CFC9-4703-BF93-DA674EF2D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0767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EBC44F-2C07-4D77-95AA-7C8139449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000500"/>
            <a:ext cx="2781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1717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171717"/>
                </a:solidFill>
                <a:latin typeface="Hiragino Sans"/>
                <a:ea typeface="Hiragino Sans"/>
                <a:cs typeface="Hiragino Sans"/>
              </a:rPr>
              <a:t>τ_R・d₀ → 復旧後も残る損失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E833B1-B64B-4615-A146-20090C2B0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7625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F90852-2683-4B91-9810-8EAA19351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686300"/>
            <a:ext cx="2781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1717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171717"/>
                </a:solidFill>
                <a:latin typeface="Hiragino Sans"/>
                <a:ea typeface="Hiragino Sans"/>
                <a:cs typeface="Hiragino Sans"/>
              </a:rPr>
              <a:t>κ_s → 長く戻る運用コスト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DEDDEF-144B-4E86-98E4-1EE056579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562600"/>
            <a:ext cx="94107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4E2">
              <a:alpha val="33333"/>
            </a:srgbClr>
          </a:solidFill>
          <a:ln xmlns:a="http://schemas.openxmlformats.org/drawingml/2006/main" w="9525">
            <a:solidFill>
              <a:srgbClr val="B4231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46AE72-9AEB-478D-B5F5-12BC91BD3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695950"/>
            <a:ext cx="9410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B42318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B42318"/>
                </a:solidFill>
                <a:latin typeface="Hiragino Sans"/>
                <a:ea typeface="Hiragino Sans"/>
                <a:cs typeface="Hiragino Sans"/>
              </a:rPr>
              <a:t>式が正でない／許容範囲外なら、単純適用せず端点評価と保持設計を見直す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A51C2E7-DF2C-4020-9FDA-0A35CEBBA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11239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DD95FD9-3740-4B98-A261-AB79DD955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53200"/>
            <a:ext cx="11125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Provenance note: 05_backup_optimization.tex; 08_conclusion.tex. Formula is conditional on the stated interior/admissible design assumptions.</a:t>
            </a:r>
          </a:p>
        </p:txBody>
      </p:sp>
    </p:spTree>
    <p:extLst>
      <p:ext uri="{BB962C8B-B14F-4D97-AF65-F5344CB8AC3E}">
        <p14:creationId xmlns:p14="http://schemas.microsoft.com/office/powerpoint/2010/main" val="136064743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3684DF4-79F4-4D41-8988-1CA3F5983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56EE6E-5E34-4033-982F-FB632FF0A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BC98BB-F65F-408D-A2F6-14FF8B253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04800"/>
            <a:ext cx="666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766E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0F766E"/>
                </a:solidFill>
                <a:latin typeface="Hiragino Sans"/>
                <a:ea typeface="Hiragino Sans"/>
                <a:cs typeface="Hiragino Sans"/>
              </a:rPr>
              <a:t>運用として何が得られるか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5175AF-F0D2-47A5-A33E-DDCD2B37F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76225"/>
            <a:ext cx="609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F6B7A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9D66FE-A9BC-4F4C-8339-76DF00D36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04850"/>
            <a:ext cx="10191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defRPr>
            </a:pPr>
            <a:r>
              <a:rPr sz="2325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rPr>
              <a:t>バックアップは後始末ではなく、防御設計の入力になる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8C3A16-6DEF-45D8-8912-CA4BA1400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04950"/>
            <a:ext cx="10363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A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5F6B7A"/>
                </a:solidFill>
                <a:latin typeface="Hiragino Sans"/>
                <a:ea typeface="Hiragino Sans"/>
                <a:cs typeface="Hiragino Sans"/>
              </a:rPr>
              <a:t>検知・復旧・保持を、同じ損失表で比べるための手順に落とす。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449098-E3B7-4826-96A5-57B9FD5F2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234315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F75A3B-B204-4EC1-80C3-40643C59B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765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E4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AC6A75-48CC-442B-9FB0-2466DC36C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52700"/>
            <a:ext cx="438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F0C293-ABB4-4998-B0C1-FE1663DB2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457450"/>
            <a:ext cx="1257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rPr>
              <a:t>損失を置く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F41319-771E-48EE-9697-A0DC090C4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19450"/>
            <a:ext cx="1809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rPr>
              <a:t>L、d₁、d₀ を見積もる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BA9A3B-0655-4B63-90C8-6668BAA87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076575"/>
            <a:ext cx="419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5F6B7A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C2495E-6A97-43D3-B4B9-5C4F00DC9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209800"/>
            <a:ext cx="234315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DA91B1-90A9-4B36-BD85-215DD5E9A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4765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FF65CD-2E36-4609-8FCD-22CB89B7E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552700"/>
            <a:ext cx="438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FF6F36-2D83-430F-A0D9-ED79189EB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457450"/>
            <a:ext cx="1257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rPr>
              <a:t>復旧を測る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9C592F-A830-4558-BEAD-9302B2B97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219450"/>
            <a:ext cx="1809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rPr>
              <a:t>τ_R と κ_s を置く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24FE38-E751-4BC6-868A-908C5D6DE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076575"/>
            <a:ext cx="419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5F6B7A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AB3ADD-3D05-47CB-9E49-C8FCE0239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09800"/>
            <a:ext cx="234315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70B62E-1BEB-4455-8025-E31C9C29F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765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943E97-DF95-4127-9979-0DCBC6113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52700"/>
            <a:ext cx="438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D4ED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D4ED8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8623B9-006D-4DC4-AE2F-EF8339961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457450"/>
            <a:ext cx="1257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rPr>
              <a:t>遅れを見る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C57E2D-1670-45C9-8F2F-A5045C539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219450"/>
            <a:ext cx="1809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rPr>
              <a:t>感染後経過が a* 内か見る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B175A0-DEC1-4E03-A3C9-A5BA14E3C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076575"/>
            <a:ext cx="419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5F6B7A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A2BE7D-00A0-40F2-B2CF-CF8B13B15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209800"/>
            <a:ext cx="234315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04AEDF2-A664-4314-AB8A-92F37E5EF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4765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CFB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55AC641-C618-4898-A355-C846BA517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552700"/>
            <a:ext cx="438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CDDA92A-E775-4716-AD05-FBBEE4EF7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457450"/>
            <a:ext cx="1257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rPr>
              <a:t>保持を決める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A81B513-E5AD-46AF-B43B-6F1293CF8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219450"/>
            <a:ext cx="1809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rPr>
              <a:t>n、Δ、追加世代を評価する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CD5C46E-C806-49A8-AD56-86A5578F2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800600"/>
            <a:ext cx="95059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2322D96-EE50-4FCA-A772-096E714BF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029200"/>
            <a:ext cx="8915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5803D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15803D"/>
                </a:solidFill>
                <a:latin typeface="Hiragino Sans"/>
                <a:ea typeface="Hiragino Sans"/>
                <a:cs typeface="Hiragino Sans"/>
              </a:rPr>
              <a:t>実務値は自組織で再計算する。数値例はスケール確認であり、パラメータは実証推定値ではない。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449536A-1874-4FA4-B13E-3BDB701A0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867400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9FE"/>
          </a:solidFill>
          <a:ln xmlns:a="http://schemas.openxmlformats.org/drawingml/2006/main" w="0">
            <a:solidFill>
              <a:srgbClr val="EDE9FE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63C9F45-2F28-402C-A09B-CD6B13E0F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934075"/>
            <a:ext cx="12763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D28D9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6D28D9"/>
                </a:solidFill>
                <a:latin typeface="Hiragino Sans"/>
                <a:ea typeface="Hiragino Sans"/>
                <a:cs typeface="Hiragino Sans"/>
              </a:rPr>
              <a:t>追加保持費用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B850D6A-B922-4CC3-9AA7-F396B31C8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5867400"/>
            <a:ext cx="1752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4E2"/>
          </a:solidFill>
          <a:ln xmlns:a="http://schemas.openxmlformats.org/drawingml/2006/main" w="0">
            <a:solidFill>
              <a:srgbClr val="FEE4E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7AFEAEB-A029-45FB-ABA8-63AD6D7BF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5934075"/>
            <a:ext cx="16002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42318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B42318"/>
                </a:solidFill>
                <a:latin typeface="Hiragino Sans"/>
                <a:ea typeface="Hiragino Sans"/>
                <a:cs typeface="Hiragino Sans"/>
              </a:rPr>
              <a:t>復旧不能ペナルティ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7E47924-76F5-46B5-B4B4-489594A34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915025"/>
            <a:ext cx="2819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171717"/>
                </a:solidFill>
                <a:latin typeface="Hiragino Sans"/>
                <a:ea typeface="Hiragino Sans"/>
                <a:cs typeface="Hiragino Sans"/>
              </a:rPr>
              <a:t>を置いて、追加保持世代を評価する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5F87C02-A4DD-44FF-9DC6-987692DA0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9850"/>
            <a:ext cx="11239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73C869D-0410-400A-9851-7D29B128B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53200"/>
            <a:ext cx="11125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Provenance note: 05_backup_optimization.tex; 06_dynamic_retention.tex; 07_numerical_examples.tex; docs/evidence/heavy_tail_backup_source_note.md.</a:t>
            </a:r>
          </a:p>
        </p:txBody>
      </p:sp>
    </p:spTree>
    <p:extLst>
      <p:ext uri="{BB962C8B-B14F-4D97-AF65-F5344CB8AC3E}">
        <p14:creationId xmlns:p14="http://schemas.microsoft.com/office/powerpoint/2010/main" val="14787194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2026-05-06T04:57:45.8590000Z</dcterms:created>
  <dcterms:modified xsi:type="dcterms:W3CDTF">2026-05-06T04:57:45.8590000Z</dcterms:modified>
</coreProperties>
</file>