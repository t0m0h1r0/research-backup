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9057350c7847d4" /><Relationship Type="http://schemas.openxmlformats.org/officeDocument/2006/relationships/extended-properties" Target="/docProps/app.xml" Id="R201dad59a1574932" /><Relationship Type="http://schemas.openxmlformats.org/officeDocument/2006/relationships/officeDocument" Target="/ppt/presentation.xml" Id="R1f3dc6b4d2f3499d" /></Relationships>
</file>

<file path=ppt/presentation.xml><?xml version="1.0" encoding="utf-8"?>
<p:presentation xmlns:p="http://schemas.openxmlformats.org/presentationml/2006/main">
  <p:sldMasterIdLst>
    <p:sldMasterId xmlns:r="http://schemas.openxmlformats.org/officeDocument/2006/relationships" id="2147483648" r:id="R0024e7f8a9a34084"/>
  </p:sldMasterIdLst>
  <p:notesMasterIdLst>
    <p:notesMasterId xmlns:r="http://schemas.openxmlformats.org/officeDocument/2006/relationships" r:id="R7ff891270a294320"/>
  </p:notesMasterIdLst>
  <p:sldIdLst>
    <p:sldId xmlns:r="http://schemas.openxmlformats.org/officeDocument/2006/relationships" id="256" r:id="Rbbb56b5c6c7e41c9"/>
    <p:sldId xmlns:r="http://schemas.openxmlformats.org/officeDocument/2006/relationships" id="257" r:id="R6069a768599e46cd"/>
    <p:sldId xmlns:r="http://schemas.openxmlformats.org/officeDocument/2006/relationships" id="258" r:id="R690b2d641b2f400b"/>
    <p:sldId xmlns:r="http://schemas.openxmlformats.org/officeDocument/2006/relationships" id="259" r:id="R3c2f772de55c44cd"/>
    <p:sldId xmlns:r="http://schemas.openxmlformats.org/officeDocument/2006/relationships" id="260" r:id="R0f3bd6353c01487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0024e7f8a9a34084" /><Relationship Type="http://schemas.openxmlformats.org/officeDocument/2006/relationships/theme" Target="/ppt/theme/theme1.xml" Id="Ref42775460714760" /><Relationship Type="http://schemas.openxmlformats.org/officeDocument/2006/relationships/notesMaster" Target="/ppt/notesMasters/notesMaster1.xml" Id="R7ff891270a294320" /><Relationship Type="http://schemas.openxmlformats.org/officeDocument/2006/relationships/presProps" Target="/ppt/presProps.xml" Id="Ra51687bd93e94db9" /><Relationship Type="http://schemas.openxmlformats.org/officeDocument/2006/relationships/viewProps" Target="/ppt/viewProps.xml" Id="R36addaa8a50d4005" /><Relationship Type="http://schemas.openxmlformats.org/officeDocument/2006/relationships/tableStyles" Target="/ppt/tableStyles.xml" Id="R02ce8f9e46ca48d0" /><Relationship Type="http://schemas.openxmlformats.org/officeDocument/2006/relationships/slide" Target="/ppt/slides/slide1.xml" Id="Rbbb56b5c6c7e41c9" /><Relationship Type="http://schemas.openxmlformats.org/officeDocument/2006/relationships/slide" Target="/ppt/slides/slide2.xml" Id="R6069a768599e46cd" /><Relationship Type="http://schemas.openxmlformats.org/officeDocument/2006/relationships/slide" Target="/ppt/slides/slide3.xml" Id="R690b2d641b2f400b" /><Relationship Type="http://schemas.openxmlformats.org/officeDocument/2006/relationships/slide" Target="/ppt/slides/slide4.xml" Id="R3c2f772de55c44cd" /><Relationship Type="http://schemas.openxmlformats.org/officeDocument/2006/relationships/slide" Target="/ppt/slides/slide5.xml" Id="R0f3bd6353c0148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0c5d540a0f24c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0c62ea235d4779" /><Relationship Type="http://schemas.openxmlformats.org/officeDocument/2006/relationships/notesMaster" Target="/ppt/notesMasters/notesMaster1.xml" Id="R0f662e97c6e24f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2246247a4142a4" /><Relationship Type="http://schemas.openxmlformats.org/officeDocument/2006/relationships/notesMaster" Target="/ppt/notesMasters/notesMaster1.xml" Id="Rd356f6957f0f44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2b31e6fc4c41ba" /><Relationship Type="http://schemas.openxmlformats.org/officeDocument/2006/relationships/notesMaster" Target="/ppt/notesMasters/notesMaster1.xml" Id="R63c173ef528a40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729e26117e4733" /><Relationship Type="http://schemas.openxmlformats.org/officeDocument/2006/relationships/notesMaster" Target="/ppt/notesMasters/notesMaster1.xml" Id="R5dac44ef41534f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338e9646664da8" /><Relationship Type="http://schemas.openxmlformats.org/officeDocument/2006/relationships/notesMaster" Target="/ppt/notesMasters/notesMaster1.xml" Id="R28a596108dae48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87282d0d0a4944"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da6bb8e6544d4376" /><Relationship Type="http://schemas.openxmlformats.org/officeDocument/2006/relationships/slideLayout" Target="/ppt/slideLayouts/slideLayout2.xml" Id="R8dcdb4749a4443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cdb4749a4443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45461250724f4dab" /><Relationship Type="http://schemas.openxmlformats.org/officeDocument/2006/relationships/notesSlide" Target="/ppt/notesSlides/notesSlide1.xml" Id="R8157f37eafec40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b4d3db40d8de43e2" /><Relationship Type="http://schemas.openxmlformats.org/officeDocument/2006/relationships/notesSlide" Target="/ppt/notesSlides/notesSlide2.xml" Id="R94912438f83c4d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3925e9e9368e413b" /><Relationship Type="http://schemas.openxmlformats.org/officeDocument/2006/relationships/notesSlide" Target="/ppt/notesSlides/notesSlide3.xml" Id="R10bd3ff4c0ce41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fcbfeefff7004cd8" /><Relationship Type="http://schemas.openxmlformats.org/officeDocument/2006/relationships/notesSlide" Target="/ppt/notesSlides/notesSlide4.xml" Id="R304742dfd3944bae"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0ffbebd0cb1e4e09" /><Relationship Type="http://schemas.openxmlformats.org/officeDocument/2006/relationships/notesSlide" Target="/ppt/notesSlides/notesSlide5.xml" Id="R9b31a91285ce466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3C225D-4A83-4703-B286-025E13AC11D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8F4"/>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54B2743-8C3C-4A4E-851C-77130D1D793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E4DBD9B5-9C8D-4A2A-B525-5B07D3064AEC}"/>
              </a:ext>
            </a:extLst>
          </p:cNvPr>
          <p:cNvSpPr>
            <a:spLocks xmlns:a="http://schemas.openxmlformats.org/drawingml/2006/main" noGrp="1"/>
          </p:cNvSpPr>
          <p:nvPr/>
        </p:nvSpPr>
        <p:spPr>
          <a:xfrm xmlns:a="http://schemas.openxmlformats.org/drawingml/2006/main">
            <a:off x="0" y="66675"/>
            <a:ext cx="12192000" cy="28575"/>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3294259-CD0D-4963-8072-9530A162B74E}"/>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A78BD63-1E2D-4DDC-98D0-0B1DABC96FF8}"/>
              </a:ext>
            </a:extLst>
          </p:cNvPr>
          <p:cNvSpPr>
            <a:spLocks xmlns:a="http://schemas.openxmlformats.org/drawingml/2006/main" noGrp="1"/>
          </p:cNvSpPr>
          <p:nvPr/>
        </p:nvSpPr>
        <p:spPr>
          <a:xfrm xmlns:a="http://schemas.openxmlformats.org/drawingml/2006/main">
            <a:off x="742950" y="342900"/>
            <a:ext cx="685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5F6B75"/>
                </a:solidFill>
                <a:latin typeface="Hiragino Sans"/>
                <a:ea typeface="Hiragino Sans"/>
                <a:cs typeface="Hiragino Sans"/>
              </a:defRPr>
            </a:pPr>
            <a:r>
              <a:rPr sz="825" b="1">
                <a:solidFill>
                  <a:srgbClr val="5F6B75"/>
                </a:solidFill>
                <a:latin typeface="Hiragino Sans"/>
                <a:ea typeface="Hiragino Sans"/>
                <a:cs typeface="Hiragino Sans"/>
              </a:rPr>
              <a:t>研究内容紹介 | Heavy-tail backup design</a:t>
            </a:r>
          </a:p>
        </p:txBody>
      </p:sp>
      <p:sp>
        <p:nvSpPr>
          <p:cNvPr id="6" name="">
            <a:extLst xmlns:a="http://schemas.openxmlformats.org/drawingml/2006/main">
              <a:ext uri="{FF2B5EF4-FFF2-40B4-BE49-F238E27FC236}">
                <a16:creationId xmlns:a16="http://schemas.microsoft.com/office/drawing/2014/main" id="{6A31AAC2-1289-4B3F-A5A9-A0ECC0D285C1}"/>
              </a:ext>
            </a:extLst>
          </p:cNvPr>
          <p:cNvSpPr>
            <a:spLocks xmlns:a="http://schemas.openxmlformats.org/drawingml/2006/main" noGrp="1"/>
          </p:cNvSpPr>
          <p:nvPr/>
        </p:nvSpPr>
        <p:spPr>
          <a:xfrm xmlns:a="http://schemas.openxmlformats.org/drawingml/2006/main">
            <a:off x="552450" y="762000"/>
            <a:ext cx="885825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7202A"/>
                </a:solidFill>
                <a:latin typeface="Hiragino Sans"/>
                <a:ea typeface="Hiragino Sans"/>
                <a:cs typeface="Hiragino Sans"/>
              </a:defRPr>
            </a:pPr>
            <a:r>
              <a:rPr sz="2775" b="1">
                <a:solidFill>
                  <a:srgbClr val="17202A"/>
                </a:solidFill>
                <a:latin typeface="Hiragino Sans"/>
                <a:ea typeface="Hiragino Sans"/>
                <a:cs typeface="Hiragino Sans"/>
              </a:rPr>
              <a:t>検知の速さだけでは、復旧点は守れない</a:t>
            </a:r>
          </a:p>
        </p:txBody>
      </p:sp>
      <p:sp>
        <p:nvSpPr>
          <p:cNvPr id="7" name="">
            <a:extLst xmlns:a="http://schemas.openxmlformats.org/drawingml/2006/main">
              <a:ext uri="{FF2B5EF4-FFF2-40B4-BE49-F238E27FC236}">
                <a16:creationId xmlns:a16="http://schemas.microsoft.com/office/drawing/2014/main" id="{1276C262-E319-46B6-8C6F-6D304F780ACF}"/>
              </a:ext>
            </a:extLst>
          </p:cNvPr>
          <p:cNvSpPr>
            <a:spLocks xmlns:a="http://schemas.openxmlformats.org/drawingml/2006/main" noGrp="1"/>
          </p:cNvSpPr>
          <p:nvPr/>
        </p:nvSpPr>
        <p:spPr>
          <a:xfrm xmlns:a="http://schemas.openxmlformats.org/drawingml/2006/main">
            <a:off x="552450" y="1695450"/>
            <a:ext cx="9620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025" b="1">
                <a:solidFill>
                  <a:srgbClr val="26323F"/>
                </a:solidFill>
                <a:latin typeface="Hiragino Sans"/>
                <a:ea typeface="Hiragino Sans"/>
                <a:cs typeface="Hiragino Sans"/>
              </a:defRPr>
            </a:pPr>
            <a:r>
              <a:rPr sz="2025" b="1">
                <a:solidFill>
                  <a:srgbClr val="26323F"/>
                </a:solidFill>
                <a:latin typeface="Hiragino Sans"/>
                <a:ea typeface="Hiragino Sans"/>
                <a:cs typeface="Hiragino Sans"/>
              </a:rPr>
              <a:t>問うべき量は time-to-detect だけでなく、</a:t>
            </a:r>
          </a:p>
          <a:p xmlns:a="http://schemas.openxmlformats.org/drawingml/2006/main">
            <a:pPr algn="l">
              <a:defRPr sz="2025" b="1">
                <a:solidFill>
                  <a:srgbClr val="26323F"/>
                </a:solidFill>
                <a:latin typeface="Hiragino Sans"/>
                <a:ea typeface="Hiragino Sans"/>
                <a:cs typeface="Hiragino Sans"/>
              </a:defRPr>
            </a:pPr>
            <a:r>
              <a:rPr sz="2025" b="1">
                <a:solidFill>
                  <a:srgbClr val="26323F"/>
                </a:solidFill>
                <a:latin typeface="Hiragino Sans"/>
                <a:ea typeface="Hiragino Sans"/>
                <a:cs typeface="Hiragino Sans"/>
              </a:rPr>
              <a:t>「どこまで清浄に戻れるか」。</a:t>
            </a:r>
          </a:p>
        </p:txBody>
      </p:sp>
      <p:sp>
        <p:nvSpPr>
          <p:cNvPr id="8" name="">
            <a:extLst xmlns:a="http://schemas.openxmlformats.org/drawingml/2006/main">
              <a:ext uri="{FF2B5EF4-FFF2-40B4-BE49-F238E27FC236}">
                <a16:creationId xmlns:a16="http://schemas.microsoft.com/office/drawing/2014/main" id="{B854DC00-6230-45D0-8BCC-78056A1C76E9}"/>
              </a:ext>
            </a:extLst>
          </p:cNvPr>
          <p:cNvSpPr>
            <a:spLocks xmlns:a="http://schemas.openxmlformats.org/drawingml/2006/main" noGrp="1"/>
          </p:cNvSpPr>
          <p:nvPr/>
        </p:nvSpPr>
        <p:spPr>
          <a:xfrm xmlns:a="http://schemas.openxmlformats.org/drawingml/2006/main">
            <a:off x="552450" y="2838450"/>
            <a:ext cx="4953000" cy="2381250"/>
          </a:xfrm>
          <a:prstGeom xmlns:a="http://schemas.openxmlformats.org/drawingml/2006/main" prst="rect">
            <a:avLst/>
          </a:prstGeom>
          <a:solidFill xmlns:a="http://schemas.openxmlformats.org/drawingml/2006/main">
            <a:srgbClr val="FFFFFF"/>
          </a:solidFill>
          <a:ln xmlns:a="http://schemas.openxmlformats.org/drawingml/2006/main" w="9525">
            <a:solidFill>
              <a:srgbClr val="D7DCCF"/>
            </a:solidFill>
            <a:prstDash val="solid"/>
          </a:ln>
        </p:spPr>
      </p:sp>
      <p:sp>
        <p:nvSpPr>
          <p:cNvPr id="9" name="">
            <a:extLst xmlns:a="http://schemas.openxmlformats.org/drawingml/2006/main">
              <a:ext uri="{FF2B5EF4-FFF2-40B4-BE49-F238E27FC236}">
                <a16:creationId xmlns:a16="http://schemas.microsoft.com/office/drawing/2014/main" id="{61E00A86-D134-4D30-A379-0BE0074DC044}"/>
              </a:ext>
            </a:extLst>
          </p:cNvPr>
          <p:cNvSpPr>
            <a:spLocks xmlns:a="http://schemas.openxmlformats.org/drawingml/2006/main" noGrp="1"/>
          </p:cNvSpPr>
          <p:nvPr/>
        </p:nvSpPr>
        <p:spPr>
          <a:xfrm xmlns:a="http://schemas.openxmlformats.org/drawingml/2006/main">
            <a:off x="819150" y="3105150"/>
            <a:ext cx="152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0E8A8A"/>
                </a:solidFill>
                <a:latin typeface="Hiragino Sans"/>
                <a:ea typeface="Hiragino Sans"/>
                <a:cs typeface="Hiragino Sans"/>
              </a:defRPr>
            </a:pPr>
            <a:r>
              <a:rPr sz="1050" b="1">
                <a:solidFill>
                  <a:srgbClr val="0E8A8A"/>
                </a:solidFill>
                <a:latin typeface="Hiragino Sans"/>
                <a:ea typeface="Hiragino Sans"/>
                <a:cs typeface="Hiragino Sans"/>
              </a:rPr>
              <a:t>出発点</a:t>
            </a:r>
          </a:p>
        </p:txBody>
      </p:sp>
      <p:sp>
        <p:nvSpPr>
          <p:cNvPr id="10" name="">
            <a:extLst xmlns:a="http://schemas.openxmlformats.org/drawingml/2006/main">
              <a:ext uri="{FF2B5EF4-FFF2-40B4-BE49-F238E27FC236}">
                <a16:creationId xmlns:a16="http://schemas.microsoft.com/office/drawing/2014/main" id="{D61AAD21-82BF-4798-AA90-DFA95873E7CD}"/>
              </a:ext>
            </a:extLst>
          </p:cNvPr>
          <p:cNvSpPr>
            <a:spLocks xmlns:a="http://schemas.openxmlformats.org/drawingml/2006/main" noGrp="1"/>
          </p:cNvSpPr>
          <p:nvPr/>
        </p:nvSpPr>
        <p:spPr>
          <a:xfrm xmlns:a="http://schemas.openxmlformats.org/drawingml/2006/main">
            <a:off x="819150" y="3486150"/>
            <a:ext cx="4191000" cy="742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7202A"/>
                </a:solidFill>
                <a:latin typeface="Hiragino Sans"/>
                <a:ea typeface="Hiragino Sans"/>
                <a:cs typeface="Hiragino Sans"/>
              </a:defRPr>
            </a:pPr>
            <a:r>
              <a:rPr sz="1575" b="1">
                <a:solidFill>
                  <a:srgbClr val="17202A"/>
                </a:solidFill>
                <a:latin typeface="Hiragino Sans"/>
                <a:ea typeface="Hiragino Sans"/>
                <a:cs typeface="Hiragino Sans"/>
              </a:rPr>
              <a:t>侵入後に取得されたバックアップが汚染されるなら、直近のバックアップが新しいことは十分条件ではない。</a:t>
            </a:r>
          </a:p>
        </p:txBody>
      </p:sp>
      <p:sp>
        <p:nvSpPr>
          <p:cNvPr id="11" name="">
            <a:extLst xmlns:a="http://schemas.openxmlformats.org/drawingml/2006/main">
              <a:ext uri="{FF2B5EF4-FFF2-40B4-BE49-F238E27FC236}">
                <a16:creationId xmlns:a16="http://schemas.microsoft.com/office/drawing/2014/main" id="{AB6F7545-2321-4B34-8D72-50E38975EEBA}"/>
              </a:ext>
            </a:extLst>
          </p:cNvPr>
          <p:cNvSpPr>
            <a:spLocks xmlns:a="http://schemas.openxmlformats.org/drawingml/2006/main" noGrp="1"/>
          </p:cNvSpPr>
          <p:nvPr/>
        </p:nvSpPr>
        <p:spPr>
          <a:xfrm xmlns:a="http://schemas.openxmlformats.org/drawingml/2006/main">
            <a:off x="819150" y="4400550"/>
            <a:ext cx="409575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63" b="0">
                <a:solidFill>
                  <a:srgbClr val="5F6B75"/>
                </a:solidFill>
                <a:latin typeface="Hiragino Sans"/>
                <a:ea typeface="Hiragino Sans"/>
                <a:cs typeface="Hiragino Sans"/>
              </a:defRPr>
            </a:pPr>
            <a:r>
              <a:rPr sz="1163" b="0">
                <a:solidFill>
                  <a:srgbClr val="5F6B75"/>
                </a:solidFill>
                <a:latin typeface="Hiragino Sans"/>
                <a:ea typeface="Hiragino Sans"/>
                <a:cs typeface="Hiragino Sans"/>
              </a:rPr>
              <a:t>ランサムウェア防御は、検知投資とバックアップ保持を同じ設計問題として扱う必要がある。</a:t>
            </a:r>
          </a:p>
        </p:txBody>
      </p:sp>
      <p:sp>
        <p:nvSpPr>
          <p:cNvPr id="12" name="">
            <a:extLst xmlns:a="http://schemas.openxmlformats.org/drawingml/2006/main">
              <a:ext uri="{FF2B5EF4-FFF2-40B4-BE49-F238E27FC236}">
                <a16:creationId xmlns:a16="http://schemas.microsoft.com/office/drawing/2014/main" id="{ABB0FABA-F007-49AD-9BAF-390BF58D9207}"/>
              </a:ext>
            </a:extLst>
          </p:cNvPr>
          <p:cNvSpPr>
            <a:spLocks xmlns:a="http://schemas.openxmlformats.org/drawingml/2006/main" noGrp="1"/>
          </p:cNvSpPr>
          <p:nvPr/>
        </p:nvSpPr>
        <p:spPr>
          <a:xfrm xmlns:a="http://schemas.openxmlformats.org/drawingml/2006/main">
            <a:off x="6191250" y="3657600"/>
            <a:ext cx="4800600" cy="28575"/>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74E0C9A9-3CBE-40B3-AD60-CC0750500023}"/>
              </a:ext>
            </a:extLst>
          </p:cNvPr>
          <p:cNvSpPr>
            <a:spLocks xmlns:a="http://schemas.openxmlformats.org/drawingml/2006/main" noGrp="1"/>
          </p:cNvSpPr>
          <p:nvPr/>
        </p:nvSpPr>
        <p:spPr>
          <a:xfrm xmlns:a="http://schemas.openxmlformats.org/drawingml/2006/main">
            <a:off x="6191250" y="3409950"/>
            <a:ext cx="28575" cy="5334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EAE70DF9-2D3F-4A17-86E5-89E897A0E74A}"/>
              </a:ext>
            </a:extLst>
          </p:cNvPr>
          <p:cNvSpPr>
            <a:spLocks xmlns:a="http://schemas.openxmlformats.org/drawingml/2006/main" noGrp="1"/>
          </p:cNvSpPr>
          <p:nvPr/>
        </p:nvSpPr>
        <p:spPr>
          <a:xfrm xmlns:a="http://schemas.openxmlformats.org/drawingml/2006/main">
            <a:off x="9191625" y="3409950"/>
            <a:ext cx="28575" cy="5334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330445CC-3BB2-4A1F-8C87-9B73859DA75C}"/>
              </a:ext>
            </a:extLst>
          </p:cNvPr>
          <p:cNvSpPr>
            <a:spLocks xmlns:a="http://schemas.openxmlformats.org/drawingml/2006/main" noGrp="1"/>
          </p:cNvSpPr>
          <p:nvPr/>
        </p:nvSpPr>
        <p:spPr>
          <a:xfrm xmlns:a="http://schemas.openxmlformats.org/drawingml/2006/main">
            <a:off x="10991850" y="3409950"/>
            <a:ext cx="28575" cy="5334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6FF28813-61E5-40BD-B4B3-6FDA5D75D7A6}"/>
              </a:ext>
            </a:extLst>
          </p:cNvPr>
          <p:cNvSpPr>
            <a:spLocks xmlns:a="http://schemas.openxmlformats.org/drawingml/2006/main" noGrp="1"/>
          </p:cNvSpPr>
          <p:nvPr/>
        </p:nvSpPr>
        <p:spPr>
          <a:xfrm xmlns:a="http://schemas.openxmlformats.org/drawingml/2006/main">
            <a:off x="6038850" y="3924300"/>
            <a:ext cx="762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26323F"/>
                </a:solidFill>
                <a:latin typeface="Hiragino Sans"/>
                <a:ea typeface="Hiragino Sans"/>
                <a:cs typeface="Hiragino Sans"/>
              </a:defRPr>
            </a:pPr>
            <a:r>
              <a:rPr sz="825" b="1">
                <a:solidFill>
                  <a:srgbClr val="26323F"/>
                </a:solidFill>
                <a:latin typeface="Hiragino Sans"/>
                <a:ea typeface="Hiragino Sans"/>
                <a:cs typeface="Hiragino Sans"/>
              </a:rPr>
              <a:t>侵入</a:t>
            </a:r>
          </a:p>
        </p:txBody>
      </p:sp>
      <p:sp>
        <p:nvSpPr>
          <p:cNvPr id="17" name="">
            <a:extLst xmlns:a="http://schemas.openxmlformats.org/drawingml/2006/main">
              <a:ext uri="{FF2B5EF4-FFF2-40B4-BE49-F238E27FC236}">
                <a16:creationId xmlns:a16="http://schemas.microsoft.com/office/drawing/2014/main" id="{A0407A56-8297-4599-8B72-C4FADAF40EFA}"/>
              </a:ext>
            </a:extLst>
          </p:cNvPr>
          <p:cNvSpPr>
            <a:spLocks xmlns:a="http://schemas.openxmlformats.org/drawingml/2006/main" noGrp="1"/>
          </p:cNvSpPr>
          <p:nvPr/>
        </p:nvSpPr>
        <p:spPr>
          <a:xfrm xmlns:a="http://schemas.openxmlformats.org/drawingml/2006/main">
            <a:off x="8953500" y="3924300"/>
            <a:ext cx="762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26323F"/>
                </a:solidFill>
                <a:latin typeface="Hiragino Sans"/>
                <a:ea typeface="Hiragino Sans"/>
                <a:cs typeface="Hiragino Sans"/>
              </a:defRPr>
            </a:pPr>
            <a:r>
              <a:rPr sz="825" b="1">
                <a:solidFill>
                  <a:srgbClr val="26323F"/>
                </a:solidFill>
                <a:latin typeface="Hiragino Sans"/>
                <a:ea typeface="Hiragino Sans"/>
                <a:cs typeface="Hiragino Sans"/>
              </a:rPr>
              <a:t>検知</a:t>
            </a:r>
          </a:p>
        </p:txBody>
      </p:sp>
      <p:sp>
        <p:nvSpPr>
          <p:cNvPr id="18" name="">
            <a:extLst xmlns:a="http://schemas.openxmlformats.org/drawingml/2006/main">
              <a:ext uri="{FF2B5EF4-FFF2-40B4-BE49-F238E27FC236}">
                <a16:creationId xmlns:a16="http://schemas.microsoft.com/office/drawing/2014/main" id="{AC7F3E5F-C5DF-4AD0-9035-CD110F3E346D}"/>
              </a:ext>
            </a:extLst>
          </p:cNvPr>
          <p:cNvSpPr>
            <a:spLocks xmlns:a="http://schemas.openxmlformats.org/drawingml/2006/main" noGrp="1"/>
          </p:cNvSpPr>
          <p:nvPr/>
        </p:nvSpPr>
        <p:spPr>
          <a:xfrm xmlns:a="http://schemas.openxmlformats.org/drawingml/2006/main">
            <a:off x="10744200" y="3924300"/>
            <a:ext cx="762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B94A48"/>
                </a:solidFill>
                <a:latin typeface="Hiragino Sans"/>
                <a:ea typeface="Hiragino Sans"/>
                <a:cs typeface="Hiragino Sans"/>
              </a:defRPr>
            </a:pPr>
            <a:r>
              <a:rPr sz="825" b="1">
                <a:solidFill>
                  <a:srgbClr val="B94A48"/>
                </a:solidFill>
                <a:latin typeface="Hiragino Sans"/>
                <a:ea typeface="Hiragino Sans"/>
                <a:cs typeface="Hiragino Sans"/>
              </a:rPr>
              <a:t>全損</a:t>
            </a:r>
          </a:p>
        </p:txBody>
      </p:sp>
      <p:sp>
        <p:nvSpPr>
          <p:cNvPr id="19" name="">
            <a:extLst xmlns:a="http://schemas.openxmlformats.org/drawingml/2006/main">
              <a:ext uri="{FF2B5EF4-FFF2-40B4-BE49-F238E27FC236}">
                <a16:creationId xmlns:a16="http://schemas.microsoft.com/office/drawing/2014/main" id="{86706B33-3625-42E4-A160-7974FB02DB19}"/>
              </a:ext>
            </a:extLst>
          </p:cNvPr>
          <p:cNvSpPr>
            <a:spLocks xmlns:a="http://schemas.openxmlformats.org/drawingml/2006/main" noGrp="1"/>
          </p:cNvSpPr>
          <p:nvPr/>
        </p:nvSpPr>
        <p:spPr>
          <a:xfrm xmlns:a="http://schemas.openxmlformats.org/drawingml/2006/main">
            <a:off x="6705600" y="2781300"/>
            <a:ext cx="266700" cy="476250"/>
          </a:xfrm>
          <a:prstGeom xmlns:a="http://schemas.openxmlformats.org/drawingml/2006/main" prst="rect">
            <a:avLst/>
          </a:prstGeom>
          <a:solidFill xmlns:a="http://schemas.openxmlformats.org/drawingml/2006/main">
            <a:srgbClr val="DCEBDF"/>
          </a:solidFill>
          <a:ln xmlns:a="http://schemas.openxmlformats.org/drawingml/2006/main" w="9525">
            <a:solidFill>
              <a:srgbClr val="3D8B61"/>
            </a:solidFill>
            <a:prstDash val="solid"/>
          </a:ln>
        </p:spPr>
      </p:sp>
      <p:sp>
        <p:nvSpPr>
          <p:cNvPr id="20" name="">
            <a:extLst xmlns:a="http://schemas.openxmlformats.org/drawingml/2006/main">
              <a:ext uri="{FF2B5EF4-FFF2-40B4-BE49-F238E27FC236}">
                <a16:creationId xmlns:a16="http://schemas.microsoft.com/office/drawing/2014/main" id="{3B797578-D43F-4AA0-88F3-F50B47E2C256}"/>
              </a:ext>
            </a:extLst>
          </p:cNvPr>
          <p:cNvSpPr>
            <a:spLocks xmlns:a="http://schemas.openxmlformats.org/drawingml/2006/main" noGrp="1"/>
          </p:cNvSpPr>
          <p:nvPr/>
        </p:nvSpPr>
        <p:spPr>
          <a:xfrm xmlns:a="http://schemas.openxmlformats.org/drawingml/2006/main">
            <a:off x="7105650" y="2781300"/>
            <a:ext cx="266700" cy="476250"/>
          </a:xfrm>
          <a:prstGeom xmlns:a="http://schemas.openxmlformats.org/drawingml/2006/main" prst="rect">
            <a:avLst/>
          </a:prstGeom>
          <a:solidFill xmlns:a="http://schemas.openxmlformats.org/drawingml/2006/main">
            <a:srgbClr val="DCEBDF"/>
          </a:solidFill>
          <a:ln xmlns:a="http://schemas.openxmlformats.org/drawingml/2006/main" w="9525">
            <a:solidFill>
              <a:srgbClr val="3D8B61"/>
            </a:solidFill>
            <a:prstDash val="solid"/>
          </a:ln>
        </p:spPr>
      </p:sp>
      <p:sp>
        <p:nvSpPr>
          <p:cNvPr id="21" name="">
            <a:extLst xmlns:a="http://schemas.openxmlformats.org/drawingml/2006/main">
              <a:ext uri="{FF2B5EF4-FFF2-40B4-BE49-F238E27FC236}">
                <a16:creationId xmlns:a16="http://schemas.microsoft.com/office/drawing/2014/main" id="{4F83F4CD-CE29-413E-ADDA-30C45D3CAEDF}"/>
              </a:ext>
            </a:extLst>
          </p:cNvPr>
          <p:cNvSpPr>
            <a:spLocks xmlns:a="http://schemas.openxmlformats.org/drawingml/2006/main" noGrp="1"/>
          </p:cNvSpPr>
          <p:nvPr/>
        </p:nvSpPr>
        <p:spPr>
          <a:xfrm xmlns:a="http://schemas.openxmlformats.org/drawingml/2006/main">
            <a:off x="7505700" y="2781300"/>
            <a:ext cx="266700" cy="47625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22" name="">
            <a:extLst xmlns:a="http://schemas.openxmlformats.org/drawingml/2006/main">
              <a:ext uri="{FF2B5EF4-FFF2-40B4-BE49-F238E27FC236}">
                <a16:creationId xmlns:a16="http://schemas.microsoft.com/office/drawing/2014/main" id="{A0650FB1-B7BB-40E4-A620-CA498D13187C}"/>
              </a:ext>
            </a:extLst>
          </p:cNvPr>
          <p:cNvSpPr>
            <a:spLocks xmlns:a="http://schemas.openxmlformats.org/drawingml/2006/main" noGrp="1"/>
          </p:cNvSpPr>
          <p:nvPr/>
        </p:nvSpPr>
        <p:spPr>
          <a:xfrm xmlns:a="http://schemas.openxmlformats.org/drawingml/2006/main">
            <a:off x="7905750" y="2781300"/>
            <a:ext cx="266700" cy="47625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23" name="">
            <a:extLst xmlns:a="http://schemas.openxmlformats.org/drawingml/2006/main">
              <a:ext uri="{FF2B5EF4-FFF2-40B4-BE49-F238E27FC236}">
                <a16:creationId xmlns:a16="http://schemas.microsoft.com/office/drawing/2014/main" id="{B066FE3E-B34F-4D71-B1E3-C5BB378421FB}"/>
              </a:ext>
            </a:extLst>
          </p:cNvPr>
          <p:cNvSpPr>
            <a:spLocks xmlns:a="http://schemas.openxmlformats.org/drawingml/2006/main" noGrp="1"/>
          </p:cNvSpPr>
          <p:nvPr/>
        </p:nvSpPr>
        <p:spPr>
          <a:xfrm xmlns:a="http://schemas.openxmlformats.org/drawingml/2006/main">
            <a:off x="8305800" y="2781300"/>
            <a:ext cx="266700" cy="47625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24" name="">
            <a:extLst xmlns:a="http://schemas.openxmlformats.org/drawingml/2006/main">
              <a:ext uri="{FF2B5EF4-FFF2-40B4-BE49-F238E27FC236}">
                <a16:creationId xmlns:a16="http://schemas.microsoft.com/office/drawing/2014/main" id="{A29A7752-29EF-4C44-82D0-D5ADD1BDBFBA}"/>
              </a:ext>
            </a:extLst>
          </p:cNvPr>
          <p:cNvSpPr>
            <a:spLocks xmlns:a="http://schemas.openxmlformats.org/drawingml/2006/main" noGrp="1"/>
          </p:cNvSpPr>
          <p:nvPr/>
        </p:nvSpPr>
        <p:spPr>
          <a:xfrm xmlns:a="http://schemas.openxmlformats.org/drawingml/2006/main">
            <a:off x="8705850" y="2781300"/>
            <a:ext cx="266700" cy="47625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25" name="">
            <a:extLst xmlns:a="http://schemas.openxmlformats.org/drawingml/2006/main">
              <a:ext uri="{FF2B5EF4-FFF2-40B4-BE49-F238E27FC236}">
                <a16:creationId xmlns:a16="http://schemas.microsoft.com/office/drawing/2014/main" id="{3C47D76A-E776-4132-94A4-EA1BCC7ACF45}"/>
              </a:ext>
            </a:extLst>
          </p:cNvPr>
          <p:cNvSpPr>
            <a:spLocks xmlns:a="http://schemas.openxmlformats.org/drawingml/2006/main" noGrp="1"/>
          </p:cNvSpPr>
          <p:nvPr/>
        </p:nvSpPr>
        <p:spPr>
          <a:xfrm xmlns:a="http://schemas.openxmlformats.org/drawingml/2006/main">
            <a:off x="9105900" y="2781300"/>
            <a:ext cx="266700" cy="47625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26" name="">
            <a:extLst xmlns:a="http://schemas.openxmlformats.org/drawingml/2006/main">
              <a:ext uri="{FF2B5EF4-FFF2-40B4-BE49-F238E27FC236}">
                <a16:creationId xmlns:a16="http://schemas.microsoft.com/office/drawing/2014/main" id="{FA0361CB-5ACF-49BC-88EC-447A90F2466C}"/>
              </a:ext>
            </a:extLst>
          </p:cNvPr>
          <p:cNvSpPr>
            <a:spLocks xmlns:a="http://schemas.openxmlformats.org/drawingml/2006/main" noGrp="1"/>
          </p:cNvSpPr>
          <p:nvPr/>
        </p:nvSpPr>
        <p:spPr>
          <a:xfrm xmlns:a="http://schemas.openxmlformats.org/drawingml/2006/main">
            <a:off x="6686550" y="2400300"/>
            <a:ext cx="819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3D8B61"/>
                </a:solidFill>
                <a:latin typeface="Hiragino Sans"/>
                <a:ea typeface="Hiragino Sans"/>
                <a:cs typeface="Hiragino Sans"/>
              </a:defRPr>
            </a:pPr>
            <a:r>
              <a:rPr sz="750" b="1">
                <a:solidFill>
                  <a:srgbClr val="3D8B61"/>
                </a:solidFill>
                <a:latin typeface="Hiragino Sans"/>
                <a:ea typeface="Hiragino Sans"/>
                <a:cs typeface="Hiragino Sans"/>
              </a:rPr>
              <a:t>清浄</a:t>
            </a:r>
          </a:p>
        </p:txBody>
      </p:sp>
      <p:sp>
        <p:nvSpPr>
          <p:cNvPr id="27" name="">
            <a:extLst xmlns:a="http://schemas.openxmlformats.org/drawingml/2006/main">
              <a:ext uri="{FF2B5EF4-FFF2-40B4-BE49-F238E27FC236}">
                <a16:creationId xmlns:a16="http://schemas.microsoft.com/office/drawing/2014/main" id="{1F679478-F91B-4501-9CF4-FB7E8B56D50F}"/>
              </a:ext>
            </a:extLst>
          </p:cNvPr>
          <p:cNvSpPr>
            <a:spLocks xmlns:a="http://schemas.openxmlformats.org/drawingml/2006/main" noGrp="1"/>
          </p:cNvSpPr>
          <p:nvPr/>
        </p:nvSpPr>
        <p:spPr>
          <a:xfrm xmlns:a="http://schemas.openxmlformats.org/drawingml/2006/main">
            <a:off x="7524750" y="2590800"/>
            <a:ext cx="2000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B94A48"/>
                </a:solidFill>
                <a:latin typeface="Hiragino Sans"/>
                <a:ea typeface="Hiragino Sans"/>
                <a:cs typeface="Hiragino Sans"/>
              </a:defRPr>
            </a:pPr>
            <a:r>
              <a:rPr sz="750" b="1">
                <a:solidFill>
                  <a:srgbClr val="B94A48"/>
                </a:solidFill>
                <a:latin typeface="Hiragino Sans"/>
                <a:ea typeface="Hiragino Sans"/>
                <a:cs typeface="Hiragino Sans"/>
              </a:rPr>
              <a:t>汚染世代が増える</a:t>
            </a:r>
          </a:p>
        </p:txBody>
      </p:sp>
      <p:sp>
        <p:nvSpPr>
          <p:cNvPr id="28" name="">
            <a:extLst xmlns:a="http://schemas.openxmlformats.org/drawingml/2006/main">
              <a:ext uri="{FF2B5EF4-FFF2-40B4-BE49-F238E27FC236}">
                <a16:creationId xmlns:a16="http://schemas.microsoft.com/office/drawing/2014/main" id="{FB62BD35-6C36-4FE4-8BF4-5C2132D868CC}"/>
              </a:ext>
            </a:extLst>
          </p:cNvPr>
          <p:cNvSpPr>
            <a:spLocks xmlns:a="http://schemas.openxmlformats.org/drawingml/2006/main" noGrp="1"/>
          </p:cNvSpPr>
          <p:nvPr/>
        </p:nvSpPr>
        <p:spPr>
          <a:xfrm xmlns:a="http://schemas.openxmlformats.org/drawingml/2006/main">
            <a:off x="6400800" y="4476750"/>
            <a:ext cx="3314700" cy="400050"/>
          </a:xfrm>
          <a:prstGeom xmlns:a="http://schemas.openxmlformats.org/drawingml/2006/main" prst="rect">
            <a:avLst/>
          </a:prstGeom>
          <a:solidFill xmlns:a="http://schemas.openxmlformats.org/drawingml/2006/main">
            <a:srgbClr val="D9EFEC"/>
          </a:solidFill>
          <a:ln xmlns:a="http://schemas.openxmlformats.org/drawingml/2006/main" w="9525">
            <a:solidFill>
              <a:srgbClr val="0E8A8A"/>
            </a:solidFill>
            <a:prstDash val="solid"/>
          </a:ln>
        </p:spPr>
      </p:sp>
      <p:sp>
        <p:nvSpPr>
          <p:cNvPr id="29" name="">
            <a:extLst xmlns:a="http://schemas.openxmlformats.org/drawingml/2006/main">
              <a:ext uri="{FF2B5EF4-FFF2-40B4-BE49-F238E27FC236}">
                <a16:creationId xmlns:a16="http://schemas.microsoft.com/office/drawing/2014/main" id="{1E709D1F-4103-4015-9FC6-1133EDC70244}"/>
              </a:ext>
            </a:extLst>
          </p:cNvPr>
          <p:cNvSpPr>
            <a:spLocks xmlns:a="http://schemas.openxmlformats.org/drawingml/2006/main" noGrp="1"/>
          </p:cNvSpPr>
          <p:nvPr/>
        </p:nvSpPr>
        <p:spPr>
          <a:xfrm xmlns:a="http://schemas.openxmlformats.org/drawingml/2006/main">
            <a:off x="6591300" y="4591050"/>
            <a:ext cx="2933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0E8A8A"/>
                </a:solidFill>
                <a:latin typeface="Hiragino Sans"/>
                <a:ea typeface="Hiragino Sans"/>
                <a:cs typeface="Hiragino Sans"/>
              </a:defRPr>
            </a:pPr>
            <a:r>
              <a:rPr sz="1050" b="1">
                <a:solidFill>
                  <a:srgbClr val="0E8A8A"/>
                </a:solidFill>
                <a:latin typeface="Hiragino Sans"/>
                <a:ea typeface="Hiragino Sans"/>
                <a:cs typeface="Hiragino Sans"/>
              </a:rPr>
              <a:t>清浄バックアップ保持期間  nΔ</a:t>
            </a:r>
          </a:p>
        </p:txBody>
      </p:sp>
      <p:sp>
        <p:nvSpPr>
          <p:cNvPr id="30" name="">
            <a:extLst xmlns:a="http://schemas.openxmlformats.org/drawingml/2006/main">
              <a:ext uri="{FF2B5EF4-FFF2-40B4-BE49-F238E27FC236}">
                <a16:creationId xmlns:a16="http://schemas.microsoft.com/office/drawing/2014/main" id="{82C4D147-E9A5-49DE-8F09-95154DC455D3}"/>
              </a:ext>
            </a:extLst>
          </p:cNvPr>
          <p:cNvSpPr>
            <a:spLocks xmlns:a="http://schemas.openxmlformats.org/drawingml/2006/main" noGrp="1"/>
          </p:cNvSpPr>
          <p:nvPr/>
        </p:nvSpPr>
        <p:spPr>
          <a:xfrm xmlns:a="http://schemas.openxmlformats.org/drawingml/2006/main">
            <a:off x="9906000" y="4476750"/>
            <a:ext cx="1085850" cy="40005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31" name="">
            <a:extLst xmlns:a="http://schemas.openxmlformats.org/drawingml/2006/main">
              <a:ext uri="{FF2B5EF4-FFF2-40B4-BE49-F238E27FC236}">
                <a16:creationId xmlns:a16="http://schemas.microsoft.com/office/drawing/2014/main" id="{52BA18FE-CAF3-4FBE-A79F-25BC8EA05822}"/>
              </a:ext>
            </a:extLst>
          </p:cNvPr>
          <p:cNvSpPr>
            <a:spLocks xmlns:a="http://schemas.openxmlformats.org/drawingml/2006/main" noGrp="1"/>
          </p:cNvSpPr>
          <p:nvPr/>
        </p:nvSpPr>
        <p:spPr>
          <a:xfrm xmlns:a="http://schemas.openxmlformats.org/drawingml/2006/main">
            <a:off x="10096500" y="4591050"/>
            <a:ext cx="704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B94A48"/>
                </a:solidFill>
                <a:latin typeface="Hiragino Sans"/>
                <a:ea typeface="Hiragino Sans"/>
                <a:cs typeface="Hiragino Sans"/>
              </a:defRPr>
            </a:pPr>
            <a:r>
              <a:rPr sz="1050" b="1">
                <a:solidFill>
                  <a:srgbClr val="B94A48"/>
                </a:solidFill>
                <a:latin typeface="Hiragino Sans"/>
                <a:ea typeface="Hiragino Sans"/>
                <a:cs typeface="Hiragino Sans"/>
              </a:rPr>
              <a:t>復旧不能</a:t>
            </a:r>
          </a:p>
        </p:txBody>
      </p:sp>
      <p:sp>
        <p:nvSpPr>
          <p:cNvPr id="32" name="">
            <a:extLst xmlns:a="http://schemas.openxmlformats.org/drawingml/2006/main">
              <a:ext uri="{FF2B5EF4-FFF2-40B4-BE49-F238E27FC236}">
                <a16:creationId xmlns:a16="http://schemas.microsoft.com/office/drawing/2014/main" id="{E315B35F-803B-4E27-85EE-2C351F17652C}"/>
              </a:ext>
            </a:extLst>
          </p:cNvPr>
          <p:cNvSpPr>
            <a:spLocks xmlns:a="http://schemas.openxmlformats.org/drawingml/2006/main" noGrp="1"/>
          </p:cNvSpPr>
          <p:nvPr/>
        </p:nvSpPr>
        <p:spPr>
          <a:xfrm xmlns:a="http://schemas.openxmlformats.org/drawingml/2006/main">
            <a:off x="8229600" y="5372100"/>
            <a:ext cx="1847850" cy="285750"/>
          </a:xfrm>
          <a:prstGeom xmlns:a="http://schemas.openxmlformats.org/drawingml/2006/main" prst="rect">
            <a:avLst/>
          </a:prstGeom>
          <a:solidFill xmlns:a="http://schemas.openxmlformats.org/drawingml/2006/main">
            <a:srgbClr val="F3E1BF"/>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270839FC-F598-4E50-8759-3D1972415D64}"/>
              </a:ext>
            </a:extLst>
          </p:cNvPr>
          <p:cNvSpPr>
            <a:spLocks xmlns:a="http://schemas.openxmlformats.org/drawingml/2006/main" noGrp="1"/>
          </p:cNvSpPr>
          <p:nvPr/>
        </p:nvSpPr>
        <p:spPr>
          <a:xfrm xmlns:a="http://schemas.openxmlformats.org/drawingml/2006/main">
            <a:off x="8343900" y="5429250"/>
            <a:ext cx="1619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1">
                <a:solidFill>
                  <a:srgbClr val="C9821B"/>
                </a:solidFill>
                <a:latin typeface="Hiragino Sans"/>
                <a:ea typeface="Hiragino Sans"/>
                <a:cs typeface="Hiragino Sans"/>
              </a:defRPr>
            </a:pPr>
            <a:r>
              <a:rPr sz="788" b="1">
                <a:solidFill>
                  <a:srgbClr val="C9821B"/>
                </a:solidFill>
                <a:latin typeface="Hiragino Sans"/>
                <a:ea typeface="Hiragino Sans"/>
                <a:cs typeface="Hiragino Sans"/>
              </a:rPr>
              <a:t>復旧の問いへ翻訳</a:t>
            </a:r>
          </a:p>
        </p:txBody>
      </p:sp>
      <p:sp>
        <p:nvSpPr>
          <p:cNvPr id="34" name="">
            <a:extLst xmlns:a="http://schemas.openxmlformats.org/drawingml/2006/main">
              <a:ext uri="{FF2B5EF4-FFF2-40B4-BE49-F238E27FC236}">
                <a16:creationId xmlns:a16="http://schemas.microsoft.com/office/drawing/2014/main" id="{45DEE2C6-C9DC-4F93-A64F-50BC784D62D3}"/>
              </a:ext>
            </a:extLst>
          </p:cNvPr>
          <p:cNvSpPr>
            <a:spLocks xmlns:a="http://schemas.openxmlformats.org/drawingml/2006/main" noGrp="1"/>
          </p:cNvSpPr>
          <p:nvPr/>
        </p:nvSpPr>
        <p:spPr>
          <a:xfrm xmlns:a="http://schemas.openxmlformats.org/drawingml/2006/main">
            <a:off x="552450" y="6400800"/>
            <a:ext cx="11087100" cy="1143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E87997E3-B066-4EC9-A33E-7A74B87E6D80}"/>
              </a:ext>
            </a:extLst>
          </p:cNvPr>
          <p:cNvSpPr>
            <a:spLocks xmlns:a="http://schemas.openxmlformats.org/drawingml/2006/main" noGrp="1"/>
          </p:cNvSpPr>
          <p:nvPr/>
        </p:nvSpPr>
        <p:spPr>
          <a:xfrm xmlns:a="http://schemas.openxmlformats.org/drawingml/2006/main">
            <a:off x="552450" y="6515100"/>
            <a:ext cx="914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00" b="0">
                <a:solidFill>
                  <a:srgbClr val="5F6B75"/>
                </a:solidFill>
                <a:latin typeface="Hiragino Sans"/>
                <a:ea typeface="Hiragino Sans"/>
                <a:cs typeface="Hiragino Sans"/>
              </a:defRPr>
            </a:pPr>
            <a:r>
              <a:rPr sz="600" b="0">
                <a:solidFill>
                  <a:srgbClr val="5F6B75"/>
                </a:solidFill>
                <a:latin typeface="Hiragino Sans"/>
                <a:ea typeface="Hiragino Sans"/>
                <a:cs typeface="Hiragino Sans"/>
              </a:rPr>
              <a:t>Source: paper/sections/tex/00_abstract.tex; 01_introduction.tex; 02_model_formulation.tex</a:t>
            </a:r>
          </a:p>
        </p:txBody>
      </p:sp>
      <p:sp>
        <p:nvSpPr>
          <p:cNvPr id="36" name="">
            <a:extLst xmlns:a="http://schemas.openxmlformats.org/drawingml/2006/main">
              <a:ext uri="{FF2B5EF4-FFF2-40B4-BE49-F238E27FC236}">
                <a16:creationId xmlns:a16="http://schemas.microsoft.com/office/drawing/2014/main" id="{7614307E-1760-4298-A14A-4FE7DF8007F1}"/>
              </a:ext>
            </a:extLst>
          </p:cNvPr>
          <p:cNvSpPr>
            <a:spLocks xmlns:a="http://schemas.openxmlformats.org/drawingml/2006/main" noGrp="1"/>
          </p:cNvSpPr>
          <p:nvPr/>
        </p:nvSpPr>
        <p:spPr>
          <a:xfrm xmlns:a="http://schemas.openxmlformats.org/drawingml/2006/main">
            <a:off x="11239500" y="6486525"/>
            <a:ext cx="400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5F6B75"/>
                </a:solidFill>
                <a:latin typeface="Hiragino Sans"/>
                <a:ea typeface="Hiragino Sans"/>
                <a:cs typeface="Hiragino Sans"/>
              </a:defRPr>
            </a:pPr>
            <a:r>
              <a:rPr sz="900" b="1">
                <a:solidFill>
                  <a:srgbClr val="5F6B75"/>
                </a:solidFill>
                <a:latin typeface="Hiragino Sans"/>
                <a:ea typeface="Hiragino Sans"/>
                <a:cs typeface="Hiragino Sans"/>
              </a:rPr>
              <a:t>01</a:t>
            </a:r>
          </a:p>
        </p:txBody>
      </p:sp>
    </p:spTree>
    <p:extLst>
      <p:ext uri="{BB962C8B-B14F-4D97-AF65-F5344CB8AC3E}">
        <p14:creationId xmlns:p14="http://schemas.microsoft.com/office/powerpoint/2010/main" val="172805396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E1E785A-0D69-4043-BAC2-4BE02A69B0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8F4"/>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AE86BA7-8F6F-4D58-B81A-24FFEB424385}"/>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8BDD48A7-3BF7-4BB0-962C-BCEC44514BB3}"/>
              </a:ext>
            </a:extLst>
          </p:cNvPr>
          <p:cNvSpPr>
            <a:spLocks xmlns:a="http://schemas.openxmlformats.org/drawingml/2006/main" noGrp="1"/>
          </p:cNvSpPr>
          <p:nvPr/>
        </p:nvSpPr>
        <p:spPr>
          <a:xfrm xmlns:a="http://schemas.openxmlformats.org/drawingml/2006/main">
            <a:off x="0" y="66675"/>
            <a:ext cx="12192000" cy="28575"/>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914648BC-3D1F-4A22-8877-C3BFAF3EDB4B}"/>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90BBF917-5F48-446E-BFD5-0C4843DFF9C0}"/>
              </a:ext>
            </a:extLst>
          </p:cNvPr>
          <p:cNvSpPr>
            <a:spLocks xmlns:a="http://schemas.openxmlformats.org/drawingml/2006/main" noGrp="1"/>
          </p:cNvSpPr>
          <p:nvPr/>
        </p:nvSpPr>
        <p:spPr>
          <a:xfrm xmlns:a="http://schemas.openxmlformats.org/drawingml/2006/main">
            <a:off x="742950" y="342900"/>
            <a:ext cx="685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5F6B75"/>
                </a:solidFill>
                <a:latin typeface="Hiragino Sans"/>
                <a:ea typeface="Hiragino Sans"/>
                <a:cs typeface="Hiragino Sans"/>
              </a:defRPr>
            </a:pPr>
            <a:r>
              <a:rPr sz="825" b="1">
                <a:solidFill>
                  <a:srgbClr val="5F6B75"/>
                </a:solidFill>
                <a:latin typeface="Hiragino Sans"/>
                <a:ea typeface="Hiragino Sans"/>
                <a:cs typeface="Hiragino Sans"/>
              </a:rPr>
              <a:t>モデル | 合成半マルコフ過程</a:t>
            </a:r>
          </a:p>
        </p:txBody>
      </p:sp>
      <p:sp>
        <p:nvSpPr>
          <p:cNvPr id="6" name="">
            <a:extLst xmlns:a="http://schemas.openxmlformats.org/drawingml/2006/main">
              <a:ext uri="{FF2B5EF4-FFF2-40B4-BE49-F238E27FC236}">
                <a16:creationId xmlns:a16="http://schemas.microsoft.com/office/drawing/2014/main" id="{8EDD7162-0EB1-4DA9-9A49-5EE9A226317C}"/>
              </a:ext>
            </a:extLst>
          </p:cNvPr>
          <p:cNvSpPr>
            <a:spLocks xmlns:a="http://schemas.openxmlformats.org/drawingml/2006/main" noGrp="1"/>
          </p:cNvSpPr>
          <p:nvPr/>
        </p:nvSpPr>
        <p:spPr>
          <a:xfrm xmlns:a="http://schemas.openxmlformats.org/drawingml/2006/main">
            <a:off x="552450" y="762000"/>
            <a:ext cx="885825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7202A"/>
                </a:solidFill>
                <a:latin typeface="Hiragino Sans"/>
                <a:ea typeface="Hiragino Sans"/>
                <a:cs typeface="Hiragino Sans"/>
              </a:defRPr>
            </a:pPr>
            <a:r>
              <a:rPr sz="2775" b="1">
                <a:solidFill>
                  <a:srgbClr val="17202A"/>
                </a:solidFill>
                <a:latin typeface="Hiragino Sans"/>
                <a:ea typeface="Hiragino Sans"/>
                <a:cs typeface="Hiragino Sans"/>
              </a:rPr>
              <a:t>攻撃の潜伏と防疫の分岐を一つの費用式に載せる</a:t>
            </a:r>
          </a:p>
        </p:txBody>
      </p:sp>
      <p:sp>
        <p:nvSpPr>
          <p:cNvPr id="7" name="">
            <a:extLst xmlns:a="http://schemas.openxmlformats.org/drawingml/2006/main">
              <a:ext uri="{FF2B5EF4-FFF2-40B4-BE49-F238E27FC236}">
                <a16:creationId xmlns:a16="http://schemas.microsoft.com/office/drawing/2014/main" id="{D86E4DA5-B93C-4A9E-A4F9-D4D8BAE0F748}"/>
              </a:ext>
            </a:extLst>
          </p:cNvPr>
          <p:cNvSpPr>
            <a:spLocks xmlns:a="http://schemas.openxmlformats.org/drawingml/2006/main" noGrp="1"/>
          </p:cNvSpPr>
          <p:nvPr/>
        </p:nvSpPr>
        <p:spPr>
          <a:xfrm xmlns:a="http://schemas.openxmlformats.org/drawingml/2006/main">
            <a:off x="552450" y="1695450"/>
            <a:ext cx="9620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025" b="1">
                <a:solidFill>
                  <a:srgbClr val="26323F"/>
                </a:solidFill>
                <a:latin typeface="Hiragino Sans"/>
                <a:ea typeface="Hiragino Sans"/>
                <a:cs typeface="Hiragino Sans"/>
              </a:defRPr>
            </a:pPr>
            <a:r>
              <a:rPr sz="2025" b="1">
                <a:solidFill>
                  <a:srgbClr val="26323F"/>
                </a:solidFill>
                <a:latin typeface="Hiragino Sans"/>
                <a:ea typeface="Hiragino Sans"/>
                <a:cs typeface="Hiragino Sans"/>
              </a:rPr>
              <a:t>Pareto 潜伏時間と指数検知を組み合わせ、</a:t>
            </a:r>
          </a:p>
          <a:p xmlns:a="http://schemas.openxmlformats.org/drawingml/2006/main">
            <a:pPr algn="l">
              <a:defRPr sz="2025" b="1">
                <a:solidFill>
                  <a:srgbClr val="26323F"/>
                </a:solidFill>
                <a:latin typeface="Hiragino Sans"/>
                <a:ea typeface="Hiragino Sans"/>
                <a:cs typeface="Hiragino Sans"/>
              </a:defRPr>
            </a:pPr>
            <a:r>
              <a:rPr sz="2025" b="1">
                <a:solidFill>
                  <a:srgbClr val="26323F"/>
                </a:solidFill>
                <a:latin typeface="Hiragino Sans"/>
                <a:ea typeface="Hiragino Sans"/>
                <a:cs typeface="Hiragino Sans"/>
              </a:rPr>
              <a:t>早期検知・症状検知・全損を分岐確率で会計する。</a:t>
            </a:r>
          </a:p>
        </p:txBody>
      </p:sp>
      <p:sp>
        <p:nvSpPr>
          <p:cNvPr id="8" name="">
            <a:extLst xmlns:a="http://schemas.openxmlformats.org/drawingml/2006/main">
              <a:ext uri="{FF2B5EF4-FFF2-40B4-BE49-F238E27FC236}">
                <a16:creationId xmlns:a16="http://schemas.microsoft.com/office/drawing/2014/main" id="{B2818BFA-07E4-4E5C-A40E-8C086B782388}"/>
              </a:ext>
            </a:extLst>
          </p:cNvPr>
          <p:cNvSpPr>
            <a:spLocks xmlns:a="http://schemas.openxmlformats.org/drawingml/2006/main" noGrp="1"/>
          </p:cNvSpPr>
          <p:nvPr/>
        </p:nvSpPr>
        <p:spPr>
          <a:xfrm xmlns:a="http://schemas.openxmlformats.org/drawingml/2006/main">
            <a:off x="723900" y="3276600"/>
            <a:ext cx="1295400" cy="685800"/>
          </a:xfrm>
          <a:prstGeom xmlns:a="http://schemas.openxmlformats.org/drawingml/2006/main" prst="rect">
            <a:avLst/>
          </a:prstGeom>
          <a:solidFill xmlns:a="http://schemas.openxmlformats.org/drawingml/2006/main">
            <a:srgbClr val="FFFFFF"/>
          </a:solidFill>
          <a:ln xmlns:a="http://schemas.openxmlformats.org/drawingml/2006/main" w="13335">
            <a:solidFill>
              <a:srgbClr val="26323F"/>
            </a:solidFill>
            <a:prstDash val="solid"/>
          </a:ln>
        </p:spPr>
      </p:sp>
      <p:sp>
        <p:nvSpPr>
          <p:cNvPr id="9" name="">
            <a:extLst xmlns:a="http://schemas.openxmlformats.org/drawingml/2006/main">
              <a:ext uri="{FF2B5EF4-FFF2-40B4-BE49-F238E27FC236}">
                <a16:creationId xmlns:a16="http://schemas.microsoft.com/office/drawing/2014/main" id="{5708AAC0-6C57-401B-9305-266D296D2FBE}"/>
              </a:ext>
            </a:extLst>
          </p:cNvPr>
          <p:cNvSpPr>
            <a:spLocks xmlns:a="http://schemas.openxmlformats.org/drawingml/2006/main" noGrp="1"/>
          </p:cNvSpPr>
          <p:nvPr/>
        </p:nvSpPr>
        <p:spPr>
          <a:xfrm xmlns:a="http://schemas.openxmlformats.org/drawingml/2006/main">
            <a:off x="857250" y="33909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26323F"/>
                </a:solidFill>
                <a:latin typeface="Hiragino Sans"/>
                <a:ea typeface="Hiragino Sans"/>
                <a:cs typeface="Hiragino Sans"/>
              </a:defRPr>
            </a:pPr>
            <a:r>
              <a:rPr sz="1200" b="1">
                <a:solidFill>
                  <a:srgbClr val="26323F"/>
                </a:solidFill>
                <a:latin typeface="Hiragino Sans"/>
                <a:ea typeface="Hiragino Sans"/>
                <a:cs typeface="Hiragino Sans"/>
              </a:rPr>
              <a:t>S_N</a:t>
            </a:r>
          </a:p>
        </p:txBody>
      </p:sp>
      <p:sp>
        <p:nvSpPr>
          <p:cNvPr id="10" name="">
            <a:extLst xmlns:a="http://schemas.openxmlformats.org/drawingml/2006/main">
              <a:ext uri="{FF2B5EF4-FFF2-40B4-BE49-F238E27FC236}">
                <a16:creationId xmlns:a16="http://schemas.microsoft.com/office/drawing/2014/main" id="{B98434C6-400D-4B82-A313-680258E740B6}"/>
              </a:ext>
            </a:extLst>
          </p:cNvPr>
          <p:cNvSpPr>
            <a:spLocks xmlns:a="http://schemas.openxmlformats.org/drawingml/2006/main" noGrp="1"/>
          </p:cNvSpPr>
          <p:nvPr/>
        </p:nvSpPr>
        <p:spPr>
          <a:xfrm xmlns:a="http://schemas.openxmlformats.org/drawingml/2006/main">
            <a:off x="838200" y="36385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正常</a:t>
            </a:r>
          </a:p>
        </p:txBody>
      </p:sp>
      <p:sp>
        <p:nvSpPr>
          <p:cNvPr id="11" name="">
            <a:extLst xmlns:a="http://schemas.openxmlformats.org/drawingml/2006/main">
              <a:ext uri="{FF2B5EF4-FFF2-40B4-BE49-F238E27FC236}">
                <a16:creationId xmlns:a16="http://schemas.microsoft.com/office/drawing/2014/main" id="{E28BF173-A279-4B32-9BF6-4E5ECFB2A6FD}"/>
              </a:ext>
            </a:extLst>
          </p:cNvPr>
          <p:cNvSpPr>
            <a:spLocks xmlns:a="http://schemas.openxmlformats.org/drawingml/2006/main" noGrp="1"/>
          </p:cNvSpPr>
          <p:nvPr/>
        </p:nvSpPr>
        <p:spPr>
          <a:xfrm xmlns:a="http://schemas.openxmlformats.org/drawingml/2006/main">
            <a:off x="2019300" y="3619500"/>
            <a:ext cx="933450" cy="1905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4B25CAD4-C4FD-448A-8502-5DD397C3A4F0}"/>
              </a:ext>
            </a:extLst>
          </p:cNvPr>
          <p:cNvSpPr>
            <a:spLocks xmlns:a="http://schemas.openxmlformats.org/drawingml/2006/main" noGrp="1"/>
          </p:cNvSpPr>
          <p:nvPr/>
        </p:nvSpPr>
        <p:spPr>
          <a:xfrm xmlns:a="http://schemas.openxmlformats.org/drawingml/2006/main">
            <a:off x="2905125" y="3590925"/>
            <a:ext cx="76200" cy="762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F26C8AD8-14E9-4438-8D9B-508C8EFB1D3D}"/>
              </a:ext>
            </a:extLst>
          </p:cNvPr>
          <p:cNvSpPr>
            <a:spLocks xmlns:a="http://schemas.openxmlformats.org/drawingml/2006/main" noGrp="1"/>
          </p:cNvSpPr>
          <p:nvPr/>
        </p:nvSpPr>
        <p:spPr>
          <a:xfrm xmlns:a="http://schemas.openxmlformats.org/drawingml/2006/main">
            <a:off x="2019300" y="3362325"/>
            <a:ext cx="933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6323F"/>
                </a:solidFill>
                <a:latin typeface="Hiragino Sans"/>
                <a:ea typeface="Hiragino Sans"/>
                <a:cs typeface="Hiragino Sans"/>
              </a:defRPr>
            </a:pPr>
            <a:r>
              <a:rPr sz="750" b="1">
                <a:solidFill>
                  <a:srgbClr val="26323F"/>
                </a:solidFill>
                <a:latin typeface="Hiragino Sans"/>
                <a:ea typeface="Hiragino Sans"/>
                <a:cs typeface="Hiragino Sans"/>
              </a:rPr>
              <a:t>λ</a:t>
            </a:r>
          </a:p>
        </p:txBody>
      </p:sp>
      <p:sp>
        <p:nvSpPr>
          <p:cNvPr id="14" name="">
            <a:extLst xmlns:a="http://schemas.openxmlformats.org/drawingml/2006/main">
              <a:ext uri="{FF2B5EF4-FFF2-40B4-BE49-F238E27FC236}">
                <a16:creationId xmlns:a16="http://schemas.microsoft.com/office/drawing/2014/main" id="{172DEDDE-3EDC-4660-81AB-43485E3F78EB}"/>
              </a:ext>
            </a:extLst>
          </p:cNvPr>
          <p:cNvSpPr>
            <a:spLocks xmlns:a="http://schemas.openxmlformats.org/drawingml/2006/main" noGrp="1"/>
          </p:cNvSpPr>
          <p:nvPr/>
        </p:nvSpPr>
        <p:spPr>
          <a:xfrm xmlns:a="http://schemas.openxmlformats.org/drawingml/2006/main">
            <a:off x="2952750" y="3276600"/>
            <a:ext cx="1295400" cy="685800"/>
          </a:xfrm>
          <a:prstGeom xmlns:a="http://schemas.openxmlformats.org/drawingml/2006/main" prst="rect">
            <a:avLst/>
          </a:prstGeom>
          <a:solidFill xmlns:a="http://schemas.openxmlformats.org/drawingml/2006/main">
            <a:srgbClr val="F3E1BF"/>
          </a:solidFill>
          <a:ln xmlns:a="http://schemas.openxmlformats.org/drawingml/2006/main" w="13335">
            <a:solidFill>
              <a:srgbClr val="C9821B"/>
            </a:solidFill>
            <a:prstDash val="solid"/>
          </a:ln>
        </p:spPr>
      </p:sp>
      <p:sp>
        <p:nvSpPr>
          <p:cNvPr id="15" name="">
            <a:extLst xmlns:a="http://schemas.openxmlformats.org/drawingml/2006/main">
              <a:ext uri="{FF2B5EF4-FFF2-40B4-BE49-F238E27FC236}">
                <a16:creationId xmlns:a16="http://schemas.microsoft.com/office/drawing/2014/main" id="{CBE0EB6A-04E3-4814-B4C5-05FEE3865FEF}"/>
              </a:ext>
            </a:extLst>
          </p:cNvPr>
          <p:cNvSpPr>
            <a:spLocks xmlns:a="http://schemas.openxmlformats.org/drawingml/2006/main" noGrp="1"/>
          </p:cNvSpPr>
          <p:nvPr/>
        </p:nvSpPr>
        <p:spPr>
          <a:xfrm xmlns:a="http://schemas.openxmlformats.org/drawingml/2006/main">
            <a:off x="3086100" y="33909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C9821B"/>
                </a:solidFill>
                <a:latin typeface="Hiragino Sans"/>
                <a:ea typeface="Hiragino Sans"/>
                <a:cs typeface="Hiragino Sans"/>
              </a:defRPr>
            </a:pPr>
            <a:r>
              <a:rPr sz="1200" b="1">
                <a:solidFill>
                  <a:srgbClr val="C9821B"/>
                </a:solidFill>
                <a:latin typeface="Hiragino Sans"/>
                <a:ea typeface="Hiragino Sans"/>
                <a:cs typeface="Hiragino Sans"/>
              </a:rPr>
              <a:t>S_L</a:t>
            </a:r>
          </a:p>
        </p:txBody>
      </p:sp>
      <p:sp>
        <p:nvSpPr>
          <p:cNvPr id="16" name="">
            <a:extLst xmlns:a="http://schemas.openxmlformats.org/drawingml/2006/main">
              <a:ext uri="{FF2B5EF4-FFF2-40B4-BE49-F238E27FC236}">
                <a16:creationId xmlns:a16="http://schemas.microsoft.com/office/drawing/2014/main" id="{92F1A2E6-DFF8-44FE-810A-C0206F6060C1}"/>
              </a:ext>
            </a:extLst>
          </p:cNvPr>
          <p:cNvSpPr>
            <a:spLocks xmlns:a="http://schemas.openxmlformats.org/drawingml/2006/main" noGrp="1"/>
          </p:cNvSpPr>
          <p:nvPr/>
        </p:nvSpPr>
        <p:spPr>
          <a:xfrm xmlns:a="http://schemas.openxmlformats.org/drawingml/2006/main">
            <a:off x="3067050" y="36385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潜伏・未検知</a:t>
            </a:r>
          </a:p>
        </p:txBody>
      </p:sp>
      <p:sp>
        <p:nvSpPr>
          <p:cNvPr id="17" name="">
            <a:extLst xmlns:a="http://schemas.openxmlformats.org/drawingml/2006/main">
              <a:ext uri="{FF2B5EF4-FFF2-40B4-BE49-F238E27FC236}">
                <a16:creationId xmlns:a16="http://schemas.microsoft.com/office/drawing/2014/main" id="{CDAB251F-C9EE-448E-86FA-3743E98F0D9D}"/>
              </a:ext>
            </a:extLst>
          </p:cNvPr>
          <p:cNvSpPr>
            <a:spLocks xmlns:a="http://schemas.openxmlformats.org/drawingml/2006/main" noGrp="1"/>
          </p:cNvSpPr>
          <p:nvPr/>
        </p:nvSpPr>
        <p:spPr>
          <a:xfrm xmlns:a="http://schemas.openxmlformats.org/drawingml/2006/main">
            <a:off x="4248150" y="2857500"/>
            <a:ext cx="895350" cy="1905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F73D4B2D-8849-402E-A877-13F9F341C5C3}"/>
              </a:ext>
            </a:extLst>
          </p:cNvPr>
          <p:cNvSpPr>
            <a:spLocks xmlns:a="http://schemas.openxmlformats.org/drawingml/2006/main" noGrp="1"/>
          </p:cNvSpPr>
          <p:nvPr/>
        </p:nvSpPr>
        <p:spPr>
          <a:xfrm xmlns:a="http://schemas.openxmlformats.org/drawingml/2006/main">
            <a:off x="5095875" y="2828925"/>
            <a:ext cx="76200" cy="7620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936EB7FA-3EE3-410A-84A6-BBD843B45C92}"/>
              </a:ext>
            </a:extLst>
          </p:cNvPr>
          <p:cNvSpPr>
            <a:spLocks xmlns:a="http://schemas.openxmlformats.org/drawingml/2006/main" noGrp="1"/>
          </p:cNvSpPr>
          <p:nvPr/>
        </p:nvSpPr>
        <p:spPr>
          <a:xfrm xmlns:a="http://schemas.openxmlformats.org/drawingml/2006/main">
            <a:off x="4248150" y="2600325"/>
            <a:ext cx="895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0E8A8A"/>
                </a:solidFill>
                <a:latin typeface="Hiragino Sans"/>
                <a:ea typeface="Hiragino Sans"/>
                <a:cs typeface="Hiragino Sans"/>
              </a:defRPr>
            </a:pPr>
            <a:r>
              <a:rPr sz="750" b="1">
                <a:solidFill>
                  <a:srgbClr val="0E8A8A"/>
                </a:solidFill>
                <a:latin typeface="Hiragino Sans"/>
                <a:ea typeface="Hiragino Sans"/>
                <a:cs typeface="Hiragino Sans"/>
              </a:rPr>
              <a:t>β(I)</a:t>
            </a:r>
          </a:p>
        </p:txBody>
      </p:sp>
      <p:sp>
        <p:nvSpPr>
          <p:cNvPr id="20" name="">
            <a:extLst xmlns:a="http://schemas.openxmlformats.org/drawingml/2006/main">
              <a:ext uri="{FF2B5EF4-FFF2-40B4-BE49-F238E27FC236}">
                <a16:creationId xmlns:a16="http://schemas.microsoft.com/office/drawing/2014/main" id="{0D57B6B7-CBF5-4EF7-843B-42432FCFD243}"/>
              </a:ext>
            </a:extLst>
          </p:cNvPr>
          <p:cNvSpPr>
            <a:spLocks xmlns:a="http://schemas.openxmlformats.org/drawingml/2006/main" noGrp="1"/>
          </p:cNvSpPr>
          <p:nvPr/>
        </p:nvSpPr>
        <p:spPr>
          <a:xfrm xmlns:a="http://schemas.openxmlformats.org/drawingml/2006/main">
            <a:off x="5143500" y="2514600"/>
            <a:ext cx="1295400" cy="685800"/>
          </a:xfrm>
          <a:prstGeom xmlns:a="http://schemas.openxmlformats.org/drawingml/2006/main" prst="rect">
            <a:avLst/>
          </a:prstGeom>
          <a:solidFill xmlns:a="http://schemas.openxmlformats.org/drawingml/2006/main">
            <a:srgbClr val="D9EFEC"/>
          </a:solidFill>
          <a:ln xmlns:a="http://schemas.openxmlformats.org/drawingml/2006/main" w="13335">
            <a:solidFill>
              <a:srgbClr val="0E8A8A"/>
            </a:solidFill>
            <a:prstDash val="solid"/>
          </a:ln>
        </p:spPr>
      </p:sp>
      <p:sp>
        <p:nvSpPr>
          <p:cNvPr id="21" name="">
            <a:extLst xmlns:a="http://schemas.openxmlformats.org/drawingml/2006/main">
              <a:ext uri="{FF2B5EF4-FFF2-40B4-BE49-F238E27FC236}">
                <a16:creationId xmlns:a16="http://schemas.microsoft.com/office/drawing/2014/main" id="{2CBAF26E-11CA-4689-A3C5-39A5022ECF74}"/>
              </a:ext>
            </a:extLst>
          </p:cNvPr>
          <p:cNvSpPr>
            <a:spLocks xmlns:a="http://schemas.openxmlformats.org/drawingml/2006/main" noGrp="1"/>
          </p:cNvSpPr>
          <p:nvPr/>
        </p:nvSpPr>
        <p:spPr>
          <a:xfrm xmlns:a="http://schemas.openxmlformats.org/drawingml/2006/main">
            <a:off x="5276850" y="26289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0E8A8A"/>
                </a:solidFill>
                <a:latin typeface="Hiragino Sans"/>
                <a:ea typeface="Hiragino Sans"/>
                <a:cs typeface="Hiragino Sans"/>
              </a:defRPr>
            </a:pPr>
            <a:r>
              <a:rPr sz="1200" b="1">
                <a:solidFill>
                  <a:srgbClr val="0E8A8A"/>
                </a:solidFill>
                <a:latin typeface="Hiragino Sans"/>
                <a:ea typeface="Hiragino Sans"/>
                <a:cs typeface="Hiragino Sans"/>
              </a:rPr>
              <a:t>S_E</a:t>
            </a:r>
          </a:p>
        </p:txBody>
      </p:sp>
      <p:sp>
        <p:nvSpPr>
          <p:cNvPr id="22" name="">
            <a:extLst xmlns:a="http://schemas.openxmlformats.org/drawingml/2006/main">
              <a:ext uri="{FF2B5EF4-FFF2-40B4-BE49-F238E27FC236}">
                <a16:creationId xmlns:a16="http://schemas.microsoft.com/office/drawing/2014/main" id="{4E252CCE-830E-4C25-BAB9-567D38DDEB9F}"/>
              </a:ext>
            </a:extLst>
          </p:cNvPr>
          <p:cNvSpPr>
            <a:spLocks xmlns:a="http://schemas.openxmlformats.org/drawingml/2006/main" noGrp="1"/>
          </p:cNvSpPr>
          <p:nvPr/>
        </p:nvSpPr>
        <p:spPr>
          <a:xfrm xmlns:a="http://schemas.openxmlformats.org/drawingml/2006/main">
            <a:off x="5257800" y="28765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早期検知</a:t>
            </a:r>
          </a:p>
        </p:txBody>
      </p:sp>
      <p:sp>
        <p:nvSpPr>
          <p:cNvPr id="23" name="">
            <a:extLst xmlns:a="http://schemas.openxmlformats.org/drawingml/2006/main">
              <a:ext uri="{FF2B5EF4-FFF2-40B4-BE49-F238E27FC236}">
                <a16:creationId xmlns:a16="http://schemas.microsoft.com/office/drawing/2014/main" id="{6C25D7F8-BF2C-478D-A9B2-525DAAC43900}"/>
              </a:ext>
            </a:extLst>
          </p:cNvPr>
          <p:cNvSpPr>
            <a:spLocks xmlns:a="http://schemas.openxmlformats.org/drawingml/2006/main" noGrp="1"/>
          </p:cNvSpPr>
          <p:nvPr/>
        </p:nvSpPr>
        <p:spPr>
          <a:xfrm xmlns:a="http://schemas.openxmlformats.org/drawingml/2006/main">
            <a:off x="6438900" y="2857500"/>
            <a:ext cx="819150" cy="1905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95DDF4F4-E993-465E-BFF8-6E1786D9F22E}"/>
              </a:ext>
            </a:extLst>
          </p:cNvPr>
          <p:cNvSpPr>
            <a:spLocks xmlns:a="http://schemas.openxmlformats.org/drawingml/2006/main" noGrp="1"/>
          </p:cNvSpPr>
          <p:nvPr/>
        </p:nvSpPr>
        <p:spPr>
          <a:xfrm xmlns:a="http://schemas.openxmlformats.org/drawingml/2006/main">
            <a:off x="7210425" y="2828925"/>
            <a:ext cx="76200" cy="762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E37CDC92-98F9-49D2-9B43-82B7C20448B1}"/>
              </a:ext>
            </a:extLst>
          </p:cNvPr>
          <p:cNvSpPr>
            <a:spLocks xmlns:a="http://schemas.openxmlformats.org/drawingml/2006/main" noGrp="1"/>
          </p:cNvSpPr>
          <p:nvPr/>
        </p:nvSpPr>
        <p:spPr>
          <a:xfrm xmlns:a="http://schemas.openxmlformats.org/drawingml/2006/main">
            <a:off x="6438900" y="2600325"/>
            <a:ext cx="8191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6323F"/>
                </a:solidFill>
                <a:latin typeface="Hiragino Sans"/>
                <a:ea typeface="Hiragino Sans"/>
                <a:cs typeface="Hiragino Sans"/>
              </a:defRPr>
            </a:pPr>
            <a:r>
              <a:rPr sz="750" b="1">
                <a:solidFill>
                  <a:srgbClr val="26323F"/>
                </a:solidFill>
                <a:latin typeface="Hiragino Sans"/>
                <a:ea typeface="Hiragino Sans"/>
                <a:cs typeface="Hiragino Sans"/>
              </a:rPr>
              <a:t>隔離</a:t>
            </a:r>
          </a:p>
        </p:txBody>
      </p:sp>
      <p:sp>
        <p:nvSpPr>
          <p:cNvPr id="26" name="">
            <a:extLst xmlns:a="http://schemas.openxmlformats.org/drawingml/2006/main">
              <a:ext uri="{FF2B5EF4-FFF2-40B4-BE49-F238E27FC236}">
                <a16:creationId xmlns:a16="http://schemas.microsoft.com/office/drawing/2014/main" id="{DCE80F93-3650-4533-95E0-AE4A106BF585}"/>
              </a:ext>
            </a:extLst>
          </p:cNvPr>
          <p:cNvSpPr>
            <a:spLocks xmlns:a="http://schemas.openxmlformats.org/drawingml/2006/main" noGrp="1"/>
          </p:cNvSpPr>
          <p:nvPr/>
        </p:nvSpPr>
        <p:spPr>
          <a:xfrm xmlns:a="http://schemas.openxmlformats.org/drawingml/2006/main">
            <a:off x="7258050" y="2514600"/>
            <a:ext cx="1295400" cy="685800"/>
          </a:xfrm>
          <a:prstGeom xmlns:a="http://schemas.openxmlformats.org/drawingml/2006/main" prst="rect">
            <a:avLst/>
          </a:prstGeom>
          <a:solidFill xmlns:a="http://schemas.openxmlformats.org/drawingml/2006/main">
            <a:srgbClr val="DCEBDF"/>
          </a:solidFill>
          <a:ln xmlns:a="http://schemas.openxmlformats.org/drawingml/2006/main" w="13335">
            <a:solidFill>
              <a:srgbClr val="3D8B61"/>
            </a:solidFill>
            <a:prstDash val="solid"/>
          </a:ln>
        </p:spPr>
      </p:sp>
      <p:sp>
        <p:nvSpPr>
          <p:cNvPr id="27" name="">
            <a:extLst xmlns:a="http://schemas.openxmlformats.org/drawingml/2006/main">
              <a:ext uri="{FF2B5EF4-FFF2-40B4-BE49-F238E27FC236}">
                <a16:creationId xmlns:a16="http://schemas.microsoft.com/office/drawing/2014/main" id="{479A078E-920C-4C57-AB6C-0D29F3C3CD79}"/>
              </a:ext>
            </a:extLst>
          </p:cNvPr>
          <p:cNvSpPr>
            <a:spLocks xmlns:a="http://schemas.openxmlformats.org/drawingml/2006/main" noGrp="1"/>
          </p:cNvSpPr>
          <p:nvPr/>
        </p:nvSpPr>
        <p:spPr>
          <a:xfrm xmlns:a="http://schemas.openxmlformats.org/drawingml/2006/main">
            <a:off x="7391400" y="26289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3D8B61"/>
                </a:solidFill>
                <a:latin typeface="Hiragino Sans"/>
                <a:ea typeface="Hiragino Sans"/>
                <a:cs typeface="Hiragino Sans"/>
              </a:defRPr>
            </a:pPr>
            <a:r>
              <a:rPr sz="1200" b="1">
                <a:solidFill>
                  <a:srgbClr val="3D8B61"/>
                </a:solidFill>
                <a:latin typeface="Hiragino Sans"/>
                <a:ea typeface="Hiragino Sans"/>
                <a:cs typeface="Hiragino Sans"/>
              </a:rPr>
              <a:t>S_I</a:t>
            </a:r>
          </a:p>
        </p:txBody>
      </p:sp>
      <p:sp>
        <p:nvSpPr>
          <p:cNvPr id="28" name="">
            <a:extLst xmlns:a="http://schemas.openxmlformats.org/drawingml/2006/main">
              <a:ext uri="{FF2B5EF4-FFF2-40B4-BE49-F238E27FC236}">
                <a16:creationId xmlns:a16="http://schemas.microsoft.com/office/drawing/2014/main" id="{A2A2DD44-ACC7-4440-BD09-66F660E7E387}"/>
              </a:ext>
            </a:extLst>
          </p:cNvPr>
          <p:cNvSpPr>
            <a:spLocks xmlns:a="http://schemas.openxmlformats.org/drawingml/2006/main" noGrp="1"/>
          </p:cNvSpPr>
          <p:nvPr/>
        </p:nvSpPr>
        <p:spPr>
          <a:xfrm xmlns:a="http://schemas.openxmlformats.org/drawingml/2006/main">
            <a:off x="7372350" y="28765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隔離済</a:t>
            </a:r>
          </a:p>
        </p:txBody>
      </p:sp>
      <p:sp>
        <p:nvSpPr>
          <p:cNvPr id="29" name="">
            <a:extLst xmlns:a="http://schemas.openxmlformats.org/drawingml/2006/main">
              <a:ext uri="{FF2B5EF4-FFF2-40B4-BE49-F238E27FC236}">
                <a16:creationId xmlns:a16="http://schemas.microsoft.com/office/drawing/2014/main" id="{F8BB0459-1E7F-40D6-A0EE-B1F9A4AA776D}"/>
              </a:ext>
            </a:extLst>
          </p:cNvPr>
          <p:cNvSpPr>
            <a:spLocks xmlns:a="http://schemas.openxmlformats.org/drawingml/2006/main" noGrp="1"/>
          </p:cNvSpPr>
          <p:nvPr/>
        </p:nvSpPr>
        <p:spPr>
          <a:xfrm xmlns:a="http://schemas.openxmlformats.org/drawingml/2006/main">
            <a:off x="8553450" y="2857500"/>
            <a:ext cx="781050" cy="1905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686B8B82-5010-4831-A39B-D672090BFB8E}"/>
              </a:ext>
            </a:extLst>
          </p:cNvPr>
          <p:cNvSpPr>
            <a:spLocks xmlns:a="http://schemas.openxmlformats.org/drawingml/2006/main" noGrp="1"/>
          </p:cNvSpPr>
          <p:nvPr/>
        </p:nvSpPr>
        <p:spPr>
          <a:xfrm xmlns:a="http://schemas.openxmlformats.org/drawingml/2006/main">
            <a:off x="9286875" y="2828925"/>
            <a:ext cx="76200" cy="762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0B2E5E86-1235-4A9A-AF38-F44510D0EFD2}"/>
              </a:ext>
            </a:extLst>
          </p:cNvPr>
          <p:cNvSpPr>
            <a:spLocks xmlns:a="http://schemas.openxmlformats.org/drawingml/2006/main" noGrp="1"/>
          </p:cNvSpPr>
          <p:nvPr/>
        </p:nvSpPr>
        <p:spPr>
          <a:xfrm xmlns:a="http://schemas.openxmlformats.org/drawingml/2006/main">
            <a:off x="8553450" y="2600325"/>
            <a:ext cx="7810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6323F"/>
                </a:solidFill>
                <a:latin typeface="Hiragino Sans"/>
                <a:ea typeface="Hiragino Sans"/>
                <a:cs typeface="Hiragino Sans"/>
              </a:defRPr>
            </a:pPr>
            <a:r>
              <a:rPr sz="750" b="1">
                <a:solidFill>
                  <a:srgbClr val="26323F"/>
                </a:solidFill>
                <a:latin typeface="Hiragino Sans"/>
                <a:ea typeface="Hiragino Sans"/>
                <a:cs typeface="Hiragino Sans"/>
              </a:rPr>
              <a:t>復旧</a:t>
            </a:r>
          </a:p>
        </p:txBody>
      </p:sp>
      <p:sp>
        <p:nvSpPr>
          <p:cNvPr id="32" name="">
            <a:extLst xmlns:a="http://schemas.openxmlformats.org/drawingml/2006/main">
              <a:ext uri="{FF2B5EF4-FFF2-40B4-BE49-F238E27FC236}">
                <a16:creationId xmlns:a16="http://schemas.microsoft.com/office/drawing/2014/main" id="{73701DBA-AEEC-4EB7-80EE-DD62517DFCF3}"/>
              </a:ext>
            </a:extLst>
          </p:cNvPr>
          <p:cNvSpPr>
            <a:spLocks xmlns:a="http://schemas.openxmlformats.org/drawingml/2006/main" noGrp="1"/>
          </p:cNvSpPr>
          <p:nvPr/>
        </p:nvSpPr>
        <p:spPr>
          <a:xfrm xmlns:a="http://schemas.openxmlformats.org/drawingml/2006/main">
            <a:off x="9334500" y="2514600"/>
            <a:ext cx="1295400" cy="685800"/>
          </a:xfrm>
          <a:prstGeom xmlns:a="http://schemas.openxmlformats.org/drawingml/2006/main" prst="rect">
            <a:avLst/>
          </a:prstGeom>
          <a:solidFill xmlns:a="http://schemas.openxmlformats.org/drawingml/2006/main">
            <a:srgbClr val="E4E8EA"/>
          </a:solidFill>
          <a:ln xmlns:a="http://schemas.openxmlformats.org/drawingml/2006/main" w="13335">
            <a:solidFill>
              <a:srgbClr val="26323F"/>
            </a:solidFill>
            <a:prstDash val="solid"/>
          </a:ln>
        </p:spPr>
      </p:sp>
      <p:sp>
        <p:nvSpPr>
          <p:cNvPr id="33" name="">
            <a:extLst xmlns:a="http://schemas.openxmlformats.org/drawingml/2006/main">
              <a:ext uri="{FF2B5EF4-FFF2-40B4-BE49-F238E27FC236}">
                <a16:creationId xmlns:a16="http://schemas.microsoft.com/office/drawing/2014/main" id="{5CAA6279-5AD8-48CD-A499-6245B768F1AB}"/>
              </a:ext>
            </a:extLst>
          </p:cNvPr>
          <p:cNvSpPr>
            <a:spLocks xmlns:a="http://schemas.openxmlformats.org/drawingml/2006/main" noGrp="1"/>
          </p:cNvSpPr>
          <p:nvPr/>
        </p:nvSpPr>
        <p:spPr>
          <a:xfrm xmlns:a="http://schemas.openxmlformats.org/drawingml/2006/main">
            <a:off x="9467850" y="26289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26323F"/>
                </a:solidFill>
                <a:latin typeface="Hiragino Sans"/>
                <a:ea typeface="Hiragino Sans"/>
                <a:cs typeface="Hiragino Sans"/>
              </a:defRPr>
            </a:pPr>
            <a:r>
              <a:rPr sz="1200" b="1">
                <a:solidFill>
                  <a:srgbClr val="26323F"/>
                </a:solidFill>
                <a:latin typeface="Hiragino Sans"/>
                <a:ea typeface="Hiragino Sans"/>
                <a:cs typeface="Hiragino Sans"/>
              </a:rPr>
              <a:t>S_R</a:t>
            </a:r>
          </a:p>
        </p:txBody>
      </p:sp>
      <p:sp>
        <p:nvSpPr>
          <p:cNvPr id="34" name="">
            <a:extLst xmlns:a="http://schemas.openxmlformats.org/drawingml/2006/main">
              <a:ext uri="{FF2B5EF4-FFF2-40B4-BE49-F238E27FC236}">
                <a16:creationId xmlns:a16="http://schemas.microsoft.com/office/drawing/2014/main" id="{4CF48383-64F4-4BF3-8B6B-BE511846E04A}"/>
              </a:ext>
            </a:extLst>
          </p:cNvPr>
          <p:cNvSpPr>
            <a:spLocks xmlns:a="http://schemas.openxmlformats.org/drawingml/2006/main" noGrp="1"/>
          </p:cNvSpPr>
          <p:nvPr/>
        </p:nvSpPr>
        <p:spPr>
          <a:xfrm xmlns:a="http://schemas.openxmlformats.org/drawingml/2006/main">
            <a:off x="9448800" y="28765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復旧中</a:t>
            </a:r>
          </a:p>
        </p:txBody>
      </p:sp>
      <p:sp>
        <p:nvSpPr>
          <p:cNvPr id="35" name="">
            <a:extLst xmlns:a="http://schemas.openxmlformats.org/drawingml/2006/main">
              <a:ext uri="{FF2B5EF4-FFF2-40B4-BE49-F238E27FC236}">
                <a16:creationId xmlns:a16="http://schemas.microsoft.com/office/drawing/2014/main" id="{EF901946-9F2E-44B1-BF4B-A3E2F0B86471}"/>
              </a:ext>
            </a:extLst>
          </p:cNvPr>
          <p:cNvSpPr>
            <a:spLocks xmlns:a="http://schemas.openxmlformats.org/drawingml/2006/main" noGrp="1"/>
          </p:cNvSpPr>
          <p:nvPr/>
        </p:nvSpPr>
        <p:spPr>
          <a:xfrm xmlns:a="http://schemas.openxmlformats.org/drawingml/2006/main">
            <a:off x="3600450" y="3962400"/>
            <a:ext cx="19050" cy="723900"/>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05E0C28F-4BFA-41CD-8591-452DBFA5422A}"/>
              </a:ext>
            </a:extLst>
          </p:cNvPr>
          <p:cNvSpPr>
            <a:spLocks xmlns:a="http://schemas.openxmlformats.org/drawingml/2006/main" noGrp="1"/>
          </p:cNvSpPr>
          <p:nvPr/>
        </p:nvSpPr>
        <p:spPr>
          <a:xfrm xmlns:a="http://schemas.openxmlformats.org/drawingml/2006/main">
            <a:off x="3571875" y="4638675"/>
            <a:ext cx="76200" cy="76200"/>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68963338-76BF-48A3-84C3-12FD42A3C76D}"/>
              </a:ext>
            </a:extLst>
          </p:cNvPr>
          <p:cNvSpPr>
            <a:spLocks xmlns:a="http://schemas.openxmlformats.org/drawingml/2006/main" noGrp="1"/>
          </p:cNvSpPr>
          <p:nvPr/>
        </p:nvSpPr>
        <p:spPr>
          <a:xfrm xmlns:a="http://schemas.openxmlformats.org/drawingml/2006/main">
            <a:off x="2457450" y="4286250"/>
            <a:ext cx="8953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C9821B"/>
                </a:solidFill>
                <a:latin typeface="Hiragino Sans"/>
                <a:ea typeface="Hiragino Sans"/>
                <a:cs typeface="Hiragino Sans"/>
              </a:defRPr>
            </a:pPr>
            <a:r>
              <a:rPr sz="750" b="1">
                <a:solidFill>
                  <a:srgbClr val="C9821B"/>
                </a:solidFill>
                <a:latin typeface="Hiragino Sans"/>
                <a:ea typeface="Hiragino Sans"/>
                <a:cs typeface="Hiragino Sans"/>
              </a:rPr>
              <a:t>T_d 後</a:t>
            </a:r>
          </a:p>
        </p:txBody>
      </p:sp>
      <p:sp>
        <p:nvSpPr>
          <p:cNvPr id="38" name="">
            <a:extLst xmlns:a="http://schemas.openxmlformats.org/drawingml/2006/main">
              <a:ext uri="{FF2B5EF4-FFF2-40B4-BE49-F238E27FC236}">
                <a16:creationId xmlns:a16="http://schemas.microsoft.com/office/drawing/2014/main" id="{F619B24F-CACA-450A-884E-660ADC3C2A90}"/>
              </a:ext>
            </a:extLst>
          </p:cNvPr>
          <p:cNvSpPr>
            <a:spLocks xmlns:a="http://schemas.openxmlformats.org/drawingml/2006/main" noGrp="1"/>
          </p:cNvSpPr>
          <p:nvPr/>
        </p:nvSpPr>
        <p:spPr>
          <a:xfrm xmlns:a="http://schemas.openxmlformats.org/drawingml/2006/main">
            <a:off x="2952750" y="4686300"/>
            <a:ext cx="1295400" cy="685800"/>
          </a:xfrm>
          <a:prstGeom xmlns:a="http://schemas.openxmlformats.org/drawingml/2006/main" prst="rect">
            <a:avLst/>
          </a:prstGeom>
          <a:solidFill xmlns:a="http://schemas.openxmlformats.org/drawingml/2006/main">
            <a:srgbClr val="F1D7D3"/>
          </a:solidFill>
          <a:ln xmlns:a="http://schemas.openxmlformats.org/drawingml/2006/main" w="13335">
            <a:solidFill>
              <a:srgbClr val="B94A48"/>
            </a:solidFill>
            <a:prstDash val="solid"/>
          </a:ln>
        </p:spPr>
      </p:sp>
      <p:sp>
        <p:nvSpPr>
          <p:cNvPr id="39" name="">
            <a:extLst xmlns:a="http://schemas.openxmlformats.org/drawingml/2006/main">
              <a:ext uri="{FF2B5EF4-FFF2-40B4-BE49-F238E27FC236}">
                <a16:creationId xmlns:a16="http://schemas.microsoft.com/office/drawing/2014/main" id="{6C92522F-6EA4-47A9-8DB5-09975B726461}"/>
              </a:ext>
            </a:extLst>
          </p:cNvPr>
          <p:cNvSpPr>
            <a:spLocks xmlns:a="http://schemas.openxmlformats.org/drawingml/2006/main" noGrp="1"/>
          </p:cNvSpPr>
          <p:nvPr/>
        </p:nvSpPr>
        <p:spPr>
          <a:xfrm xmlns:a="http://schemas.openxmlformats.org/drawingml/2006/main">
            <a:off x="3086100" y="48006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B94A48"/>
                </a:solidFill>
                <a:latin typeface="Hiragino Sans"/>
                <a:ea typeface="Hiragino Sans"/>
                <a:cs typeface="Hiragino Sans"/>
              </a:defRPr>
            </a:pPr>
            <a:r>
              <a:rPr sz="1200" b="1">
                <a:solidFill>
                  <a:srgbClr val="B94A48"/>
                </a:solidFill>
                <a:latin typeface="Hiragino Sans"/>
                <a:ea typeface="Hiragino Sans"/>
                <a:cs typeface="Hiragino Sans"/>
              </a:rPr>
              <a:t>S_S</a:t>
            </a:r>
          </a:p>
        </p:txBody>
      </p:sp>
      <p:sp>
        <p:nvSpPr>
          <p:cNvPr id="40" name="">
            <a:extLst xmlns:a="http://schemas.openxmlformats.org/drawingml/2006/main">
              <a:ext uri="{FF2B5EF4-FFF2-40B4-BE49-F238E27FC236}">
                <a16:creationId xmlns:a16="http://schemas.microsoft.com/office/drawing/2014/main" id="{40190074-4A0A-4DEE-927F-C9FE3423D8FA}"/>
              </a:ext>
            </a:extLst>
          </p:cNvPr>
          <p:cNvSpPr>
            <a:spLocks xmlns:a="http://schemas.openxmlformats.org/drawingml/2006/main" noGrp="1"/>
          </p:cNvSpPr>
          <p:nvPr/>
        </p:nvSpPr>
        <p:spPr>
          <a:xfrm xmlns:a="http://schemas.openxmlformats.org/drawingml/2006/main">
            <a:off x="3067050" y="50482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発症後</a:t>
            </a:r>
          </a:p>
        </p:txBody>
      </p:sp>
      <p:sp>
        <p:nvSpPr>
          <p:cNvPr id="41" name="">
            <a:extLst xmlns:a="http://schemas.openxmlformats.org/drawingml/2006/main">
              <a:ext uri="{FF2B5EF4-FFF2-40B4-BE49-F238E27FC236}">
                <a16:creationId xmlns:a16="http://schemas.microsoft.com/office/drawing/2014/main" id="{7A41E2FC-8A65-43FE-B488-25FEDBE02B63}"/>
              </a:ext>
            </a:extLst>
          </p:cNvPr>
          <p:cNvSpPr>
            <a:spLocks xmlns:a="http://schemas.openxmlformats.org/drawingml/2006/main" noGrp="1"/>
          </p:cNvSpPr>
          <p:nvPr/>
        </p:nvSpPr>
        <p:spPr>
          <a:xfrm xmlns:a="http://schemas.openxmlformats.org/drawingml/2006/main">
            <a:off x="4248150" y="5029200"/>
            <a:ext cx="1485900" cy="19050"/>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7E737FB8-2A3E-447E-A272-A22DDFC402D6}"/>
              </a:ext>
            </a:extLst>
          </p:cNvPr>
          <p:cNvSpPr>
            <a:spLocks xmlns:a="http://schemas.openxmlformats.org/drawingml/2006/main" noGrp="1"/>
          </p:cNvSpPr>
          <p:nvPr/>
        </p:nvSpPr>
        <p:spPr>
          <a:xfrm xmlns:a="http://schemas.openxmlformats.org/drawingml/2006/main">
            <a:off x="5686425" y="5000625"/>
            <a:ext cx="76200" cy="76200"/>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56FC2272-CCF8-41FC-820D-AEF9CCB7E24F}"/>
              </a:ext>
            </a:extLst>
          </p:cNvPr>
          <p:cNvSpPr>
            <a:spLocks xmlns:a="http://schemas.openxmlformats.org/drawingml/2006/main" noGrp="1"/>
          </p:cNvSpPr>
          <p:nvPr/>
        </p:nvSpPr>
        <p:spPr>
          <a:xfrm xmlns:a="http://schemas.openxmlformats.org/drawingml/2006/main">
            <a:off x="4248150" y="4772025"/>
            <a:ext cx="14859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B94A48"/>
                </a:solidFill>
                <a:latin typeface="Hiragino Sans"/>
                <a:ea typeface="Hiragino Sans"/>
                <a:cs typeface="Hiragino Sans"/>
              </a:defRPr>
            </a:pPr>
            <a:r>
              <a:rPr sz="750" b="1">
                <a:solidFill>
                  <a:srgbClr val="B94A48"/>
                </a:solidFill>
                <a:latin typeface="Hiragino Sans"/>
                <a:ea typeface="Hiragino Sans"/>
                <a:cs typeface="Hiragino Sans"/>
              </a:rPr>
              <a:t>1-η</a:t>
            </a:r>
          </a:p>
        </p:txBody>
      </p:sp>
      <p:sp>
        <p:nvSpPr>
          <p:cNvPr id="44" name="">
            <a:extLst xmlns:a="http://schemas.openxmlformats.org/drawingml/2006/main">
              <a:ext uri="{FF2B5EF4-FFF2-40B4-BE49-F238E27FC236}">
                <a16:creationId xmlns:a16="http://schemas.microsoft.com/office/drawing/2014/main" id="{348B1696-0E16-4CFA-8D10-525A4BBFF871}"/>
              </a:ext>
            </a:extLst>
          </p:cNvPr>
          <p:cNvSpPr>
            <a:spLocks xmlns:a="http://schemas.openxmlformats.org/drawingml/2006/main" noGrp="1"/>
          </p:cNvSpPr>
          <p:nvPr/>
        </p:nvSpPr>
        <p:spPr>
          <a:xfrm xmlns:a="http://schemas.openxmlformats.org/drawingml/2006/main">
            <a:off x="5734050" y="4686300"/>
            <a:ext cx="1295400" cy="685800"/>
          </a:xfrm>
          <a:prstGeom xmlns:a="http://schemas.openxmlformats.org/drawingml/2006/main" prst="rect">
            <a:avLst/>
          </a:prstGeom>
          <a:solidFill xmlns:a="http://schemas.openxmlformats.org/drawingml/2006/main">
            <a:srgbClr val="F1D7D3"/>
          </a:solidFill>
          <a:ln xmlns:a="http://schemas.openxmlformats.org/drawingml/2006/main" w="13335">
            <a:solidFill>
              <a:srgbClr val="B94A48"/>
            </a:solidFill>
            <a:prstDash val="solid"/>
          </a:ln>
        </p:spPr>
      </p:sp>
      <p:sp>
        <p:nvSpPr>
          <p:cNvPr id="45" name="">
            <a:extLst xmlns:a="http://schemas.openxmlformats.org/drawingml/2006/main">
              <a:ext uri="{FF2B5EF4-FFF2-40B4-BE49-F238E27FC236}">
                <a16:creationId xmlns:a16="http://schemas.microsoft.com/office/drawing/2014/main" id="{861998DF-3E2E-47FB-A9FF-FA5C6FA70B75}"/>
              </a:ext>
            </a:extLst>
          </p:cNvPr>
          <p:cNvSpPr>
            <a:spLocks xmlns:a="http://schemas.openxmlformats.org/drawingml/2006/main" noGrp="1"/>
          </p:cNvSpPr>
          <p:nvPr/>
        </p:nvSpPr>
        <p:spPr>
          <a:xfrm xmlns:a="http://schemas.openxmlformats.org/drawingml/2006/main">
            <a:off x="5867400" y="4800600"/>
            <a:ext cx="10287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B94A48"/>
                </a:solidFill>
                <a:latin typeface="Hiragino Sans"/>
                <a:ea typeface="Hiragino Sans"/>
                <a:cs typeface="Hiragino Sans"/>
              </a:defRPr>
            </a:pPr>
            <a:r>
              <a:rPr sz="1200" b="1">
                <a:solidFill>
                  <a:srgbClr val="B94A48"/>
                </a:solidFill>
                <a:latin typeface="Hiragino Sans"/>
                <a:ea typeface="Hiragino Sans"/>
                <a:cs typeface="Hiragino Sans"/>
              </a:rPr>
              <a:t>S_F</a:t>
            </a:r>
          </a:p>
        </p:txBody>
      </p:sp>
      <p:sp>
        <p:nvSpPr>
          <p:cNvPr id="46" name="">
            <a:extLst xmlns:a="http://schemas.openxmlformats.org/drawingml/2006/main">
              <a:ext uri="{FF2B5EF4-FFF2-40B4-BE49-F238E27FC236}">
                <a16:creationId xmlns:a16="http://schemas.microsoft.com/office/drawing/2014/main" id="{945045ED-4813-44BA-BB68-2F4725B456DF}"/>
              </a:ext>
            </a:extLst>
          </p:cNvPr>
          <p:cNvSpPr>
            <a:spLocks xmlns:a="http://schemas.openxmlformats.org/drawingml/2006/main" noGrp="1"/>
          </p:cNvSpPr>
          <p:nvPr/>
        </p:nvSpPr>
        <p:spPr>
          <a:xfrm xmlns:a="http://schemas.openxmlformats.org/drawingml/2006/main">
            <a:off x="5848350" y="5048250"/>
            <a:ext cx="10668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26323F"/>
                </a:solidFill>
                <a:latin typeface="Hiragino Sans"/>
                <a:ea typeface="Hiragino Sans"/>
                <a:cs typeface="Hiragino Sans"/>
              </a:defRPr>
            </a:pPr>
            <a:r>
              <a:rPr sz="788" b="0">
                <a:solidFill>
                  <a:srgbClr val="26323F"/>
                </a:solidFill>
                <a:latin typeface="Hiragino Sans"/>
                <a:ea typeface="Hiragino Sans"/>
                <a:cs typeface="Hiragino Sans"/>
              </a:rPr>
              <a:t>全損</a:t>
            </a:r>
          </a:p>
        </p:txBody>
      </p:sp>
      <p:sp>
        <p:nvSpPr>
          <p:cNvPr id="47" name="">
            <a:extLst xmlns:a="http://schemas.openxmlformats.org/drawingml/2006/main">
              <a:ext uri="{FF2B5EF4-FFF2-40B4-BE49-F238E27FC236}">
                <a16:creationId xmlns:a16="http://schemas.microsoft.com/office/drawing/2014/main" id="{756B6029-8B58-4374-B337-43D48B9B65D5}"/>
              </a:ext>
            </a:extLst>
          </p:cNvPr>
          <p:cNvSpPr>
            <a:spLocks xmlns:a="http://schemas.openxmlformats.org/drawingml/2006/main" noGrp="1"/>
          </p:cNvSpPr>
          <p:nvPr/>
        </p:nvSpPr>
        <p:spPr>
          <a:xfrm xmlns:a="http://schemas.openxmlformats.org/drawingml/2006/main">
            <a:off x="4248150" y="4191000"/>
            <a:ext cx="19050" cy="495300"/>
          </a:xfrm>
          <a:prstGeom xmlns:a="http://schemas.openxmlformats.org/drawingml/2006/main" prst="rect">
            <a:avLst/>
          </a:prstGeom>
          <a:solidFill xmlns:a="http://schemas.openxmlformats.org/drawingml/2006/main">
            <a:srgbClr val="3D8B61"/>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8B7E5BD8-3B56-468B-8921-F14373E76341}"/>
              </a:ext>
            </a:extLst>
          </p:cNvPr>
          <p:cNvSpPr>
            <a:spLocks xmlns:a="http://schemas.openxmlformats.org/drawingml/2006/main" noGrp="1"/>
          </p:cNvSpPr>
          <p:nvPr/>
        </p:nvSpPr>
        <p:spPr>
          <a:xfrm xmlns:a="http://schemas.openxmlformats.org/drawingml/2006/main">
            <a:off x="4248150" y="4191000"/>
            <a:ext cx="2609850" cy="19050"/>
          </a:xfrm>
          <a:prstGeom xmlns:a="http://schemas.openxmlformats.org/drawingml/2006/main" prst="rect">
            <a:avLst/>
          </a:prstGeom>
          <a:solidFill xmlns:a="http://schemas.openxmlformats.org/drawingml/2006/main">
            <a:srgbClr val="3D8B61"/>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91F20B58-C6A1-4D77-A6C4-CA6FD65A4FA0}"/>
              </a:ext>
            </a:extLst>
          </p:cNvPr>
          <p:cNvSpPr>
            <a:spLocks xmlns:a="http://schemas.openxmlformats.org/drawingml/2006/main" noGrp="1"/>
          </p:cNvSpPr>
          <p:nvPr/>
        </p:nvSpPr>
        <p:spPr>
          <a:xfrm xmlns:a="http://schemas.openxmlformats.org/drawingml/2006/main">
            <a:off x="6858000" y="2857500"/>
            <a:ext cx="19050" cy="1333500"/>
          </a:xfrm>
          <a:prstGeom xmlns:a="http://schemas.openxmlformats.org/drawingml/2006/main" prst="rect">
            <a:avLst/>
          </a:prstGeom>
          <a:solidFill xmlns:a="http://schemas.openxmlformats.org/drawingml/2006/main">
            <a:srgbClr val="3D8B61"/>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7A6611D2-B931-42A1-95B2-160121906BB9}"/>
              </a:ext>
            </a:extLst>
          </p:cNvPr>
          <p:cNvSpPr>
            <a:spLocks xmlns:a="http://schemas.openxmlformats.org/drawingml/2006/main" noGrp="1"/>
          </p:cNvSpPr>
          <p:nvPr/>
        </p:nvSpPr>
        <p:spPr>
          <a:xfrm xmlns:a="http://schemas.openxmlformats.org/drawingml/2006/main">
            <a:off x="6858000" y="2857500"/>
            <a:ext cx="400050" cy="19050"/>
          </a:xfrm>
          <a:prstGeom xmlns:a="http://schemas.openxmlformats.org/drawingml/2006/main" prst="rect">
            <a:avLst/>
          </a:prstGeom>
          <a:solidFill xmlns:a="http://schemas.openxmlformats.org/drawingml/2006/main">
            <a:srgbClr val="3D8B61"/>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1F1BCCE0-DA0A-4D08-B9F9-9F91BFC096F6}"/>
              </a:ext>
            </a:extLst>
          </p:cNvPr>
          <p:cNvSpPr>
            <a:spLocks xmlns:a="http://schemas.openxmlformats.org/drawingml/2006/main" noGrp="1"/>
          </p:cNvSpPr>
          <p:nvPr/>
        </p:nvSpPr>
        <p:spPr>
          <a:xfrm xmlns:a="http://schemas.openxmlformats.org/drawingml/2006/main">
            <a:off x="7219950" y="2819400"/>
            <a:ext cx="76200" cy="76200"/>
          </a:xfrm>
          <a:prstGeom xmlns:a="http://schemas.openxmlformats.org/drawingml/2006/main" prst="rect">
            <a:avLst/>
          </a:prstGeom>
          <a:solidFill xmlns:a="http://schemas.openxmlformats.org/drawingml/2006/main">
            <a:srgbClr val="3D8B61"/>
          </a:solidFill>
          <a:ln xmlns:a="http://schemas.openxmlformats.org/drawingml/2006/main" w="0">
            <a:solidFill>
              <a:srgbClr val="000000">
                <a:alpha val="0"/>
              </a:srgbClr>
            </a:solidFill>
            <a:prstDash val="solid"/>
          </a:ln>
        </p:spPr>
      </p:sp>
      <p:sp>
        <p:nvSpPr>
          <p:cNvPr id="52" name="">
            <a:extLst xmlns:a="http://schemas.openxmlformats.org/drawingml/2006/main">
              <a:ext uri="{FF2B5EF4-FFF2-40B4-BE49-F238E27FC236}">
                <a16:creationId xmlns:a16="http://schemas.microsoft.com/office/drawing/2014/main" id="{E732C5B4-A04C-46C7-A491-61F7FF67ACEE}"/>
              </a:ext>
            </a:extLst>
          </p:cNvPr>
          <p:cNvSpPr>
            <a:spLocks xmlns:a="http://schemas.openxmlformats.org/drawingml/2006/main" noGrp="1"/>
          </p:cNvSpPr>
          <p:nvPr/>
        </p:nvSpPr>
        <p:spPr>
          <a:xfrm xmlns:a="http://schemas.openxmlformats.org/drawingml/2006/main">
            <a:off x="5048250" y="3943350"/>
            <a:ext cx="323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3D8B61"/>
                </a:solidFill>
                <a:latin typeface="Hiragino Sans"/>
                <a:ea typeface="Hiragino Sans"/>
                <a:cs typeface="Hiragino Sans"/>
              </a:defRPr>
            </a:pPr>
            <a:r>
              <a:rPr sz="750" b="1">
                <a:solidFill>
                  <a:srgbClr val="3D8B61"/>
                </a:solidFill>
                <a:latin typeface="Hiragino Sans"/>
                <a:ea typeface="Hiragino Sans"/>
                <a:cs typeface="Hiragino Sans"/>
              </a:rPr>
              <a:t>η</a:t>
            </a:r>
          </a:p>
        </p:txBody>
      </p:sp>
      <p:sp>
        <p:nvSpPr>
          <p:cNvPr id="53" name="">
            <a:extLst xmlns:a="http://schemas.openxmlformats.org/drawingml/2006/main">
              <a:ext uri="{FF2B5EF4-FFF2-40B4-BE49-F238E27FC236}">
                <a16:creationId xmlns:a16="http://schemas.microsoft.com/office/drawing/2014/main" id="{2F41659A-4285-4553-9FF1-32D51404E2A7}"/>
              </a:ext>
            </a:extLst>
          </p:cNvPr>
          <p:cNvSpPr>
            <a:spLocks xmlns:a="http://schemas.openxmlformats.org/drawingml/2006/main" noGrp="1"/>
          </p:cNvSpPr>
          <p:nvPr/>
        </p:nvSpPr>
        <p:spPr>
          <a:xfrm xmlns:a="http://schemas.openxmlformats.org/drawingml/2006/main">
            <a:off x="8058150" y="4343400"/>
            <a:ext cx="28956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0E8A8A"/>
            </a:solidFill>
            <a:prstDash val="solid"/>
          </a:ln>
        </p:spPr>
      </p:sp>
      <p:sp>
        <p:nvSpPr>
          <p:cNvPr id="54" name="">
            <a:extLst xmlns:a="http://schemas.openxmlformats.org/drawingml/2006/main">
              <a:ext uri="{FF2B5EF4-FFF2-40B4-BE49-F238E27FC236}">
                <a16:creationId xmlns:a16="http://schemas.microsoft.com/office/drawing/2014/main" id="{F3B8CA0D-99EE-4000-8EA3-BFB6B259E246}"/>
              </a:ext>
            </a:extLst>
          </p:cNvPr>
          <p:cNvSpPr>
            <a:spLocks xmlns:a="http://schemas.openxmlformats.org/drawingml/2006/main" noGrp="1"/>
          </p:cNvSpPr>
          <p:nvPr/>
        </p:nvSpPr>
        <p:spPr>
          <a:xfrm xmlns:a="http://schemas.openxmlformats.org/drawingml/2006/main">
            <a:off x="8210550" y="4495800"/>
            <a:ext cx="25908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02A"/>
                </a:solidFill>
                <a:latin typeface="Hiragino Sans"/>
                <a:ea typeface="Hiragino Sans"/>
                <a:cs typeface="Hiragino Sans"/>
              </a:defRPr>
            </a:pPr>
            <a:r>
              <a:rPr sz="1200" b="1">
                <a:solidFill>
                  <a:srgbClr val="17202A"/>
                </a:solidFill>
                <a:latin typeface="Hiragino Sans"/>
                <a:ea typeface="Hiragino Sans"/>
                <a:cs typeface="Hiragino Sans"/>
              </a:rPr>
              <a:t>バックアップ判定</a:t>
            </a:r>
          </a:p>
          <a:p xmlns:a="http://schemas.openxmlformats.org/drawingml/2006/main">
            <a:pPr algn="l">
              <a:defRPr sz="1200" b="1">
                <a:solidFill>
                  <a:srgbClr val="17202A"/>
                </a:solidFill>
                <a:latin typeface="Hiragino Sans"/>
                <a:ea typeface="Hiragino Sans"/>
                <a:cs typeface="Hiragino Sans"/>
              </a:defRPr>
            </a:pPr>
            <a:r>
              <a:rPr sz="1200" b="1">
                <a:solidFill>
                  <a:srgbClr val="17202A"/>
                </a:solidFill>
                <a:latin typeface="Hiragino Sans"/>
                <a:ea typeface="Hiragino Sans"/>
                <a:cs typeface="Hiragino Sans"/>
              </a:rPr>
              <a:t>T_age ≤ nΔ なら復旧可能</a:t>
            </a:r>
          </a:p>
          <a:p xmlns:a="http://schemas.openxmlformats.org/drawingml/2006/main">
            <a:pPr algn="l">
              <a:defRPr sz="1200" b="1">
                <a:solidFill>
                  <a:srgbClr val="17202A"/>
                </a:solidFill>
                <a:latin typeface="Hiragino Sans"/>
                <a:ea typeface="Hiragino Sans"/>
                <a:cs typeface="Hiragino Sans"/>
              </a:defRPr>
            </a:pPr>
            <a:r>
              <a:rPr sz="1200" b="1">
                <a:solidFill>
                  <a:srgbClr val="17202A"/>
                </a:solidFill>
                <a:latin typeface="Hiragino Sans"/>
                <a:ea typeface="Hiragino Sans"/>
                <a:cs typeface="Hiragino Sans"/>
              </a:rPr>
              <a:t>T_age &gt; nΔ なら清浄世代が失われる</a:t>
            </a:r>
          </a:p>
        </p:txBody>
      </p:sp>
      <p:sp>
        <p:nvSpPr>
          <p:cNvPr id="55" name="">
            <a:extLst xmlns:a="http://schemas.openxmlformats.org/drawingml/2006/main">
              <a:ext uri="{FF2B5EF4-FFF2-40B4-BE49-F238E27FC236}">
                <a16:creationId xmlns:a16="http://schemas.microsoft.com/office/drawing/2014/main" id="{3CCFC396-ABF4-414B-B407-2CFF9E165BC7}"/>
              </a:ext>
            </a:extLst>
          </p:cNvPr>
          <p:cNvSpPr>
            <a:spLocks xmlns:a="http://schemas.openxmlformats.org/drawingml/2006/main" noGrp="1"/>
          </p:cNvSpPr>
          <p:nvPr/>
        </p:nvSpPr>
        <p:spPr>
          <a:xfrm xmlns:a="http://schemas.openxmlformats.org/drawingml/2006/main">
            <a:off x="800100" y="5619750"/>
            <a:ext cx="40957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5F6B75"/>
                </a:solidFill>
                <a:latin typeface="Hiragino Sans"/>
                <a:ea typeface="Hiragino Sans"/>
                <a:cs typeface="Hiragino Sans"/>
              </a:defRPr>
            </a:pPr>
            <a:r>
              <a:rPr sz="975" b="0">
                <a:solidFill>
                  <a:srgbClr val="5F6B75"/>
                </a:solidFill>
                <a:latin typeface="Hiragino Sans"/>
                <a:ea typeface="Hiragino Sans"/>
                <a:cs typeface="Hiragino Sans"/>
              </a:rPr>
              <a:t>T_det ~ Exp(β(I))</a:t>
            </a:r>
          </a:p>
          <a:p xmlns:a="http://schemas.openxmlformats.org/drawingml/2006/main">
            <a:pPr algn="l">
              <a:defRPr sz="975" b="0">
                <a:solidFill>
                  <a:srgbClr val="5F6B75"/>
                </a:solidFill>
                <a:latin typeface="Hiragino Sans"/>
                <a:ea typeface="Hiragino Sans"/>
                <a:cs typeface="Hiragino Sans"/>
              </a:defRPr>
            </a:pPr>
            <a:r>
              <a:rPr sz="975" b="0">
                <a:solidFill>
                  <a:srgbClr val="5F6B75"/>
                </a:solidFill>
                <a:latin typeface="Hiragino Sans"/>
                <a:ea typeface="Hiragino Sans"/>
                <a:cs typeface="Hiragino Sans"/>
              </a:rPr>
              <a:t>T_d ~ Pareto(t_m, α(I))</a:t>
            </a:r>
          </a:p>
          <a:p xmlns:a="http://schemas.openxmlformats.org/drawingml/2006/main">
            <a:pPr algn="l">
              <a:defRPr sz="975" b="0">
                <a:solidFill>
                  <a:srgbClr val="5F6B75"/>
                </a:solidFill>
                <a:latin typeface="Hiragino Sans"/>
                <a:ea typeface="Hiragino Sans"/>
                <a:cs typeface="Hiragino Sans"/>
              </a:defRPr>
            </a:pPr>
            <a:r>
              <a:rPr sz="975" b="0">
                <a:solidFill>
                  <a:srgbClr val="5F6B75"/>
                </a:solidFill>
                <a:latin typeface="Hiragino Sans"/>
                <a:ea typeface="Hiragino Sans"/>
                <a:cs typeface="Hiragino Sans"/>
              </a:rPr>
              <a:t>T_det と T_d は独立</a:t>
            </a:r>
          </a:p>
        </p:txBody>
      </p:sp>
      <p:sp>
        <p:nvSpPr>
          <p:cNvPr id="56" name="">
            <a:extLst xmlns:a="http://schemas.openxmlformats.org/drawingml/2006/main">
              <a:ext uri="{FF2B5EF4-FFF2-40B4-BE49-F238E27FC236}">
                <a16:creationId xmlns:a16="http://schemas.microsoft.com/office/drawing/2014/main" id="{7D3D3CF6-E996-4330-853C-EA692738C64A}"/>
              </a:ext>
            </a:extLst>
          </p:cNvPr>
          <p:cNvSpPr>
            <a:spLocks xmlns:a="http://schemas.openxmlformats.org/drawingml/2006/main" noGrp="1"/>
          </p:cNvSpPr>
          <p:nvPr/>
        </p:nvSpPr>
        <p:spPr>
          <a:xfrm xmlns:a="http://schemas.openxmlformats.org/drawingml/2006/main">
            <a:off x="552450" y="6400800"/>
            <a:ext cx="11087100" cy="1143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57" name="">
            <a:extLst xmlns:a="http://schemas.openxmlformats.org/drawingml/2006/main">
              <a:ext uri="{FF2B5EF4-FFF2-40B4-BE49-F238E27FC236}">
                <a16:creationId xmlns:a16="http://schemas.microsoft.com/office/drawing/2014/main" id="{945D5044-0A19-4814-A5C1-977C7D9E549B}"/>
              </a:ext>
            </a:extLst>
          </p:cNvPr>
          <p:cNvSpPr>
            <a:spLocks xmlns:a="http://schemas.openxmlformats.org/drawingml/2006/main" noGrp="1"/>
          </p:cNvSpPr>
          <p:nvPr/>
        </p:nvSpPr>
        <p:spPr>
          <a:xfrm xmlns:a="http://schemas.openxmlformats.org/drawingml/2006/main">
            <a:off x="552450" y="6515100"/>
            <a:ext cx="914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00" b="0">
                <a:solidFill>
                  <a:srgbClr val="5F6B75"/>
                </a:solidFill>
                <a:latin typeface="Hiragino Sans"/>
                <a:ea typeface="Hiragino Sans"/>
                <a:cs typeface="Hiragino Sans"/>
              </a:defRPr>
            </a:pPr>
            <a:r>
              <a:rPr sz="600" b="0">
                <a:solidFill>
                  <a:srgbClr val="5F6B75"/>
                </a:solidFill>
                <a:latin typeface="Hiragino Sans"/>
                <a:ea typeface="Hiragino Sans"/>
                <a:cs typeface="Hiragino Sans"/>
              </a:rPr>
              <a:t>Source: paper/sections/tex/02_model_formulation.tex</a:t>
            </a:r>
          </a:p>
        </p:txBody>
      </p:sp>
      <p:sp>
        <p:nvSpPr>
          <p:cNvPr id="58" name="">
            <a:extLst xmlns:a="http://schemas.openxmlformats.org/drawingml/2006/main">
              <a:ext uri="{FF2B5EF4-FFF2-40B4-BE49-F238E27FC236}">
                <a16:creationId xmlns:a16="http://schemas.microsoft.com/office/drawing/2014/main" id="{51854087-8FDA-4E16-A6BC-499B86DAD593}"/>
              </a:ext>
            </a:extLst>
          </p:cNvPr>
          <p:cNvSpPr>
            <a:spLocks xmlns:a="http://schemas.openxmlformats.org/drawingml/2006/main" noGrp="1"/>
          </p:cNvSpPr>
          <p:nvPr/>
        </p:nvSpPr>
        <p:spPr>
          <a:xfrm xmlns:a="http://schemas.openxmlformats.org/drawingml/2006/main">
            <a:off x="11239500" y="6486525"/>
            <a:ext cx="400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5F6B75"/>
                </a:solidFill>
                <a:latin typeface="Hiragino Sans"/>
                <a:ea typeface="Hiragino Sans"/>
                <a:cs typeface="Hiragino Sans"/>
              </a:defRPr>
            </a:pPr>
            <a:r>
              <a:rPr sz="900" b="1">
                <a:solidFill>
                  <a:srgbClr val="5F6B75"/>
                </a:solidFill>
                <a:latin typeface="Hiragino Sans"/>
                <a:ea typeface="Hiragino Sans"/>
                <a:cs typeface="Hiragino Sans"/>
              </a:rPr>
              <a:t>02</a:t>
            </a:r>
          </a:p>
        </p:txBody>
      </p:sp>
    </p:spTree>
    <p:extLst>
      <p:ext uri="{BB962C8B-B14F-4D97-AF65-F5344CB8AC3E}">
        <p14:creationId xmlns:p14="http://schemas.microsoft.com/office/powerpoint/2010/main" val="54872841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8CAB8C0-5831-4021-BFCD-5F8042705EC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8F4"/>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12ED354F-9C99-4467-8567-FCD3FB08965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41A538E-AA7D-4E2D-984A-7AD7AA1EE733}"/>
              </a:ext>
            </a:extLst>
          </p:cNvPr>
          <p:cNvSpPr>
            <a:spLocks xmlns:a="http://schemas.openxmlformats.org/drawingml/2006/main" noGrp="1"/>
          </p:cNvSpPr>
          <p:nvPr/>
        </p:nvSpPr>
        <p:spPr>
          <a:xfrm xmlns:a="http://schemas.openxmlformats.org/drawingml/2006/main">
            <a:off x="0" y="66675"/>
            <a:ext cx="12192000" cy="28575"/>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590E08C-2F5B-4AB1-A99C-E154482F4D68}"/>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30E1C9F-510A-431A-A203-470AB79CEAD8}"/>
              </a:ext>
            </a:extLst>
          </p:cNvPr>
          <p:cNvSpPr>
            <a:spLocks xmlns:a="http://schemas.openxmlformats.org/drawingml/2006/main" noGrp="1"/>
          </p:cNvSpPr>
          <p:nvPr/>
        </p:nvSpPr>
        <p:spPr>
          <a:xfrm xmlns:a="http://schemas.openxmlformats.org/drawingml/2006/main">
            <a:off x="742950" y="342900"/>
            <a:ext cx="685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5F6B75"/>
                </a:solidFill>
                <a:latin typeface="Hiragino Sans"/>
                <a:ea typeface="Hiragino Sans"/>
                <a:cs typeface="Hiragino Sans"/>
              </a:defRPr>
            </a:pPr>
            <a:r>
              <a:rPr sz="825" b="1">
                <a:solidFill>
                  <a:srgbClr val="5F6B75"/>
                </a:solidFill>
                <a:latin typeface="Hiragino Sans"/>
                <a:ea typeface="Hiragino Sans"/>
                <a:cs typeface="Hiragino Sans"/>
              </a:rPr>
              <a:t>重尾性 | 有限な費用率と残る尾リスク</a:t>
            </a:r>
          </a:p>
        </p:txBody>
      </p:sp>
      <p:sp>
        <p:nvSpPr>
          <p:cNvPr id="6" name="">
            <a:extLst xmlns:a="http://schemas.openxmlformats.org/drawingml/2006/main">
              <a:ext uri="{FF2B5EF4-FFF2-40B4-BE49-F238E27FC236}">
                <a16:creationId xmlns:a16="http://schemas.microsoft.com/office/drawing/2014/main" id="{E3D3CA96-69F3-4A7E-87F4-A88FD83BF6B6}"/>
              </a:ext>
            </a:extLst>
          </p:cNvPr>
          <p:cNvSpPr>
            <a:spLocks xmlns:a="http://schemas.openxmlformats.org/drawingml/2006/main" noGrp="1"/>
          </p:cNvSpPr>
          <p:nvPr/>
        </p:nvSpPr>
        <p:spPr>
          <a:xfrm xmlns:a="http://schemas.openxmlformats.org/drawingml/2006/main">
            <a:off x="552450" y="762000"/>
            <a:ext cx="885825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7202A"/>
                </a:solidFill>
                <a:latin typeface="Hiragino Sans"/>
                <a:ea typeface="Hiragino Sans"/>
                <a:cs typeface="Hiragino Sans"/>
              </a:defRPr>
            </a:pPr>
            <a:r>
              <a:rPr sz="2775" b="1">
                <a:solidFill>
                  <a:srgbClr val="17202A"/>
                </a:solidFill>
                <a:latin typeface="Hiragino Sans"/>
                <a:ea typeface="Hiragino Sans"/>
                <a:cs typeface="Hiragino Sans"/>
              </a:rPr>
              <a:t>検知は潜伏を打ち切るが、保持境界なしでは尾が残る</a:t>
            </a:r>
          </a:p>
        </p:txBody>
      </p:sp>
      <p:sp>
        <p:nvSpPr>
          <p:cNvPr id="7" name="">
            <a:extLst xmlns:a="http://schemas.openxmlformats.org/drawingml/2006/main">
              <a:ext uri="{FF2B5EF4-FFF2-40B4-BE49-F238E27FC236}">
                <a16:creationId xmlns:a16="http://schemas.microsoft.com/office/drawing/2014/main" id="{968ECEF3-852C-4470-A1C0-3FC5A6EBBEE6}"/>
              </a:ext>
            </a:extLst>
          </p:cNvPr>
          <p:cNvSpPr>
            <a:spLocks xmlns:a="http://schemas.openxmlformats.org/drawingml/2006/main" noGrp="1"/>
          </p:cNvSpPr>
          <p:nvPr/>
        </p:nvSpPr>
        <p:spPr>
          <a:xfrm xmlns:a="http://schemas.openxmlformats.org/drawingml/2006/main">
            <a:off x="552450" y="1695450"/>
            <a:ext cx="9620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26323F"/>
                </a:solidFill>
                <a:latin typeface="Hiragino Sans"/>
                <a:ea typeface="Hiragino Sans"/>
                <a:cs typeface="Hiragino Sans"/>
              </a:defRPr>
            </a:pPr>
            <a:r>
              <a:rPr sz="1875" b="1">
                <a:solidFill>
                  <a:srgbClr val="26323F"/>
                </a:solidFill>
                <a:latin typeface="Hiragino Sans"/>
                <a:ea typeface="Hiragino Sans"/>
                <a:cs typeface="Hiragino Sans"/>
              </a:rPr>
              <a:t>正の検知率 β&gt;0 は暦時間費用率を有限にする。</a:t>
            </a:r>
          </a:p>
          <a:p xmlns:a="http://schemas.openxmlformats.org/drawingml/2006/main">
            <a:pPr algn="l">
              <a:defRPr sz="1875" b="1">
                <a:solidFill>
                  <a:srgbClr val="26323F"/>
                </a:solidFill>
                <a:latin typeface="Hiragino Sans"/>
                <a:ea typeface="Hiragino Sans"/>
                <a:cs typeface="Hiragino Sans"/>
              </a:defRPr>
            </a:pPr>
            <a:r>
              <a:rPr sz="1875" b="1">
                <a:solidFill>
                  <a:srgbClr val="26323F"/>
                </a:solidFill>
                <a:latin typeface="Hiragino Sans"/>
                <a:ea typeface="Hiragino Sans"/>
                <a:cs typeface="Hiragino Sans"/>
              </a:rPr>
              <a:t>しかし α≤1 では、境界なし残余損失が低検知率域で発散する。</a:t>
            </a:r>
          </a:p>
        </p:txBody>
      </p:sp>
      <p:sp>
        <p:nvSpPr>
          <p:cNvPr id="8" name="">
            <a:extLst xmlns:a="http://schemas.openxmlformats.org/drawingml/2006/main">
              <a:ext uri="{FF2B5EF4-FFF2-40B4-BE49-F238E27FC236}">
                <a16:creationId xmlns:a16="http://schemas.microsoft.com/office/drawing/2014/main" id="{BBE44F33-3FA3-4A92-A7F3-E6FACE72DD76}"/>
              </a:ext>
            </a:extLst>
          </p:cNvPr>
          <p:cNvSpPr>
            <a:spLocks xmlns:a="http://schemas.openxmlformats.org/drawingml/2006/main" noGrp="1"/>
          </p:cNvSpPr>
          <p:nvPr/>
        </p:nvSpPr>
        <p:spPr>
          <a:xfrm xmlns:a="http://schemas.openxmlformats.org/drawingml/2006/main">
            <a:off x="876300" y="3009900"/>
            <a:ext cx="5010150" cy="2647950"/>
          </a:xfrm>
          <a:prstGeom xmlns:a="http://schemas.openxmlformats.org/drawingml/2006/main" prst="rect">
            <a:avLst/>
          </a:prstGeom>
          <a:solidFill xmlns:a="http://schemas.openxmlformats.org/drawingml/2006/main">
            <a:srgbClr val="FFFFFF"/>
          </a:solidFill>
          <a:ln xmlns:a="http://schemas.openxmlformats.org/drawingml/2006/main" w="9525">
            <a:solidFill>
              <a:srgbClr val="D7DCCF"/>
            </a:solidFill>
            <a:prstDash val="solid"/>
          </a:ln>
        </p:spPr>
      </p:sp>
      <p:sp>
        <p:nvSpPr>
          <p:cNvPr id="9" name="">
            <a:extLst xmlns:a="http://schemas.openxmlformats.org/drawingml/2006/main">
              <a:ext uri="{FF2B5EF4-FFF2-40B4-BE49-F238E27FC236}">
                <a16:creationId xmlns:a16="http://schemas.microsoft.com/office/drawing/2014/main" id="{3945966D-8E80-49F5-9BDD-D4D8E49C3D38}"/>
              </a:ext>
            </a:extLst>
          </p:cNvPr>
          <p:cNvSpPr>
            <a:spLocks xmlns:a="http://schemas.openxmlformats.org/drawingml/2006/main" noGrp="1"/>
          </p:cNvSpPr>
          <p:nvPr/>
        </p:nvSpPr>
        <p:spPr>
          <a:xfrm xmlns:a="http://schemas.openxmlformats.org/drawingml/2006/main">
            <a:off x="1428750" y="5086350"/>
            <a:ext cx="3752850" cy="1905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B137CF01-4D83-408D-956A-B69FBE204384}"/>
              </a:ext>
            </a:extLst>
          </p:cNvPr>
          <p:cNvSpPr>
            <a:spLocks xmlns:a="http://schemas.openxmlformats.org/drawingml/2006/main" noGrp="1"/>
          </p:cNvSpPr>
          <p:nvPr/>
        </p:nvSpPr>
        <p:spPr>
          <a:xfrm xmlns:a="http://schemas.openxmlformats.org/drawingml/2006/main">
            <a:off x="1428750" y="3371850"/>
            <a:ext cx="19050" cy="1714500"/>
          </a:xfrm>
          <a:prstGeom xmlns:a="http://schemas.openxmlformats.org/drawingml/2006/main" prst="rect">
            <a:avLst/>
          </a:prstGeom>
          <a:solidFill xmlns:a="http://schemas.openxmlformats.org/drawingml/2006/main">
            <a:srgbClr val="26323F"/>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A7163420-4D78-4347-A0E1-81DE84B853FA}"/>
              </a:ext>
            </a:extLst>
          </p:cNvPr>
          <p:cNvSpPr>
            <a:spLocks xmlns:a="http://schemas.openxmlformats.org/drawingml/2006/main" noGrp="1"/>
          </p:cNvSpPr>
          <p:nvPr/>
        </p:nvSpPr>
        <p:spPr>
          <a:xfrm xmlns:a="http://schemas.openxmlformats.org/drawingml/2006/main">
            <a:off x="1352550" y="3181350"/>
            <a:ext cx="12954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5F6B75"/>
                </a:solidFill>
                <a:latin typeface="Hiragino Sans"/>
                <a:ea typeface="Hiragino Sans"/>
                <a:cs typeface="Hiragino Sans"/>
              </a:defRPr>
            </a:pPr>
            <a:r>
              <a:rPr sz="750" b="0">
                <a:solidFill>
                  <a:srgbClr val="5F6B75"/>
                </a:solidFill>
                <a:latin typeface="Hiragino Sans"/>
                <a:ea typeface="Hiragino Sans"/>
                <a:cs typeface="Hiragino Sans"/>
              </a:rPr>
              <a:t>tail probability</a:t>
            </a:r>
          </a:p>
        </p:txBody>
      </p:sp>
      <p:sp>
        <p:nvSpPr>
          <p:cNvPr id="12" name="">
            <a:extLst xmlns:a="http://schemas.openxmlformats.org/drawingml/2006/main">
              <a:ext uri="{FF2B5EF4-FFF2-40B4-BE49-F238E27FC236}">
                <a16:creationId xmlns:a16="http://schemas.microsoft.com/office/drawing/2014/main" id="{5F8990EC-9A13-4070-8D7F-C3C0158A0038}"/>
              </a:ext>
            </a:extLst>
          </p:cNvPr>
          <p:cNvSpPr>
            <a:spLocks xmlns:a="http://schemas.openxmlformats.org/drawingml/2006/main" noGrp="1"/>
          </p:cNvSpPr>
          <p:nvPr/>
        </p:nvSpPr>
        <p:spPr>
          <a:xfrm xmlns:a="http://schemas.openxmlformats.org/drawingml/2006/main">
            <a:off x="4895850" y="5200650"/>
            <a:ext cx="4000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5F6B75"/>
                </a:solidFill>
                <a:latin typeface="Hiragino Sans"/>
                <a:ea typeface="Hiragino Sans"/>
                <a:cs typeface="Hiragino Sans"/>
              </a:defRPr>
            </a:pPr>
            <a:r>
              <a:rPr sz="750" b="0">
                <a:solidFill>
                  <a:srgbClr val="5F6B75"/>
                </a:solidFill>
                <a:latin typeface="Hiragino Sans"/>
                <a:ea typeface="Hiragino Sans"/>
                <a:cs typeface="Hiragino Sans"/>
              </a:rPr>
              <a:t>time</a:t>
            </a:r>
          </a:p>
        </p:txBody>
      </p:sp>
      <p:sp>
        <p:nvSpPr>
          <p:cNvPr id="13" name="">
            <a:extLst xmlns:a="http://schemas.openxmlformats.org/drawingml/2006/main">
              <a:ext uri="{FF2B5EF4-FFF2-40B4-BE49-F238E27FC236}">
                <a16:creationId xmlns:a16="http://schemas.microsoft.com/office/drawing/2014/main" id="{53948657-3CEB-44E9-ADEF-B69AE755ADBE}"/>
              </a:ext>
            </a:extLst>
          </p:cNvPr>
          <p:cNvSpPr>
            <a:spLocks xmlns:a="http://schemas.openxmlformats.org/drawingml/2006/main" noGrp="1"/>
          </p:cNvSpPr>
          <p:nvPr/>
        </p:nvSpPr>
        <p:spPr>
          <a:xfrm xmlns:a="http://schemas.openxmlformats.org/drawingml/2006/main">
            <a:off x="1466850" y="356235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0ECF5390-7BF4-4DE4-A5BE-092221D8D902}"/>
              </a:ext>
            </a:extLst>
          </p:cNvPr>
          <p:cNvSpPr>
            <a:spLocks xmlns:a="http://schemas.openxmlformats.org/drawingml/2006/main" noGrp="1"/>
          </p:cNvSpPr>
          <p:nvPr/>
        </p:nvSpPr>
        <p:spPr>
          <a:xfrm xmlns:a="http://schemas.openxmlformats.org/drawingml/2006/main">
            <a:off x="1695450" y="37338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24F0AAC3-A52F-4347-AD62-1866FA8E21CF}"/>
              </a:ext>
            </a:extLst>
          </p:cNvPr>
          <p:cNvSpPr>
            <a:spLocks xmlns:a="http://schemas.openxmlformats.org/drawingml/2006/main" noGrp="1"/>
          </p:cNvSpPr>
          <p:nvPr/>
        </p:nvSpPr>
        <p:spPr>
          <a:xfrm xmlns:a="http://schemas.openxmlformats.org/drawingml/2006/main">
            <a:off x="1924050" y="38862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F6380BA-0F01-4A8D-AE19-CB9F1C51C851}"/>
              </a:ext>
            </a:extLst>
          </p:cNvPr>
          <p:cNvSpPr>
            <a:spLocks xmlns:a="http://schemas.openxmlformats.org/drawingml/2006/main" noGrp="1"/>
          </p:cNvSpPr>
          <p:nvPr/>
        </p:nvSpPr>
        <p:spPr>
          <a:xfrm xmlns:a="http://schemas.openxmlformats.org/drawingml/2006/main">
            <a:off x="2152650" y="401955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5040C8E5-2B88-4A96-B9A0-02A464126C95}"/>
              </a:ext>
            </a:extLst>
          </p:cNvPr>
          <p:cNvSpPr>
            <a:spLocks xmlns:a="http://schemas.openxmlformats.org/drawingml/2006/main" noGrp="1"/>
          </p:cNvSpPr>
          <p:nvPr/>
        </p:nvSpPr>
        <p:spPr>
          <a:xfrm xmlns:a="http://schemas.openxmlformats.org/drawingml/2006/main">
            <a:off x="2381250" y="41529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ACEF24C5-016F-4A5E-8F2D-460973F92C0C}"/>
              </a:ext>
            </a:extLst>
          </p:cNvPr>
          <p:cNvSpPr>
            <a:spLocks xmlns:a="http://schemas.openxmlformats.org/drawingml/2006/main" noGrp="1"/>
          </p:cNvSpPr>
          <p:nvPr/>
        </p:nvSpPr>
        <p:spPr>
          <a:xfrm xmlns:a="http://schemas.openxmlformats.org/drawingml/2006/main">
            <a:off x="2609850" y="428625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E22D82B-F919-4BE0-8004-1610D0D3B596}"/>
              </a:ext>
            </a:extLst>
          </p:cNvPr>
          <p:cNvSpPr>
            <a:spLocks xmlns:a="http://schemas.openxmlformats.org/drawingml/2006/main" noGrp="1"/>
          </p:cNvSpPr>
          <p:nvPr/>
        </p:nvSpPr>
        <p:spPr>
          <a:xfrm xmlns:a="http://schemas.openxmlformats.org/drawingml/2006/main">
            <a:off x="2838450" y="44196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30DAE6E-0E5C-4157-A45E-17AB728EA3D9}"/>
              </a:ext>
            </a:extLst>
          </p:cNvPr>
          <p:cNvSpPr>
            <a:spLocks xmlns:a="http://schemas.openxmlformats.org/drawingml/2006/main" noGrp="1"/>
          </p:cNvSpPr>
          <p:nvPr/>
        </p:nvSpPr>
        <p:spPr>
          <a:xfrm xmlns:a="http://schemas.openxmlformats.org/drawingml/2006/main">
            <a:off x="3067050" y="45339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AD3D07A8-568C-40DF-B7B8-C373DC936592}"/>
              </a:ext>
            </a:extLst>
          </p:cNvPr>
          <p:cNvSpPr>
            <a:spLocks xmlns:a="http://schemas.openxmlformats.org/drawingml/2006/main" noGrp="1"/>
          </p:cNvSpPr>
          <p:nvPr/>
        </p:nvSpPr>
        <p:spPr>
          <a:xfrm xmlns:a="http://schemas.openxmlformats.org/drawingml/2006/main">
            <a:off x="3295650" y="46101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EF11125-221A-45B5-AAF5-BCDD8321DA11}"/>
              </a:ext>
            </a:extLst>
          </p:cNvPr>
          <p:cNvSpPr>
            <a:spLocks xmlns:a="http://schemas.openxmlformats.org/drawingml/2006/main" noGrp="1"/>
          </p:cNvSpPr>
          <p:nvPr/>
        </p:nvSpPr>
        <p:spPr>
          <a:xfrm xmlns:a="http://schemas.openxmlformats.org/drawingml/2006/main">
            <a:off x="3524250" y="4695825"/>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7A41F13A-B920-4733-88E0-05819ADF7811}"/>
              </a:ext>
            </a:extLst>
          </p:cNvPr>
          <p:cNvSpPr>
            <a:spLocks xmlns:a="http://schemas.openxmlformats.org/drawingml/2006/main" noGrp="1"/>
          </p:cNvSpPr>
          <p:nvPr/>
        </p:nvSpPr>
        <p:spPr>
          <a:xfrm xmlns:a="http://schemas.openxmlformats.org/drawingml/2006/main">
            <a:off x="3752850" y="4772025"/>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542B6446-A610-41BB-B338-9E2C71A2F8C0}"/>
              </a:ext>
            </a:extLst>
          </p:cNvPr>
          <p:cNvSpPr>
            <a:spLocks xmlns:a="http://schemas.openxmlformats.org/drawingml/2006/main" noGrp="1"/>
          </p:cNvSpPr>
          <p:nvPr/>
        </p:nvSpPr>
        <p:spPr>
          <a:xfrm xmlns:a="http://schemas.openxmlformats.org/drawingml/2006/main">
            <a:off x="3981450" y="483870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513A588-2B86-4E2B-9D10-68556185DDC1}"/>
              </a:ext>
            </a:extLst>
          </p:cNvPr>
          <p:cNvSpPr>
            <a:spLocks xmlns:a="http://schemas.openxmlformats.org/drawingml/2006/main" noGrp="1"/>
          </p:cNvSpPr>
          <p:nvPr/>
        </p:nvSpPr>
        <p:spPr>
          <a:xfrm xmlns:a="http://schemas.openxmlformats.org/drawingml/2006/main">
            <a:off x="4210050" y="4895850"/>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46632062-3CED-449F-BCC6-C39BEA2396A1}"/>
              </a:ext>
            </a:extLst>
          </p:cNvPr>
          <p:cNvSpPr>
            <a:spLocks xmlns:a="http://schemas.openxmlformats.org/drawingml/2006/main" noGrp="1"/>
          </p:cNvSpPr>
          <p:nvPr/>
        </p:nvSpPr>
        <p:spPr>
          <a:xfrm xmlns:a="http://schemas.openxmlformats.org/drawingml/2006/main">
            <a:off x="4438650" y="4943475"/>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D50A8599-F061-4D68-9768-A7DA8B831B34}"/>
              </a:ext>
            </a:extLst>
          </p:cNvPr>
          <p:cNvSpPr>
            <a:spLocks xmlns:a="http://schemas.openxmlformats.org/drawingml/2006/main" noGrp="1"/>
          </p:cNvSpPr>
          <p:nvPr/>
        </p:nvSpPr>
        <p:spPr>
          <a:xfrm xmlns:a="http://schemas.openxmlformats.org/drawingml/2006/main">
            <a:off x="4667250" y="4981575"/>
            <a:ext cx="66675"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B6B6DC9C-2D45-433F-94D8-DB0AA073599E}"/>
              </a:ext>
            </a:extLst>
          </p:cNvPr>
          <p:cNvSpPr>
            <a:spLocks xmlns:a="http://schemas.openxmlformats.org/drawingml/2006/main" noGrp="1"/>
          </p:cNvSpPr>
          <p:nvPr/>
        </p:nvSpPr>
        <p:spPr>
          <a:xfrm xmlns:a="http://schemas.openxmlformats.org/drawingml/2006/main">
            <a:off x="1466850" y="356235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29DAA242-CE45-4AB3-A822-4C0E9EAB0954}"/>
              </a:ext>
            </a:extLst>
          </p:cNvPr>
          <p:cNvSpPr>
            <a:spLocks xmlns:a="http://schemas.openxmlformats.org/drawingml/2006/main" noGrp="1"/>
          </p:cNvSpPr>
          <p:nvPr/>
        </p:nvSpPr>
        <p:spPr>
          <a:xfrm xmlns:a="http://schemas.openxmlformats.org/drawingml/2006/main">
            <a:off x="1695450" y="367665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05C4C0ED-7206-441F-9467-6EC423A72BC6}"/>
              </a:ext>
            </a:extLst>
          </p:cNvPr>
          <p:cNvSpPr>
            <a:spLocks xmlns:a="http://schemas.openxmlformats.org/drawingml/2006/main" noGrp="1"/>
          </p:cNvSpPr>
          <p:nvPr/>
        </p:nvSpPr>
        <p:spPr>
          <a:xfrm xmlns:a="http://schemas.openxmlformats.org/drawingml/2006/main">
            <a:off x="1924050" y="379095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0C57C0BC-A6B8-4C6A-BB59-2A7CD8516036}"/>
              </a:ext>
            </a:extLst>
          </p:cNvPr>
          <p:cNvSpPr>
            <a:spLocks xmlns:a="http://schemas.openxmlformats.org/drawingml/2006/main" noGrp="1"/>
          </p:cNvSpPr>
          <p:nvPr/>
        </p:nvSpPr>
        <p:spPr>
          <a:xfrm xmlns:a="http://schemas.openxmlformats.org/drawingml/2006/main">
            <a:off x="2152650" y="3895725"/>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A98699E4-A32B-4A81-AA3C-A96E95E6BA64}"/>
              </a:ext>
            </a:extLst>
          </p:cNvPr>
          <p:cNvSpPr>
            <a:spLocks xmlns:a="http://schemas.openxmlformats.org/drawingml/2006/main" noGrp="1"/>
          </p:cNvSpPr>
          <p:nvPr/>
        </p:nvSpPr>
        <p:spPr>
          <a:xfrm xmlns:a="http://schemas.openxmlformats.org/drawingml/2006/main">
            <a:off x="2381250" y="400050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20A4DD9B-A866-41C1-8C26-3290C9878E11}"/>
              </a:ext>
            </a:extLst>
          </p:cNvPr>
          <p:cNvSpPr>
            <a:spLocks xmlns:a="http://schemas.openxmlformats.org/drawingml/2006/main" noGrp="1"/>
          </p:cNvSpPr>
          <p:nvPr/>
        </p:nvSpPr>
        <p:spPr>
          <a:xfrm xmlns:a="http://schemas.openxmlformats.org/drawingml/2006/main">
            <a:off x="2609850" y="409575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F9E20590-AF91-4D12-99B8-0CF312993FD1}"/>
              </a:ext>
            </a:extLst>
          </p:cNvPr>
          <p:cNvSpPr>
            <a:spLocks xmlns:a="http://schemas.openxmlformats.org/drawingml/2006/main" noGrp="1"/>
          </p:cNvSpPr>
          <p:nvPr/>
        </p:nvSpPr>
        <p:spPr>
          <a:xfrm xmlns:a="http://schemas.openxmlformats.org/drawingml/2006/main">
            <a:off x="2838450" y="419100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38098F6D-BB38-436F-A9C8-07FC73B0572E}"/>
              </a:ext>
            </a:extLst>
          </p:cNvPr>
          <p:cNvSpPr>
            <a:spLocks xmlns:a="http://schemas.openxmlformats.org/drawingml/2006/main" noGrp="1"/>
          </p:cNvSpPr>
          <p:nvPr/>
        </p:nvSpPr>
        <p:spPr>
          <a:xfrm xmlns:a="http://schemas.openxmlformats.org/drawingml/2006/main">
            <a:off x="3067050" y="428625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141B0E95-F705-4E84-9D1C-7B5A06989DC8}"/>
              </a:ext>
            </a:extLst>
          </p:cNvPr>
          <p:cNvSpPr>
            <a:spLocks xmlns:a="http://schemas.openxmlformats.org/drawingml/2006/main" noGrp="1"/>
          </p:cNvSpPr>
          <p:nvPr/>
        </p:nvSpPr>
        <p:spPr>
          <a:xfrm xmlns:a="http://schemas.openxmlformats.org/drawingml/2006/main">
            <a:off x="3295650" y="4352925"/>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B5F9DF33-3683-4CDA-9CEB-C2263ACFB269}"/>
              </a:ext>
            </a:extLst>
          </p:cNvPr>
          <p:cNvSpPr>
            <a:spLocks xmlns:a="http://schemas.openxmlformats.org/drawingml/2006/main" noGrp="1"/>
          </p:cNvSpPr>
          <p:nvPr/>
        </p:nvSpPr>
        <p:spPr>
          <a:xfrm xmlns:a="http://schemas.openxmlformats.org/drawingml/2006/main">
            <a:off x="3524250" y="4429125"/>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0DA77A5D-EBA3-453A-A4F7-8FE2120D127C}"/>
              </a:ext>
            </a:extLst>
          </p:cNvPr>
          <p:cNvSpPr>
            <a:spLocks xmlns:a="http://schemas.openxmlformats.org/drawingml/2006/main" noGrp="1"/>
          </p:cNvSpPr>
          <p:nvPr/>
        </p:nvSpPr>
        <p:spPr>
          <a:xfrm xmlns:a="http://schemas.openxmlformats.org/drawingml/2006/main">
            <a:off x="3752850" y="4505325"/>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9CC38557-51E0-4EC0-B438-23B2863887C9}"/>
              </a:ext>
            </a:extLst>
          </p:cNvPr>
          <p:cNvSpPr>
            <a:spLocks xmlns:a="http://schemas.openxmlformats.org/drawingml/2006/main" noGrp="1"/>
          </p:cNvSpPr>
          <p:nvPr/>
        </p:nvSpPr>
        <p:spPr>
          <a:xfrm xmlns:a="http://schemas.openxmlformats.org/drawingml/2006/main">
            <a:off x="3981450" y="457200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44D9047A-A7E3-4150-8D11-AEF3D5A1048A}"/>
              </a:ext>
            </a:extLst>
          </p:cNvPr>
          <p:cNvSpPr>
            <a:spLocks xmlns:a="http://schemas.openxmlformats.org/drawingml/2006/main" noGrp="1"/>
          </p:cNvSpPr>
          <p:nvPr/>
        </p:nvSpPr>
        <p:spPr>
          <a:xfrm xmlns:a="http://schemas.openxmlformats.org/drawingml/2006/main">
            <a:off x="4210050" y="4638675"/>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87C38BE3-809B-48DE-AABB-756018A212ED}"/>
              </a:ext>
            </a:extLst>
          </p:cNvPr>
          <p:cNvSpPr>
            <a:spLocks xmlns:a="http://schemas.openxmlformats.org/drawingml/2006/main" noGrp="1"/>
          </p:cNvSpPr>
          <p:nvPr/>
        </p:nvSpPr>
        <p:spPr>
          <a:xfrm xmlns:a="http://schemas.openxmlformats.org/drawingml/2006/main">
            <a:off x="4438650" y="470535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AFD38BD1-5300-448B-8D1F-CBAEE2D0209A}"/>
              </a:ext>
            </a:extLst>
          </p:cNvPr>
          <p:cNvSpPr>
            <a:spLocks xmlns:a="http://schemas.openxmlformats.org/drawingml/2006/main" noGrp="1"/>
          </p:cNvSpPr>
          <p:nvPr/>
        </p:nvSpPr>
        <p:spPr>
          <a:xfrm xmlns:a="http://schemas.openxmlformats.org/drawingml/2006/main">
            <a:off x="4667250" y="4762500"/>
            <a:ext cx="66675" cy="66675"/>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559F4DFE-7D01-415E-A6EC-39CCB3357399}"/>
              </a:ext>
            </a:extLst>
          </p:cNvPr>
          <p:cNvSpPr>
            <a:spLocks xmlns:a="http://schemas.openxmlformats.org/drawingml/2006/main" noGrp="1"/>
          </p:cNvSpPr>
          <p:nvPr/>
        </p:nvSpPr>
        <p:spPr>
          <a:xfrm xmlns:a="http://schemas.openxmlformats.org/drawingml/2006/main">
            <a:off x="3790950" y="3352800"/>
            <a:ext cx="19050" cy="1752600"/>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17BE0AFC-F961-4520-9CD2-F79233E363CD}"/>
              </a:ext>
            </a:extLst>
          </p:cNvPr>
          <p:cNvSpPr>
            <a:spLocks xmlns:a="http://schemas.openxmlformats.org/drawingml/2006/main" noGrp="1"/>
          </p:cNvSpPr>
          <p:nvPr/>
        </p:nvSpPr>
        <p:spPr>
          <a:xfrm xmlns:a="http://schemas.openxmlformats.org/drawingml/2006/main">
            <a:off x="3352800" y="3333750"/>
            <a:ext cx="9144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C9821B"/>
                </a:solidFill>
                <a:latin typeface="Hiragino Sans"/>
                <a:ea typeface="Hiragino Sans"/>
                <a:cs typeface="Hiragino Sans"/>
              </a:defRPr>
            </a:pPr>
            <a:r>
              <a:rPr sz="825" b="1">
                <a:solidFill>
                  <a:srgbClr val="C9821B"/>
                </a:solidFill>
                <a:latin typeface="Hiragino Sans"/>
                <a:ea typeface="Hiragino Sans"/>
                <a:cs typeface="Hiragino Sans"/>
              </a:rPr>
              <a:t>保持境界 nΔ</a:t>
            </a:r>
          </a:p>
        </p:txBody>
      </p:sp>
      <p:sp>
        <p:nvSpPr>
          <p:cNvPr id="45" name="">
            <a:extLst xmlns:a="http://schemas.openxmlformats.org/drawingml/2006/main">
              <a:ext uri="{FF2B5EF4-FFF2-40B4-BE49-F238E27FC236}">
                <a16:creationId xmlns:a16="http://schemas.microsoft.com/office/drawing/2014/main" id="{CB406640-88B2-4F62-B0BE-B827052888A4}"/>
              </a:ext>
            </a:extLst>
          </p:cNvPr>
          <p:cNvSpPr>
            <a:spLocks xmlns:a="http://schemas.openxmlformats.org/drawingml/2006/main" noGrp="1"/>
          </p:cNvSpPr>
          <p:nvPr/>
        </p:nvSpPr>
        <p:spPr>
          <a:xfrm xmlns:a="http://schemas.openxmlformats.org/drawingml/2006/main">
            <a:off x="4724400" y="40005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0E8A8A"/>
                </a:solidFill>
                <a:latin typeface="Hiragino Sans"/>
                <a:ea typeface="Hiragino Sans"/>
                <a:cs typeface="Hiragino Sans"/>
              </a:defRPr>
            </a:pPr>
            <a:r>
              <a:rPr sz="900" b="1">
                <a:solidFill>
                  <a:srgbClr val="0E8A8A"/>
                </a:solidFill>
                <a:latin typeface="Hiragino Sans"/>
                <a:ea typeface="Hiragino Sans"/>
                <a:cs typeface="Hiragino Sans"/>
              </a:rPr>
              <a:t>指数尾</a:t>
            </a:r>
          </a:p>
        </p:txBody>
      </p:sp>
      <p:sp>
        <p:nvSpPr>
          <p:cNvPr id="46" name="">
            <a:extLst xmlns:a="http://schemas.openxmlformats.org/drawingml/2006/main">
              <a:ext uri="{FF2B5EF4-FFF2-40B4-BE49-F238E27FC236}">
                <a16:creationId xmlns:a16="http://schemas.microsoft.com/office/drawing/2014/main" id="{B7A356DA-D940-48A0-89A3-87CBBE6FDEA0}"/>
              </a:ext>
            </a:extLst>
          </p:cNvPr>
          <p:cNvSpPr>
            <a:spLocks xmlns:a="http://schemas.openxmlformats.org/drawingml/2006/main" noGrp="1"/>
          </p:cNvSpPr>
          <p:nvPr/>
        </p:nvSpPr>
        <p:spPr>
          <a:xfrm xmlns:a="http://schemas.openxmlformats.org/drawingml/2006/main">
            <a:off x="4724400" y="4610100"/>
            <a:ext cx="8763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B94A48"/>
                </a:solidFill>
                <a:latin typeface="Hiragino Sans"/>
                <a:ea typeface="Hiragino Sans"/>
                <a:cs typeface="Hiragino Sans"/>
              </a:defRPr>
            </a:pPr>
            <a:r>
              <a:rPr sz="900" b="1">
                <a:solidFill>
                  <a:srgbClr val="B94A48"/>
                </a:solidFill>
                <a:latin typeface="Hiragino Sans"/>
                <a:ea typeface="Hiragino Sans"/>
                <a:cs typeface="Hiragino Sans"/>
              </a:rPr>
              <a:t>Pareto 尾</a:t>
            </a:r>
          </a:p>
        </p:txBody>
      </p:sp>
      <p:sp>
        <p:nvSpPr>
          <p:cNvPr id="47" name="">
            <a:extLst xmlns:a="http://schemas.openxmlformats.org/drawingml/2006/main">
              <a:ext uri="{FF2B5EF4-FFF2-40B4-BE49-F238E27FC236}">
                <a16:creationId xmlns:a16="http://schemas.microsoft.com/office/drawing/2014/main" id="{4EEB4FB7-5372-43BD-943B-8F555EE2318E}"/>
              </a:ext>
            </a:extLst>
          </p:cNvPr>
          <p:cNvSpPr>
            <a:spLocks xmlns:a="http://schemas.openxmlformats.org/drawingml/2006/main" noGrp="1"/>
          </p:cNvSpPr>
          <p:nvPr/>
        </p:nvSpPr>
        <p:spPr>
          <a:xfrm xmlns:a="http://schemas.openxmlformats.org/drawingml/2006/main">
            <a:off x="6610350" y="3009900"/>
            <a:ext cx="4152900" cy="1123950"/>
          </a:xfrm>
          <a:prstGeom xmlns:a="http://schemas.openxmlformats.org/drawingml/2006/main" prst="rect">
            <a:avLst/>
          </a:prstGeom>
          <a:solidFill xmlns:a="http://schemas.openxmlformats.org/drawingml/2006/main">
            <a:srgbClr val="D9EFEC"/>
          </a:solidFill>
          <a:ln xmlns:a="http://schemas.openxmlformats.org/drawingml/2006/main" w="11430">
            <a:solidFill>
              <a:srgbClr val="0E8A8A"/>
            </a:solidFill>
            <a:prstDash val="solid"/>
          </a:ln>
        </p:spPr>
      </p:sp>
      <p:sp>
        <p:nvSpPr>
          <p:cNvPr id="48" name="">
            <a:extLst xmlns:a="http://schemas.openxmlformats.org/drawingml/2006/main">
              <a:ext uri="{FF2B5EF4-FFF2-40B4-BE49-F238E27FC236}">
                <a16:creationId xmlns:a16="http://schemas.microsoft.com/office/drawing/2014/main" id="{98E8BD2D-BB23-4BF8-B772-D3751272EA48}"/>
              </a:ext>
            </a:extLst>
          </p:cNvPr>
          <p:cNvSpPr>
            <a:spLocks xmlns:a="http://schemas.openxmlformats.org/drawingml/2006/main" noGrp="1"/>
          </p:cNvSpPr>
          <p:nvPr/>
        </p:nvSpPr>
        <p:spPr>
          <a:xfrm xmlns:a="http://schemas.openxmlformats.org/drawingml/2006/main">
            <a:off x="6896100" y="3257550"/>
            <a:ext cx="8191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E8A8A"/>
                </a:solidFill>
                <a:latin typeface="Hiragino Sans"/>
                <a:ea typeface="Hiragino Sans"/>
                <a:cs typeface="Hiragino Sans"/>
              </a:defRPr>
            </a:pPr>
            <a:r>
              <a:rPr sz="975" b="1">
                <a:solidFill>
                  <a:srgbClr val="0E8A8A"/>
                </a:solidFill>
                <a:latin typeface="Hiragino Sans"/>
                <a:ea typeface="Hiragino Sans"/>
                <a:cs typeface="Hiragino Sans"/>
              </a:rPr>
              <a:t>有限性</a:t>
            </a:r>
          </a:p>
        </p:txBody>
      </p:sp>
      <p:sp>
        <p:nvSpPr>
          <p:cNvPr id="49" name="">
            <a:extLst xmlns:a="http://schemas.openxmlformats.org/drawingml/2006/main">
              <a:ext uri="{FF2B5EF4-FFF2-40B4-BE49-F238E27FC236}">
                <a16:creationId xmlns:a16="http://schemas.microsoft.com/office/drawing/2014/main" id="{3DAB117D-2445-4CE3-B6BB-364A626D88A8}"/>
              </a:ext>
            </a:extLst>
          </p:cNvPr>
          <p:cNvSpPr>
            <a:spLocks xmlns:a="http://schemas.openxmlformats.org/drawingml/2006/main" noGrp="1"/>
          </p:cNvSpPr>
          <p:nvPr/>
        </p:nvSpPr>
        <p:spPr>
          <a:xfrm xmlns:a="http://schemas.openxmlformats.org/drawingml/2006/main">
            <a:off x="6896100" y="3524250"/>
            <a:ext cx="32766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02A"/>
                </a:solidFill>
                <a:latin typeface="Hiragino Sans"/>
                <a:ea typeface="Hiragino Sans"/>
                <a:cs typeface="Hiragino Sans"/>
              </a:defRPr>
            </a:pPr>
            <a:r>
              <a:rPr sz="1500" b="1">
                <a:solidFill>
                  <a:srgbClr val="17202A"/>
                </a:solidFill>
                <a:latin typeface="Hiragino Sans"/>
                <a:ea typeface="Hiragino Sans"/>
                <a:cs typeface="Hiragino Sans"/>
              </a:rPr>
              <a:t>E[min(T_det, T_d)] &lt; ∞</a:t>
            </a:r>
          </a:p>
          <a:p xmlns:a="http://schemas.openxmlformats.org/drawingml/2006/main">
            <a:pPr algn="l">
              <a:defRPr sz="1500" b="1">
                <a:solidFill>
                  <a:srgbClr val="17202A"/>
                </a:solidFill>
                <a:latin typeface="Hiragino Sans"/>
                <a:ea typeface="Hiragino Sans"/>
                <a:cs typeface="Hiragino Sans"/>
              </a:defRPr>
            </a:pPr>
            <a:r>
              <a:rPr sz="1500" b="1">
                <a:solidFill>
                  <a:srgbClr val="17202A"/>
                </a:solidFill>
                <a:latin typeface="Hiragino Sans"/>
                <a:ea typeface="Hiragino Sans"/>
                <a:cs typeface="Hiragino Sans"/>
              </a:rPr>
              <a:t>for all α&gt;0 when β&gt;0</a:t>
            </a:r>
          </a:p>
        </p:txBody>
      </p:sp>
      <p:sp>
        <p:nvSpPr>
          <p:cNvPr id="50" name="">
            <a:extLst xmlns:a="http://schemas.openxmlformats.org/drawingml/2006/main">
              <a:ext uri="{FF2B5EF4-FFF2-40B4-BE49-F238E27FC236}">
                <a16:creationId xmlns:a16="http://schemas.microsoft.com/office/drawing/2014/main" id="{39CD493D-339E-422E-8865-55A6F95C54C9}"/>
              </a:ext>
            </a:extLst>
          </p:cNvPr>
          <p:cNvSpPr>
            <a:spLocks xmlns:a="http://schemas.openxmlformats.org/drawingml/2006/main" noGrp="1"/>
          </p:cNvSpPr>
          <p:nvPr/>
        </p:nvSpPr>
        <p:spPr>
          <a:xfrm xmlns:a="http://schemas.openxmlformats.org/drawingml/2006/main">
            <a:off x="6610350" y="4267200"/>
            <a:ext cx="4152900" cy="1104900"/>
          </a:xfrm>
          <a:prstGeom xmlns:a="http://schemas.openxmlformats.org/drawingml/2006/main" prst="rect">
            <a:avLst/>
          </a:prstGeom>
          <a:solidFill xmlns:a="http://schemas.openxmlformats.org/drawingml/2006/main">
            <a:srgbClr val="F1D7D3"/>
          </a:solidFill>
          <a:ln xmlns:a="http://schemas.openxmlformats.org/drawingml/2006/main" w="11430">
            <a:solidFill>
              <a:srgbClr val="B94A48"/>
            </a:solidFill>
            <a:prstDash val="solid"/>
          </a:ln>
        </p:spPr>
      </p:sp>
      <p:sp>
        <p:nvSpPr>
          <p:cNvPr id="51" name="">
            <a:extLst xmlns:a="http://schemas.openxmlformats.org/drawingml/2006/main">
              <a:ext uri="{FF2B5EF4-FFF2-40B4-BE49-F238E27FC236}">
                <a16:creationId xmlns:a16="http://schemas.microsoft.com/office/drawing/2014/main" id="{77CC3373-6BE0-42A6-B104-E5F7667715D2}"/>
              </a:ext>
            </a:extLst>
          </p:cNvPr>
          <p:cNvSpPr>
            <a:spLocks xmlns:a="http://schemas.openxmlformats.org/drawingml/2006/main" noGrp="1"/>
          </p:cNvSpPr>
          <p:nvPr/>
        </p:nvSpPr>
        <p:spPr>
          <a:xfrm xmlns:a="http://schemas.openxmlformats.org/drawingml/2006/main">
            <a:off x="6896100" y="4514850"/>
            <a:ext cx="8191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B94A48"/>
                </a:solidFill>
                <a:latin typeface="Hiragino Sans"/>
                <a:ea typeface="Hiragino Sans"/>
                <a:cs typeface="Hiragino Sans"/>
              </a:defRPr>
            </a:pPr>
            <a:r>
              <a:rPr sz="975" b="1">
                <a:solidFill>
                  <a:srgbClr val="B94A48"/>
                </a:solidFill>
                <a:latin typeface="Hiragino Sans"/>
                <a:ea typeface="Hiragino Sans"/>
                <a:cs typeface="Hiragino Sans"/>
              </a:rPr>
              <a:t>相転移</a:t>
            </a:r>
          </a:p>
        </p:txBody>
      </p:sp>
      <p:sp>
        <p:nvSpPr>
          <p:cNvPr id="52" name="">
            <a:extLst xmlns:a="http://schemas.openxmlformats.org/drawingml/2006/main">
              <a:ext uri="{FF2B5EF4-FFF2-40B4-BE49-F238E27FC236}">
                <a16:creationId xmlns:a16="http://schemas.microsoft.com/office/drawing/2014/main" id="{1A206B83-64C9-4822-B7EF-E2CB9094A156}"/>
              </a:ext>
            </a:extLst>
          </p:cNvPr>
          <p:cNvSpPr>
            <a:spLocks xmlns:a="http://schemas.openxmlformats.org/drawingml/2006/main" noGrp="1"/>
          </p:cNvSpPr>
          <p:nvPr/>
        </p:nvSpPr>
        <p:spPr>
          <a:xfrm xmlns:a="http://schemas.openxmlformats.org/drawingml/2006/main">
            <a:off x="6896100" y="4781550"/>
            <a:ext cx="32956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02A"/>
                </a:solidFill>
                <a:latin typeface="Hiragino Sans"/>
                <a:ea typeface="Hiragino Sans"/>
                <a:cs typeface="Hiragino Sans"/>
              </a:defRPr>
            </a:pPr>
            <a:r>
              <a:rPr sz="1500" b="1">
                <a:solidFill>
                  <a:srgbClr val="17202A"/>
                </a:solidFill>
                <a:latin typeface="Hiragino Sans"/>
                <a:ea typeface="Hiragino Sans"/>
                <a:cs typeface="Hiragino Sans"/>
              </a:rPr>
              <a:t>κ_s&gt;0 かつ α≤1 では、</a:t>
            </a:r>
          </a:p>
          <a:p xmlns:a="http://schemas.openxmlformats.org/drawingml/2006/main">
            <a:pPr algn="l">
              <a:defRPr sz="1500" b="1">
                <a:solidFill>
                  <a:srgbClr val="17202A"/>
                </a:solidFill>
                <a:latin typeface="Hiragino Sans"/>
                <a:ea typeface="Hiragino Sans"/>
                <a:cs typeface="Hiragino Sans"/>
              </a:defRPr>
            </a:pPr>
            <a:r>
              <a:rPr sz="1500" b="1">
                <a:solidFill>
                  <a:srgbClr val="17202A"/>
                </a:solidFill>
                <a:latin typeface="Hiragino Sans"/>
                <a:ea typeface="Hiragino Sans"/>
                <a:cs typeface="Hiragino Sans"/>
              </a:rPr>
              <a:t>保持境界なし残余損失が発散</a:t>
            </a:r>
          </a:p>
        </p:txBody>
      </p:sp>
      <p:sp>
        <p:nvSpPr>
          <p:cNvPr id="53" name="">
            <a:extLst xmlns:a="http://schemas.openxmlformats.org/drawingml/2006/main">
              <a:ext uri="{FF2B5EF4-FFF2-40B4-BE49-F238E27FC236}">
                <a16:creationId xmlns:a16="http://schemas.microsoft.com/office/drawing/2014/main" id="{330C50EE-AAFF-4724-BB65-42BF1677FC0B}"/>
              </a:ext>
            </a:extLst>
          </p:cNvPr>
          <p:cNvSpPr>
            <a:spLocks xmlns:a="http://schemas.openxmlformats.org/drawingml/2006/main" noGrp="1"/>
          </p:cNvSpPr>
          <p:nvPr/>
        </p:nvSpPr>
        <p:spPr>
          <a:xfrm xmlns:a="http://schemas.openxmlformats.org/drawingml/2006/main">
            <a:off x="552450" y="6400800"/>
            <a:ext cx="11087100" cy="1143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54" name="">
            <a:extLst xmlns:a="http://schemas.openxmlformats.org/drawingml/2006/main">
              <a:ext uri="{FF2B5EF4-FFF2-40B4-BE49-F238E27FC236}">
                <a16:creationId xmlns:a16="http://schemas.microsoft.com/office/drawing/2014/main" id="{73EBEF1F-A08E-45F4-AADF-6A28161A2EA0}"/>
              </a:ext>
            </a:extLst>
          </p:cNvPr>
          <p:cNvSpPr>
            <a:spLocks xmlns:a="http://schemas.openxmlformats.org/drawingml/2006/main" noGrp="1"/>
          </p:cNvSpPr>
          <p:nvPr/>
        </p:nvSpPr>
        <p:spPr>
          <a:xfrm xmlns:a="http://schemas.openxmlformats.org/drawingml/2006/main">
            <a:off x="552450" y="6515100"/>
            <a:ext cx="914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00" b="0">
                <a:solidFill>
                  <a:srgbClr val="5F6B75"/>
                </a:solidFill>
                <a:latin typeface="Hiragino Sans"/>
                <a:ea typeface="Hiragino Sans"/>
                <a:cs typeface="Hiragino Sans"/>
              </a:defRPr>
            </a:pPr>
            <a:r>
              <a:rPr sz="600" b="0">
                <a:solidFill>
                  <a:srgbClr val="5F6B75"/>
                </a:solidFill>
                <a:latin typeface="Hiragino Sans"/>
                <a:ea typeface="Hiragino Sans"/>
                <a:cs typeface="Hiragino Sans"/>
              </a:rPr>
              <a:t>Source: paper/sections/tex/03_renewal_reward.tex; 04_tauber_transition.tex</a:t>
            </a:r>
          </a:p>
        </p:txBody>
      </p:sp>
      <p:sp>
        <p:nvSpPr>
          <p:cNvPr id="55" name="">
            <a:extLst xmlns:a="http://schemas.openxmlformats.org/drawingml/2006/main">
              <a:ext uri="{FF2B5EF4-FFF2-40B4-BE49-F238E27FC236}">
                <a16:creationId xmlns:a16="http://schemas.microsoft.com/office/drawing/2014/main" id="{E436BA10-4C9F-4FEF-9764-14B5416A1F89}"/>
              </a:ext>
            </a:extLst>
          </p:cNvPr>
          <p:cNvSpPr>
            <a:spLocks xmlns:a="http://schemas.openxmlformats.org/drawingml/2006/main" noGrp="1"/>
          </p:cNvSpPr>
          <p:nvPr/>
        </p:nvSpPr>
        <p:spPr>
          <a:xfrm xmlns:a="http://schemas.openxmlformats.org/drawingml/2006/main">
            <a:off x="11239500" y="6486525"/>
            <a:ext cx="400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5F6B75"/>
                </a:solidFill>
                <a:latin typeface="Hiragino Sans"/>
                <a:ea typeface="Hiragino Sans"/>
                <a:cs typeface="Hiragino Sans"/>
              </a:defRPr>
            </a:pPr>
            <a:r>
              <a:rPr sz="900" b="1">
                <a:solidFill>
                  <a:srgbClr val="5F6B75"/>
                </a:solidFill>
                <a:latin typeface="Hiragino Sans"/>
                <a:ea typeface="Hiragino Sans"/>
                <a:cs typeface="Hiragino Sans"/>
              </a:rPr>
              <a:t>03</a:t>
            </a:r>
          </a:p>
        </p:txBody>
      </p:sp>
    </p:spTree>
    <p:extLst>
      <p:ext uri="{BB962C8B-B14F-4D97-AF65-F5344CB8AC3E}">
        <p14:creationId xmlns:p14="http://schemas.microsoft.com/office/powerpoint/2010/main" val="174135609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A1424B7-A376-45EA-A579-2443B9502C5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8F4"/>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8BCBAEF-B9B4-4051-AA0F-942A72BE19CB}"/>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34316021-CCE5-4F0F-AB8F-7D5B660DC30B}"/>
              </a:ext>
            </a:extLst>
          </p:cNvPr>
          <p:cNvSpPr>
            <a:spLocks xmlns:a="http://schemas.openxmlformats.org/drawingml/2006/main" noGrp="1"/>
          </p:cNvSpPr>
          <p:nvPr/>
        </p:nvSpPr>
        <p:spPr>
          <a:xfrm xmlns:a="http://schemas.openxmlformats.org/drawingml/2006/main">
            <a:off x="0" y="66675"/>
            <a:ext cx="12192000" cy="28575"/>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8B6932E-DA9C-4425-8F57-64605DD24931}"/>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0572708-DB39-4536-B420-7639FC46E2B4}"/>
              </a:ext>
            </a:extLst>
          </p:cNvPr>
          <p:cNvSpPr>
            <a:spLocks xmlns:a="http://schemas.openxmlformats.org/drawingml/2006/main" noGrp="1"/>
          </p:cNvSpPr>
          <p:nvPr/>
        </p:nvSpPr>
        <p:spPr>
          <a:xfrm xmlns:a="http://schemas.openxmlformats.org/drawingml/2006/main">
            <a:off x="742950" y="342900"/>
            <a:ext cx="685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5F6B75"/>
                </a:solidFill>
                <a:latin typeface="Hiragino Sans"/>
                <a:ea typeface="Hiragino Sans"/>
                <a:cs typeface="Hiragino Sans"/>
              </a:defRPr>
            </a:pPr>
            <a:r>
              <a:rPr sz="825" b="1">
                <a:solidFill>
                  <a:srgbClr val="5F6B75"/>
                </a:solidFill>
                <a:latin typeface="Hiragino Sans"/>
                <a:ea typeface="Hiragino Sans"/>
                <a:cs typeface="Hiragino Sans"/>
              </a:rPr>
              <a:t>設計式 | 間隔ではなく復旧可能期間を決める</a:t>
            </a:r>
          </a:p>
        </p:txBody>
      </p:sp>
      <p:sp>
        <p:nvSpPr>
          <p:cNvPr id="6" name="">
            <a:extLst xmlns:a="http://schemas.openxmlformats.org/drawingml/2006/main">
              <a:ext uri="{FF2B5EF4-FFF2-40B4-BE49-F238E27FC236}">
                <a16:creationId xmlns:a16="http://schemas.microsoft.com/office/drawing/2014/main" id="{63C2A623-C2E5-4A8F-8447-6F42EC30BD9D}"/>
              </a:ext>
            </a:extLst>
          </p:cNvPr>
          <p:cNvSpPr>
            <a:spLocks xmlns:a="http://schemas.openxmlformats.org/drawingml/2006/main" noGrp="1"/>
          </p:cNvSpPr>
          <p:nvPr/>
        </p:nvSpPr>
        <p:spPr>
          <a:xfrm xmlns:a="http://schemas.openxmlformats.org/drawingml/2006/main">
            <a:off x="552450" y="762000"/>
            <a:ext cx="885825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7202A"/>
                </a:solidFill>
                <a:latin typeface="Hiragino Sans"/>
                <a:ea typeface="Hiragino Sans"/>
                <a:cs typeface="Hiragino Sans"/>
              </a:defRPr>
            </a:pPr>
            <a:r>
              <a:rPr sz="2775" b="1">
                <a:solidFill>
                  <a:srgbClr val="17202A"/>
                </a:solidFill>
                <a:latin typeface="Hiragino Sans"/>
                <a:ea typeface="Hiragino Sans"/>
                <a:cs typeface="Hiragino Sans"/>
              </a:rPr>
              <a:t>閉形式解は「清浄に戻れる期間」として読む</a:t>
            </a:r>
          </a:p>
        </p:txBody>
      </p:sp>
      <p:sp>
        <p:nvSpPr>
          <p:cNvPr id="7" name="">
            <a:extLst xmlns:a="http://schemas.openxmlformats.org/drawingml/2006/main">
              <a:ext uri="{FF2B5EF4-FFF2-40B4-BE49-F238E27FC236}">
                <a16:creationId xmlns:a16="http://schemas.microsoft.com/office/drawing/2014/main" id="{6DA2CF39-95A2-4BDA-B7B7-139475F5107B}"/>
              </a:ext>
            </a:extLst>
          </p:cNvPr>
          <p:cNvSpPr>
            <a:spLocks xmlns:a="http://schemas.openxmlformats.org/drawingml/2006/main" noGrp="1"/>
          </p:cNvSpPr>
          <p:nvPr/>
        </p:nvSpPr>
        <p:spPr>
          <a:xfrm xmlns:a="http://schemas.openxmlformats.org/drawingml/2006/main">
            <a:off x="552450" y="1695450"/>
            <a:ext cx="9620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26323F"/>
                </a:solidFill>
                <a:latin typeface="Hiragino Sans"/>
                <a:ea typeface="Hiragino Sans"/>
                <a:cs typeface="Hiragino Sans"/>
              </a:defRPr>
            </a:pPr>
            <a:r>
              <a:rPr sz="1950" b="1">
                <a:solidFill>
                  <a:srgbClr val="26323F"/>
                </a:solidFill>
                <a:latin typeface="Hiragino Sans"/>
                <a:ea typeface="Hiragino Sans"/>
                <a:cs typeface="Hiragino Sans"/>
              </a:rPr>
              <a:t>内点条件では、全損回避の便益と追加スキャン停止費用の</a:t>
            </a:r>
          </a:p>
          <a:p xmlns:a="http://schemas.openxmlformats.org/drawingml/2006/main">
            <a:pPr algn="l">
              <a:defRPr sz="1950" b="1">
                <a:solidFill>
                  <a:srgbClr val="26323F"/>
                </a:solidFill>
                <a:latin typeface="Hiragino Sans"/>
                <a:ea typeface="Hiragino Sans"/>
                <a:cs typeface="Hiragino Sans"/>
              </a:defRPr>
            </a:pPr>
            <a:r>
              <a:rPr sz="1950" b="1">
                <a:solidFill>
                  <a:srgbClr val="26323F"/>
                </a:solidFill>
                <a:latin typeface="Hiragino Sans"/>
                <a:ea typeface="Hiragino Sans"/>
                <a:cs typeface="Hiragino Sans"/>
              </a:rPr>
              <a:t>釣合いからバックアップ間隔が決まる。</a:t>
            </a:r>
          </a:p>
        </p:txBody>
      </p:sp>
      <p:sp>
        <p:nvSpPr>
          <p:cNvPr id="8" name="">
            <a:extLst xmlns:a="http://schemas.openxmlformats.org/drawingml/2006/main">
              <a:ext uri="{FF2B5EF4-FFF2-40B4-BE49-F238E27FC236}">
                <a16:creationId xmlns:a16="http://schemas.microsoft.com/office/drawing/2014/main" id="{39EF44F6-125E-47B1-BCED-0FCE4352C6A5}"/>
              </a:ext>
            </a:extLst>
          </p:cNvPr>
          <p:cNvSpPr>
            <a:spLocks xmlns:a="http://schemas.openxmlformats.org/drawingml/2006/main" noGrp="1"/>
          </p:cNvSpPr>
          <p:nvPr/>
        </p:nvSpPr>
        <p:spPr>
          <a:xfrm xmlns:a="http://schemas.openxmlformats.org/drawingml/2006/main">
            <a:off x="781050" y="2895600"/>
            <a:ext cx="10629900" cy="1123950"/>
          </a:xfrm>
          <a:prstGeom xmlns:a="http://schemas.openxmlformats.org/drawingml/2006/main" prst="rect">
            <a:avLst/>
          </a:prstGeom>
          <a:solidFill xmlns:a="http://schemas.openxmlformats.org/drawingml/2006/main">
            <a:srgbClr val="26323F"/>
          </a:solidFill>
          <a:ln xmlns:a="http://schemas.openxmlformats.org/drawingml/2006/main" w="0">
            <a:solidFill>
              <a:srgbClr val="26323F"/>
            </a:solidFill>
            <a:prstDash val="solid"/>
          </a:ln>
        </p:spPr>
      </p:sp>
      <p:sp>
        <p:nvSpPr>
          <p:cNvPr id="9" name="">
            <a:extLst xmlns:a="http://schemas.openxmlformats.org/drawingml/2006/main">
              <a:ext uri="{FF2B5EF4-FFF2-40B4-BE49-F238E27FC236}">
                <a16:creationId xmlns:a16="http://schemas.microsoft.com/office/drawing/2014/main" id="{9513B038-6DBB-4C9D-AA50-4025EC3BE3D5}"/>
              </a:ext>
            </a:extLst>
          </p:cNvPr>
          <p:cNvSpPr>
            <a:spLocks xmlns:a="http://schemas.openxmlformats.org/drawingml/2006/main" noGrp="1"/>
          </p:cNvSpPr>
          <p:nvPr/>
        </p:nvSpPr>
        <p:spPr>
          <a:xfrm xmlns:a="http://schemas.openxmlformats.org/drawingml/2006/main">
            <a:off x="1162050" y="3105150"/>
            <a:ext cx="98679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475" b="1">
                <a:solidFill>
                  <a:srgbClr val="FFFFFF"/>
                </a:solidFill>
                <a:latin typeface="Menlo"/>
                <a:ea typeface="Menlo"/>
                <a:cs typeface="Menlo"/>
              </a:defRPr>
            </a:pPr>
            <a:r>
              <a:rPr sz="2475" b="1">
                <a:solidFill>
                  <a:srgbClr val="FFFFFF"/>
                </a:solidFill>
                <a:latin typeface="Menlo"/>
                <a:ea typeface="Menlo"/>
                <a:cs typeface="Menlo"/>
              </a:rPr>
              <a:t>Δ* = [L − (d₁τ_R + d₀)] / (d₁κ_s n)</a:t>
            </a:r>
          </a:p>
        </p:txBody>
      </p:sp>
      <p:sp>
        <p:nvSpPr>
          <p:cNvPr id="10" name="">
            <a:extLst xmlns:a="http://schemas.openxmlformats.org/drawingml/2006/main">
              <a:ext uri="{FF2B5EF4-FFF2-40B4-BE49-F238E27FC236}">
                <a16:creationId xmlns:a16="http://schemas.microsoft.com/office/drawing/2014/main" id="{F4E2C57C-C7E2-4C8A-B32E-93F604E9C5BD}"/>
              </a:ext>
            </a:extLst>
          </p:cNvPr>
          <p:cNvSpPr>
            <a:spLocks xmlns:a="http://schemas.openxmlformats.org/drawingml/2006/main" noGrp="1"/>
          </p:cNvSpPr>
          <p:nvPr/>
        </p:nvSpPr>
        <p:spPr>
          <a:xfrm xmlns:a="http://schemas.openxmlformats.org/drawingml/2006/main">
            <a:off x="1162050" y="3562350"/>
            <a:ext cx="9867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3E1BF"/>
                </a:solidFill>
                <a:latin typeface="Menlo"/>
                <a:ea typeface="Menlo"/>
                <a:cs typeface="Menlo"/>
              </a:defRPr>
            </a:pPr>
            <a:r>
              <a:rPr sz="1350" b="1">
                <a:solidFill>
                  <a:srgbClr val="F3E1BF"/>
                </a:solidFill>
                <a:latin typeface="Menlo"/>
                <a:ea typeface="Menlo"/>
                <a:cs typeface="Menlo"/>
              </a:rPr>
              <a:t>a* = nΔ* = [L − (d₁τ_R + d₀)] / (d₁κ_s)</a:t>
            </a:r>
          </a:p>
        </p:txBody>
      </p:sp>
      <p:sp>
        <p:nvSpPr>
          <p:cNvPr id="11" name="">
            <a:extLst xmlns:a="http://schemas.openxmlformats.org/drawingml/2006/main">
              <a:ext uri="{FF2B5EF4-FFF2-40B4-BE49-F238E27FC236}">
                <a16:creationId xmlns:a16="http://schemas.microsoft.com/office/drawing/2014/main" id="{3C858ECF-3852-4F43-AE8E-1D55CBA9F989}"/>
              </a:ext>
            </a:extLst>
          </p:cNvPr>
          <p:cNvSpPr>
            <a:spLocks xmlns:a="http://schemas.openxmlformats.org/drawingml/2006/main" noGrp="1"/>
          </p:cNvSpPr>
          <p:nvPr/>
        </p:nvSpPr>
        <p:spPr>
          <a:xfrm xmlns:a="http://schemas.openxmlformats.org/drawingml/2006/main">
            <a:off x="933450" y="4457700"/>
            <a:ext cx="2781300" cy="1066800"/>
          </a:xfrm>
          <a:prstGeom xmlns:a="http://schemas.openxmlformats.org/drawingml/2006/main" prst="rect">
            <a:avLst/>
          </a:prstGeom>
          <a:solidFill xmlns:a="http://schemas.openxmlformats.org/drawingml/2006/main">
            <a:srgbClr val="F1D7D3"/>
          </a:solidFill>
          <a:ln xmlns:a="http://schemas.openxmlformats.org/drawingml/2006/main" w="9525">
            <a:solidFill>
              <a:srgbClr val="B94A48"/>
            </a:solidFill>
            <a:prstDash val="solid"/>
          </a:ln>
        </p:spPr>
      </p:sp>
      <p:sp>
        <p:nvSpPr>
          <p:cNvPr id="12" name="">
            <a:extLst xmlns:a="http://schemas.openxmlformats.org/drawingml/2006/main">
              <a:ext uri="{FF2B5EF4-FFF2-40B4-BE49-F238E27FC236}">
                <a16:creationId xmlns:a16="http://schemas.microsoft.com/office/drawing/2014/main" id="{44E553EE-0039-4BB4-9695-DA78AE3FBF52}"/>
              </a:ext>
            </a:extLst>
          </p:cNvPr>
          <p:cNvSpPr>
            <a:spLocks xmlns:a="http://schemas.openxmlformats.org/drawingml/2006/main" noGrp="1"/>
          </p:cNvSpPr>
          <p:nvPr/>
        </p:nvSpPr>
        <p:spPr>
          <a:xfrm xmlns:a="http://schemas.openxmlformats.org/drawingml/2006/main">
            <a:off x="1085850" y="4610100"/>
            <a:ext cx="247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L が大きい</a:t>
            </a:r>
          </a:p>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全損回避の価値が増え、</a:t>
            </a:r>
          </a:p>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古い清浄点を残す方向</a:t>
            </a:r>
          </a:p>
        </p:txBody>
      </p:sp>
      <p:sp>
        <p:nvSpPr>
          <p:cNvPr id="13" name="">
            <a:extLst xmlns:a="http://schemas.openxmlformats.org/drawingml/2006/main">
              <a:ext uri="{FF2B5EF4-FFF2-40B4-BE49-F238E27FC236}">
                <a16:creationId xmlns:a16="http://schemas.microsoft.com/office/drawing/2014/main" id="{1C3A4010-7C0B-400B-855C-28DBCE0B601E}"/>
              </a:ext>
            </a:extLst>
          </p:cNvPr>
          <p:cNvSpPr>
            <a:spLocks xmlns:a="http://schemas.openxmlformats.org/drawingml/2006/main" noGrp="1"/>
          </p:cNvSpPr>
          <p:nvPr/>
        </p:nvSpPr>
        <p:spPr>
          <a:xfrm xmlns:a="http://schemas.openxmlformats.org/drawingml/2006/main">
            <a:off x="4705350" y="4457700"/>
            <a:ext cx="2781300" cy="1066800"/>
          </a:xfrm>
          <a:prstGeom xmlns:a="http://schemas.openxmlformats.org/drawingml/2006/main" prst="rect">
            <a:avLst/>
          </a:prstGeom>
          <a:solidFill xmlns:a="http://schemas.openxmlformats.org/drawingml/2006/main">
            <a:srgbClr val="F3E1BF"/>
          </a:solidFill>
          <a:ln xmlns:a="http://schemas.openxmlformats.org/drawingml/2006/main" w="9525">
            <a:solidFill>
              <a:srgbClr val="C9821B"/>
            </a:solidFill>
            <a:prstDash val="solid"/>
          </a:ln>
        </p:spPr>
      </p:sp>
      <p:sp>
        <p:nvSpPr>
          <p:cNvPr id="14" name="">
            <a:extLst xmlns:a="http://schemas.openxmlformats.org/drawingml/2006/main">
              <a:ext uri="{FF2B5EF4-FFF2-40B4-BE49-F238E27FC236}">
                <a16:creationId xmlns:a16="http://schemas.microsoft.com/office/drawing/2014/main" id="{ADDA78F7-4C41-478E-8E16-6AD8EA991ADD}"/>
              </a:ext>
            </a:extLst>
          </p:cNvPr>
          <p:cNvSpPr>
            <a:spLocks xmlns:a="http://schemas.openxmlformats.org/drawingml/2006/main" noGrp="1"/>
          </p:cNvSpPr>
          <p:nvPr/>
        </p:nvSpPr>
        <p:spPr>
          <a:xfrm xmlns:a="http://schemas.openxmlformats.org/drawingml/2006/main">
            <a:off x="4857750" y="4610100"/>
            <a:ext cx="247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d₁τ_R + d₀ が大きい</a:t>
            </a:r>
          </a:p>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復旧しても高くつくため、</a:t>
            </a:r>
          </a:p>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手順短縮も設計対象</a:t>
            </a:r>
          </a:p>
        </p:txBody>
      </p:sp>
      <p:sp>
        <p:nvSpPr>
          <p:cNvPr id="15" name="">
            <a:extLst xmlns:a="http://schemas.openxmlformats.org/drawingml/2006/main">
              <a:ext uri="{FF2B5EF4-FFF2-40B4-BE49-F238E27FC236}">
                <a16:creationId xmlns:a16="http://schemas.microsoft.com/office/drawing/2014/main" id="{7FDFA313-11C1-4D49-A222-128B4DC95E40}"/>
              </a:ext>
            </a:extLst>
          </p:cNvPr>
          <p:cNvSpPr>
            <a:spLocks xmlns:a="http://schemas.openxmlformats.org/drawingml/2006/main" noGrp="1"/>
          </p:cNvSpPr>
          <p:nvPr/>
        </p:nvSpPr>
        <p:spPr>
          <a:xfrm xmlns:a="http://schemas.openxmlformats.org/drawingml/2006/main">
            <a:off x="8477250" y="4457700"/>
            <a:ext cx="2781300" cy="1066800"/>
          </a:xfrm>
          <a:prstGeom xmlns:a="http://schemas.openxmlformats.org/drawingml/2006/main" prst="rect">
            <a:avLst/>
          </a:prstGeom>
          <a:solidFill xmlns:a="http://schemas.openxmlformats.org/drawingml/2006/main">
            <a:srgbClr val="D9EFEC"/>
          </a:solidFill>
          <a:ln xmlns:a="http://schemas.openxmlformats.org/drawingml/2006/main" w="9525">
            <a:solidFill>
              <a:srgbClr val="0E8A8A"/>
            </a:solidFill>
            <a:prstDash val="solid"/>
          </a:ln>
        </p:spPr>
      </p:sp>
      <p:sp>
        <p:nvSpPr>
          <p:cNvPr id="16" name="">
            <a:extLst xmlns:a="http://schemas.openxmlformats.org/drawingml/2006/main">
              <a:ext uri="{FF2B5EF4-FFF2-40B4-BE49-F238E27FC236}">
                <a16:creationId xmlns:a16="http://schemas.microsoft.com/office/drawing/2014/main" id="{A1944F6E-2566-4882-AABB-499674D10C7B}"/>
              </a:ext>
            </a:extLst>
          </p:cNvPr>
          <p:cNvSpPr>
            <a:spLocks xmlns:a="http://schemas.openxmlformats.org/drawingml/2006/main" noGrp="1"/>
          </p:cNvSpPr>
          <p:nvPr/>
        </p:nvSpPr>
        <p:spPr>
          <a:xfrm xmlns:a="http://schemas.openxmlformats.org/drawingml/2006/main">
            <a:off x="8629650" y="4610100"/>
            <a:ext cx="2476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n が増える</a:t>
            </a:r>
          </a:p>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同じ a* をより短い Δ* で</a:t>
            </a:r>
          </a:p>
          <a:p xmlns:a="http://schemas.openxmlformats.org/drawingml/2006/main">
            <a:pPr algn="l">
              <a:defRPr sz="1275" b="1">
                <a:solidFill>
                  <a:srgbClr val="17202A"/>
                </a:solidFill>
                <a:latin typeface="Hiragino Sans"/>
                <a:ea typeface="Hiragino Sans"/>
                <a:cs typeface="Hiragino Sans"/>
              </a:defRPr>
            </a:pPr>
            <a:r>
              <a:rPr sz="1275" b="1">
                <a:solidFill>
                  <a:srgbClr val="17202A"/>
                </a:solidFill>
                <a:latin typeface="Hiragino Sans"/>
                <a:ea typeface="Hiragino Sans"/>
                <a:cs typeface="Hiragino Sans"/>
              </a:rPr>
              <a:t>実装できる</a:t>
            </a:r>
          </a:p>
        </p:txBody>
      </p:sp>
      <p:sp>
        <p:nvSpPr>
          <p:cNvPr id="17" name="">
            <a:extLst xmlns:a="http://schemas.openxmlformats.org/drawingml/2006/main">
              <a:ext uri="{FF2B5EF4-FFF2-40B4-BE49-F238E27FC236}">
                <a16:creationId xmlns:a16="http://schemas.microsoft.com/office/drawing/2014/main" id="{3D131E3C-B9C5-4FBD-8A2F-F071F6E80225}"/>
              </a:ext>
            </a:extLst>
          </p:cNvPr>
          <p:cNvSpPr>
            <a:spLocks xmlns:a="http://schemas.openxmlformats.org/drawingml/2006/main" noGrp="1"/>
          </p:cNvSpPr>
          <p:nvPr/>
        </p:nvSpPr>
        <p:spPr>
          <a:xfrm xmlns:a="http://schemas.openxmlformats.org/drawingml/2006/main">
            <a:off x="3714750" y="4991100"/>
            <a:ext cx="990600" cy="1905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BA2419BB-DB9F-4415-A283-EFC09135DA9B}"/>
              </a:ext>
            </a:extLst>
          </p:cNvPr>
          <p:cNvSpPr>
            <a:spLocks xmlns:a="http://schemas.openxmlformats.org/drawingml/2006/main" noGrp="1"/>
          </p:cNvSpPr>
          <p:nvPr/>
        </p:nvSpPr>
        <p:spPr>
          <a:xfrm xmlns:a="http://schemas.openxmlformats.org/drawingml/2006/main">
            <a:off x="7486650" y="4991100"/>
            <a:ext cx="990600" cy="1905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A3D041F-019C-4876-BD34-4F16FC5B6173}"/>
              </a:ext>
            </a:extLst>
          </p:cNvPr>
          <p:cNvSpPr>
            <a:spLocks xmlns:a="http://schemas.openxmlformats.org/drawingml/2006/main" noGrp="1"/>
          </p:cNvSpPr>
          <p:nvPr/>
        </p:nvSpPr>
        <p:spPr>
          <a:xfrm xmlns:a="http://schemas.openxmlformats.org/drawingml/2006/main">
            <a:off x="3448050" y="5772150"/>
            <a:ext cx="52959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425" b="1">
                <a:solidFill>
                  <a:srgbClr val="26323F"/>
                </a:solidFill>
                <a:latin typeface="Hiragino Sans"/>
                <a:ea typeface="Hiragino Sans"/>
                <a:cs typeface="Hiragino Sans"/>
              </a:defRPr>
            </a:pPr>
            <a:r>
              <a:rPr sz="1425" b="1">
                <a:solidFill>
                  <a:srgbClr val="26323F"/>
                </a:solidFill>
                <a:latin typeface="Hiragino Sans"/>
                <a:ea typeface="Hiragino Sans"/>
                <a:cs typeface="Hiragino Sans"/>
              </a:rPr>
              <a:t>設計の読み方: まず a*、次に n と Δ</a:t>
            </a:r>
          </a:p>
        </p:txBody>
      </p:sp>
      <p:sp>
        <p:nvSpPr>
          <p:cNvPr id="20" name="">
            <a:extLst xmlns:a="http://schemas.openxmlformats.org/drawingml/2006/main">
              <a:ext uri="{FF2B5EF4-FFF2-40B4-BE49-F238E27FC236}">
                <a16:creationId xmlns:a16="http://schemas.microsoft.com/office/drawing/2014/main" id="{7153647E-705E-4FCE-B60B-5C7D071F6401}"/>
              </a:ext>
            </a:extLst>
          </p:cNvPr>
          <p:cNvSpPr>
            <a:spLocks xmlns:a="http://schemas.openxmlformats.org/drawingml/2006/main" noGrp="1"/>
          </p:cNvSpPr>
          <p:nvPr/>
        </p:nvSpPr>
        <p:spPr>
          <a:xfrm xmlns:a="http://schemas.openxmlformats.org/drawingml/2006/main">
            <a:off x="552450" y="6400800"/>
            <a:ext cx="11087100" cy="1143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9043135A-F0B0-4A7A-BE0B-F9A08B58825F}"/>
              </a:ext>
            </a:extLst>
          </p:cNvPr>
          <p:cNvSpPr>
            <a:spLocks xmlns:a="http://schemas.openxmlformats.org/drawingml/2006/main" noGrp="1"/>
          </p:cNvSpPr>
          <p:nvPr/>
        </p:nvSpPr>
        <p:spPr>
          <a:xfrm xmlns:a="http://schemas.openxmlformats.org/drawingml/2006/main">
            <a:off x="552450" y="6515100"/>
            <a:ext cx="914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00" b="0">
                <a:solidFill>
                  <a:srgbClr val="5F6B75"/>
                </a:solidFill>
                <a:latin typeface="Hiragino Sans"/>
                <a:ea typeface="Hiragino Sans"/>
                <a:cs typeface="Hiragino Sans"/>
              </a:defRPr>
            </a:pPr>
            <a:r>
              <a:rPr sz="600" b="0">
                <a:solidFill>
                  <a:srgbClr val="5F6B75"/>
                </a:solidFill>
                <a:latin typeface="Hiragino Sans"/>
                <a:ea typeface="Hiragino Sans"/>
                <a:cs typeface="Hiragino Sans"/>
              </a:rPr>
              <a:t>Source: paper/sections/tex/05_backup_optimization.tex</a:t>
            </a:r>
          </a:p>
        </p:txBody>
      </p:sp>
      <p:sp>
        <p:nvSpPr>
          <p:cNvPr id="22" name="">
            <a:extLst xmlns:a="http://schemas.openxmlformats.org/drawingml/2006/main">
              <a:ext uri="{FF2B5EF4-FFF2-40B4-BE49-F238E27FC236}">
                <a16:creationId xmlns:a16="http://schemas.microsoft.com/office/drawing/2014/main" id="{5883A7F8-5C90-4F9B-9E64-5E66514D42E4}"/>
              </a:ext>
            </a:extLst>
          </p:cNvPr>
          <p:cNvSpPr>
            <a:spLocks xmlns:a="http://schemas.openxmlformats.org/drawingml/2006/main" noGrp="1"/>
          </p:cNvSpPr>
          <p:nvPr/>
        </p:nvSpPr>
        <p:spPr>
          <a:xfrm xmlns:a="http://schemas.openxmlformats.org/drawingml/2006/main">
            <a:off x="11239500" y="6486525"/>
            <a:ext cx="400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5F6B75"/>
                </a:solidFill>
                <a:latin typeface="Hiragino Sans"/>
                <a:ea typeface="Hiragino Sans"/>
                <a:cs typeface="Hiragino Sans"/>
              </a:defRPr>
            </a:pPr>
            <a:r>
              <a:rPr sz="900" b="1">
                <a:solidFill>
                  <a:srgbClr val="5F6B75"/>
                </a:solidFill>
                <a:latin typeface="Hiragino Sans"/>
                <a:ea typeface="Hiragino Sans"/>
                <a:cs typeface="Hiragino Sans"/>
              </a:rPr>
              <a:t>04</a:t>
            </a:r>
          </a:p>
        </p:txBody>
      </p:sp>
    </p:spTree>
    <p:extLst>
      <p:ext uri="{BB962C8B-B14F-4D97-AF65-F5344CB8AC3E}">
        <p14:creationId xmlns:p14="http://schemas.microsoft.com/office/powerpoint/2010/main" val="99521611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DA1FE3C-37DA-426F-A04F-64D92A9152C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8F4"/>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EC547B9-6988-4BC4-88C1-8C9E4043024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C0F8323-061D-42A8-89E7-C23CFCD05F92}"/>
              </a:ext>
            </a:extLst>
          </p:cNvPr>
          <p:cNvSpPr>
            <a:spLocks xmlns:a="http://schemas.openxmlformats.org/drawingml/2006/main" noGrp="1"/>
          </p:cNvSpPr>
          <p:nvPr/>
        </p:nvSpPr>
        <p:spPr>
          <a:xfrm xmlns:a="http://schemas.openxmlformats.org/drawingml/2006/main">
            <a:off x="0" y="66675"/>
            <a:ext cx="12192000" cy="28575"/>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399E097-B3B3-4B42-9697-8AAE44B079A4}"/>
              </a:ext>
            </a:extLst>
          </p:cNvPr>
          <p:cNvSpPr>
            <a:spLocks xmlns:a="http://schemas.openxmlformats.org/drawingml/2006/main" noGrp="1"/>
          </p:cNvSpPr>
          <p:nvPr/>
        </p:nvSpPr>
        <p:spPr>
          <a:xfrm xmlns:a="http://schemas.openxmlformats.org/drawingml/2006/main">
            <a:off x="552450" y="400050"/>
            <a:ext cx="95250" cy="9525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5CA99FAA-FDAE-4971-B633-FFEEFCBFC34F}"/>
              </a:ext>
            </a:extLst>
          </p:cNvPr>
          <p:cNvSpPr>
            <a:spLocks xmlns:a="http://schemas.openxmlformats.org/drawingml/2006/main" noGrp="1"/>
          </p:cNvSpPr>
          <p:nvPr/>
        </p:nvSpPr>
        <p:spPr>
          <a:xfrm xmlns:a="http://schemas.openxmlformats.org/drawingml/2006/main">
            <a:off x="742950" y="342900"/>
            <a:ext cx="6858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5F6B75"/>
                </a:solidFill>
                <a:latin typeface="Hiragino Sans"/>
                <a:ea typeface="Hiragino Sans"/>
                <a:cs typeface="Hiragino Sans"/>
              </a:defRPr>
            </a:pPr>
            <a:r>
              <a:rPr sz="825" b="1">
                <a:solidFill>
                  <a:srgbClr val="5F6B75"/>
                </a:solidFill>
                <a:latin typeface="Hiragino Sans"/>
                <a:ea typeface="Hiragino Sans"/>
                <a:cs typeface="Hiragino Sans"/>
              </a:rPr>
              <a:t>運用への読み替え | 数値例は式のスケール確認</a:t>
            </a:r>
          </a:p>
        </p:txBody>
      </p:sp>
      <p:sp>
        <p:nvSpPr>
          <p:cNvPr id="6" name="">
            <a:extLst xmlns:a="http://schemas.openxmlformats.org/drawingml/2006/main">
              <a:ext uri="{FF2B5EF4-FFF2-40B4-BE49-F238E27FC236}">
                <a16:creationId xmlns:a16="http://schemas.microsoft.com/office/drawing/2014/main" id="{CAFE56A6-C331-473B-A6D8-4E529D1C7488}"/>
              </a:ext>
            </a:extLst>
          </p:cNvPr>
          <p:cNvSpPr>
            <a:spLocks xmlns:a="http://schemas.openxmlformats.org/drawingml/2006/main" noGrp="1"/>
          </p:cNvSpPr>
          <p:nvPr/>
        </p:nvSpPr>
        <p:spPr>
          <a:xfrm xmlns:a="http://schemas.openxmlformats.org/drawingml/2006/main">
            <a:off x="552450" y="762000"/>
            <a:ext cx="885825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7202A"/>
                </a:solidFill>
                <a:latin typeface="Hiragino Sans"/>
                <a:ea typeface="Hiragino Sans"/>
                <a:cs typeface="Hiragino Sans"/>
              </a:defRPr>
            </a:pPr>
            <a:r>
              <a:rPr sz="2775" b="1">
                <a:solidFill>
                  <a:srgbClr val="17202A"/>
                </a:solidFill>
                <a:latin typeface="Hiragino Sans"/>
                <a:ea typeface="Hiragino Sans"/>
                <a:cs typeface="Hiragino Sans"/>
              </a:rPr>
              <a:t>例: 5世代で18.67日間隔・93.33日保持</a:t>
            </a:r>
          </a:p>
        </p:txBody>
      </p:sp>
      <p:sp>
        <p:nvSpPr>
          <p:cNvPr id="7" name="">
            <a:extLst xmlns:a="http://schemas.openxmlformats.org/drawingml/2006/main">
              <a:ext uri="{FF2B5EF4-FFF2-40B4-BE49-F238E27FC236}">
                <a16:creationId xmlns:a16="http://schemas.microsoft.com/office/drawing/2014/main" id="{6D01CF32-02A1-49B7-A6B0-E2C3A8A24A9E}"/>
              </a:ext>
            </a:extLst>
          </p:cNvPr>
          <p:cNvSpPr>
            <a:spLocks xmlns:a="http://schemas.openxmlformats.org/drawingml/2006/main" noGrp="1"/>
          </p:cNvSpPr>
          <p:nvPr/>
        </p:nvSpPr>
        <p:spPr>
          <a:xfrm xmlns:a="http://schemas.openxmlformats.org/drawingml/2006/main">
            <a:off x="552450" y="1695450"/>
            <a:ext cx="9620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26323F"/>
                </a:solidFill>
                <a:latin typeface="Hiragino Sans"/>
                <a:ea typeface="Hiragino Sans"/>
                <a:cs typeface="Hiragino Sans"/>
              </a:defRPr>
            </a:pPr>
            <a:r>
              <a:rPr sz="1875" b="1">
                <a:solidFill>
                  <a:srgbClr val="26323F"/>
                </a:solidFill>
                <a:latin typeface="Hiragino Sans"/>
                <a:ea typeface="Hiragino Sans"/>
                <a:cs typeface="Hiragino Sans"/>
              </a:rPr>
              <a:t>結論は「この日数を推奨」ではなく、</a:t>
            </a:r>
          </a:p>
          <a:p xmlns:a="http://schemas.openxmlformats.org/drawingml/2006/main">
            <a:pPr algn="l">
              <a:defRPr sz="1875" b="1">
                <a:solidFill>
                  <a:srgbClr val="26323F"/>
                </a:solidFill>
                <a:latin typeface="Hiragino Sans"/>
                <a:ea typeface="Hiragino Sans"/>
                <a:cs typeface="Hiragino Sans"/>
              </a:defRPr>
            </a:pPr>
            <a:r>
              <a:rPr sz="1875" b="1">
                <a:solidFill>
                  <a:srgbClr val="26323F"/>
                </a:solidFill>
                <a:latin typeface="Hiragino Sans"/>
                <a:ea typeface="Hiragino Sans"/>
                <a:cs typeface="Hiragino Sans"/>
              </a:rPr>
              <a:t>損失・復旧時間・スキャン負荷から初期設計を作れること。</a:t>
            </a:r>
          </a:p>
        </p:txBody>
      </p:sp>
      <p:sp>
        <p:nvSpPr>
          <p:cNvPr id="8" name="">
            <a:extLst xmlns:a="http://schemas.openxmlformats.org/drawingml/2006/main">
              <a:ext uri="{FF2B5EF4-FFF2-40B4-BE49-F238E27FC236}">
                <a16:creationId xmlns:a16="http://schemas.microsoft.com/office/drawing/2014/main" id="{06F90BAF-D15F-4ECE-919E-33DCD1C3DA9B}"/>
              </a:ext>
            </a:extLst>
          </p:cNvPr>
          <p:cNvSpPr>
            <a:spLocks xmlns:a="http://schemas.openxmlformats.org/drawingml/2006/main" noGrp="1"/>
          </p:cNvSpPr>
          <p:nvPr/>
        </p:nvSpPr>
        <p:spPr>
          <a:xfrm xmlns:a="http://schemas.openxmlformats.org/drawingml/2006/main">
            <a:off x="800100" y="2800350"/>
            <a:ext cx="4095750" cy="2362200"/>
          </a:xfrm>
          <a:prstGeom xmlns:a="http://schemas.openxmlformats.org/drawingml/2006/main" prst="rect">
            <a:avLst/>
          </a:prstGeom>
          <a:solidFill xmlns:a="http://schemas.openxmlformats.org/drawingml/2006/main">
            <a:srgbClr val="FFFFFF"/>
          </a:solidFill>
          <a:ln xmlns:a="http://schemas.openxmlformats.org/drawingml/2006/main" w="9525">
            <a:solidFill>
              <a:srgbClr val="D7DCCF"/>
            </a:solidFill>
            <a:prstDash val="solid"/>
          </a:ln>
        </p:spPr>
      </p:sp>
      <p:sp>
        <p:nvSpPr>
          <p:cNvPr id="9" name="">
            <a:extLst xmlns:a="http://schemas.openxmlformats.org/drawingml/2006/main">
              <a:ext uri="{FF2B5EF4-FFF2-40B4-BE49-F238E27FC236}">
                <a16:creationId xmlns:a16="http://schemas.microsoft.com/office/drawing/2014/main" id="{5AAD109C-1EEC-4E5A-B098-12E960157CD0}"/>
              </a:ext>
            </a:extLst>
          </p:cNvPr>
          <p:cNvSpPr>
            <a:spLocks xmlns:a="http://schemas.openxmlformats.org/drawingml/2006/main" noGrp="1"/>
          </p:cNvSpPr>
          <p:nvPr/>
        </p:nvSpPr>
        <p:spPr>
          <a:xfrm xmlns:a="http://schemas.openxmlformats.org/drawingml/2006/main">
            <a:off x="1104900" y="3048000"/>
            <a:ext cx="1543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0E8A8A"/>
                </a:solidFill>
                <a:latin typeface="Hiragino Sans"/>
                <a:ea typeface="Hiragino Sans"/>
                <a:cs typeface="Hiragino Sans"/>
              </a:defRPr>
            </a:pPr>
            <a:r>
              <a:rPr sz="1050" b="1">
                <a:solidFill>
                  <a:srgbClr val="0E8A8A"/>
                </a:solidFill>
                <a:latin typeface="Hiragino Sans"/>
                <a:ea typeface="Hiragino Sans"/>
                <a:cs typeface="Hiragino Sans"/>
              </a:rPr>
              <a:t>再計算可能な例</a:t>
            </a:r>
          </a:p>
        </p:txBody>
      </p:sp>
      <p:sp>
        <p:nvSpPr>
          <p:cNvPr id="10" name="">
            <a:extLst xmlns:a="http://schemas.openxmlformats.org/drawingml/2006/main">
              <a:ext uri="{FF2B5EF4-FFF2-40B4-BE49-F238E27FC236}">
                <a16:creationId xmlns:a16="http://schemas.microsoft.com/office/drawing/2014/main" id="{8AF82E08-9B4D-4FCA-8B62-9B5BB569A7B0}"/>
              </a:ext>
            </a:extLst>
          </p:cNvPr>
          <p:cNvSpPr>
            <a:spLocks xmlns:a="http://schemas.openxmlformats.org/drawingml/2006/main" noGrp="1"/>
          </p:cNvSpPr>
          <p:nvPr/>
        </p:nvSpPr>
        <p:spPr>
          <a:xfrm xmlns:a="http://schemas.openxmlformats.org/drawingml/2006/main">
            <a:off x="1104900" y="3409950"/>
            <a:ext cx="31813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7202A"/>
                </a:solidFill>
                <a:latin typeface="Menlo"/>
                <a:ea typeface="Menlo"/>
                <a:cs typeface="Menlo"/>
              </a:defRPr>
            </a:pPr>
            <a:r>
              <a:rPr sz="2325" b="1">
                <a:solidFill>
                  <a:srgbClr val="17202A"/>
                </a:solidFill>
                <a:latin typeface="Menlo"/>
                <a:ea typeface="Menlo"/>
                <a:cs typeface="Menlo"/>
              </a:rPr>
              <a:t>Δ* = 18.67 日</a:t>
            </a:r>
          </a:p>
        </p:txBody>
      </p:sp>
      <p:sp>
        <p:nvSpPr>
          <p:cNvPr id="11" name="">
            <a:extLst xmlns:a="http://schemas.openxmlformats.org/drawingml/2006/main">
              <a:ext uri="{FF2B5EF4-FFF2-40B4-BE49-F238E27FC236}">
                <a16:creationId xmlns:a16="http://schemas.microsoft.com/office/drawing/2014/main" id="{22DCD572-41D9-4772-BA14-457BCD86AC60}"/>
              </a:ext>
            </a:extLst>
          </p:cNvPr>
          <p:cNvSpPr>
            <a:spLocks xmlns:a="http://schemas.openxmlformats.org/drawingml/2006/main" noGrp="1"/>
          </p:cNvSpPr>
          <p:nvPr/>
        </p:nvSpPr>
        <p:spPr>
          <a:xfrm xmlns:a="http://schemas.openxmlformats.org/drawingml/2006/main">
            <a:off x="1104900" y="3905250"/>
            <a:ext cx="31813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C9821B"/>
                </a:solidFill>
                <a:latin typeface="Menlo"/>
                <a:ea typeface="Menlo"/>
                <a:cs typeface="Menlo"/>
              </a:defRPr>
            </a:pPr>
            <a:r>
              <a:rPr sz="2325" b="1">
                <a:solidFill>
                  <a:srgbClr val="C9821B"/>
                </a:solidFill>
                <a:latin typeface="Menlo"/>
                <a:ea typeface="Menlo"/>
                <a:cs typeface="Menlo"/>
              </a:rPr>
              <a:t>nΔ* = 93.33 日</a:t>
            </a:r>
          </a:p>
        </p:txBody>
      </p:sp>
      <p:sp>
        <p:nvSpPr>
          <p:cNvPr id="12" name="">
            <a:extLst xmlns:a="http://schemas.openxmlformats.org/drawingml/2006/main">
              <a:ext uri="{FF2B5EF4-FFF2-40B4-BE49-F238E27FC236}">
                <a16:creationId xmlns:a16="http://schemas.microsoft.com/office/drawing/2014/main" id="{6D9C6271-D01B-45B3-8F07-4EF85C8633DA}"/>
              </a:ext>
            </a:extLst>
          </p:cNvPr>
          <p:cNvSpPr>
            <a:spLocks xmlns:a="http://schemas.openxmlformats.org/drawingml/2006/main" noGrp="1"/>
          </p:cNvSpPr>
          <p:nvPr/>
        </p:nvSpPr>
        <p:spPr>
          <a:xfrm xmlns:a="http://schemas.openxmlformats.org/drawingml/2006/main">
            <a:off x="1104900" y="4400550"/>
            <a:ext cx="3448050"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5F6B75"/>
                </a:solidFill>
                <a:latin typeface="Hiragino Sans"/>
                <a:ea typeface="Hiragino Sans"/>
                <a:cs typeface="Hiragino Sans"/>
              </a:defRPr>
            </a:pPr>
            <a:r>
              <a:rPr sz="863" b="0">
                <a:solidFill>
                  <a:srgbClr val="5F6B75"/>
                </a:solidFill>
                <a:latin typeface="Hiragino Sans"/>
                <a:ea typeface="Hiragino Sans"/>
                <a:cs typeface="Hiragino Sans"/>
              </a:rPr>
              <a:t>条件: t_m=1日, λ=1.0件/日, d₁=1666.7万円/日,</a:t>
            </a:r>
          </a:p>
          <a:p xmlns:a="http://schemas.openxmlformats.org/drawingml/2006/main">
            <a:pPr algn="l">
              <a:defRPr sz="863" b="0">
                <a:solidFill>
                  <a:srgbClr val="5F6B75"/>
                </a:solidFill>
                <a:latin typeface="Hiragino Sans"/>
                <a:ea typeface="Hiragino Sans"/>
                <a:cs typeface="Hiragino Sans"/>
              </a:defRPr>
            </a:pPr>
            <a:r>
              <a:rPr sz="863" b="0">
                <a:solidFill>
                  <a:srgbClr val="5F6B75"/>
                </a:solidFill>
                <a:latin typeface="Hiragino Sans"/>
                <a:ea typeface="Hiragino Sans"/>
                <a:cs typeface="Hiragino Sans"/>
              </a:rPr>
              <a:t>L=50000万円, c_b=10万円/回, n=5, τ_R=2日,</a:t>
            </a:r>
          </a:p>
          <a:p xmlns:a="http://schemas.openxmlformats.org/drawingml/2006/main">
            <a:pPr algn="l">
              <a:defRPr sz="863" b="0">
                <a:solidFill>
                  <a:srgbClr val="5F6B75"/>
                </a:solidFill>
                <a:latin typeface="Hiragino Sans"/>
                <a:ea typeface="Hiragino Sans"/>
                <a:cs typeface="Hiragino Sans"/>
              </a:defRPr>
            </a:pPr>
            <a:r>
              <a:rPr sz="863" b="0">
                <a:solidFill>
                  <a:srgbClr val="5F6B75"/>
                </a:solidFill>
                <a:latin typeface="Hiragino Sans"/>
                <a:ea typeface="Hiragino Sans"/>
                <a:cs typeface="Hiragino Sans"/>
              </a:rPr>
              <a:t>η=0.95, κ_s=0.3, d₀=0</a:t>
            </a:r>
          </a:p>
        </p:txBody>
      </p:sp>
      <p:sp>
        <p:nvSpPr>
          <p:cNvPr id="13" name="">
            <a:extLst xmlns:a="http://schemas.openxmlformats.org/drawingml/2006/main">
              <a:ext uri="{FF2B5EF4-FFF2-40B4-BE49-F238E27FC236}">
                <a16:creationId xmlns:a16="http://schemas.microsoft.com/office/drawing/2014/main" id="{A384811E-EAE0-4943-AF79-3B238B19423E}"/>
              </a:ext>
            </a:extLst>
          </p:cNvPr>
          <p:cNvSpPr>
            <a:spLocks xmlns:a="http://schemas.openxmlformats.org/drawingml/2006/main" noGrp="1"/>
          </p:cNvSpPr>
          <p:nvPr/>
        </p:nvSpPr>
        <p:spPr>
          <a:xfrm xmlns:a="http://schemas.openxmlformats.org/drawingml/2006/main">
            <a:off x="5467350" y="2895600"/>
            <a:ext cx="3086100" cy="1257300"/>
          </a:xfrm>
          <a:prstGeom xmlns:a="http://schemas.openxmlformats.org/drawingml/2006/main" prst="rect">
            <a:avLst/>
          </a:prstGeom>
          <a:solidFill xmlns:a="http://schemas.openxmlformats.org/drawingml/2006/main">
            <a:srgbClr val="F1D7D3"/>
          </a:solidFill>
          <a:ln xmlns:a="http://schemas.openxmlformats.org/drawingml/2006/main" w="11430">
            <a:solidFill>
              <a:srgbClr val="B94A48"/>
            </a:solidFill>
            <a:prstDash val="solid"/>
          </a:ln>
        </p:spPr>
      </p:sp>
      <p:sp>
        <p:nvSpPr>
          <p:cNvPr id="14" name="">
            <a:extLst xmlns:a="http://schemas.openxmlformats.org/drawingml/2006/main">
              <a:ext uri="{FF2B5EF4-FFF2-40B4-BE49-F238E27FC236}">
                <a16:creationId xmlns:a16="http://schemas.microsoft.com/office/drawing/2014/main" id="{93E761E8-9351-4F29-91E5-D711666DD9A3}"/>
              </a:ext>
            </a:extLst>
          </p:cNvPr>
          <p:cNvSpPr>
            <a:spLocks xmlns:a="http://schemas.openxmlformats.org/drawingml/2006/main" noGrp="1"/>
          </p:cNvSpPr>
          <p:nvPr/>
        </p:nvSpPr>
        <p:spPr>
          <a:xfrm xmlns:a="http://schemas.openxmlformats.org/drawingml/2006/main">
            <a:off x="5657850" y="3105150"/>
            <a:ext cx="342900" cy="342900"/>
          </a:xfrm>
          <a:prstGeom xmlns:a="http://schemas.openxmlformats.org/drawingml/2006/main" prst="rect">
            <a:avLst/>
          </a:prstGeom>
          <a:solidFill xmlns:a="http://schemas.openxmlformats.org/drawingml/2006/main">
            <a:srgbClr val="B94A48"/>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142ADAE8-D44F-427F-B091-C3D76015884B}"/>
              </a:ext>
            </a:extLst>
          </p:cNvPr>
          <p:cNvSpPr>
            <a:spLocks xmlns:a="http://schemas.openxmlformats.org/drawingml/2006/main" noGrp="1"/>
          </p:cNvSpPr>
          <p:nvPr/>
        </p:nvSpPr>
        <p:spPr>
          <a:xfrm xmlns:a="http://schemas.openxmlformats.org/drawingml/2006/main">
            <a:off x="5657850" y="3143250"/>
            <a:ext cx="342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1</a:t>
            </a:r>
          </a:p>
        </p:txBody>
      </p:sp>
      <p:sp>
        <p:nvSpPr>
          <p:cNvPr id="16" name="">
            <a:extLst xmlns:a="http://schemas.openxmlformats.org/drawingml/2006/main">
              <a:ext uri="{FF2B5EF4-FFF2-40B4-BE49-F238E27FC236}">
                <a16:creationId xmlns:a16="http://schemas.microsoft.com/office/drawing/2014/main" id="{E9784644-215C-4C34-A202-7C24541F3EDF}"/>
              </a:ext>
            </a:extLst>
          </p:cNvPr>
          <p:cNvSpPr>
            <a:spLocks xmlns:a="http://schemas.openxmlformats.org/drawingml/2006/main" noGrp="1"/>
          </p:cNvSpPr>
          <p:nvPr/>
        </p:nvSpPr>
        <p:spPr>
          <a:xfrm xmlns:a="http://schemas.openxmlformats.org/drawingml/2006/main">
            <a:off x="6153150" y="3086100"/>
            <a:ext cx="2133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B94A48"/>
                </a:solidFill>
                <a:latin typeface="Hiragino Sans"/>
                <a:ea typeface="Hiragino Sans"/>
                <a:cs typeface="Hiragino Sans"/>
              </a:defRPr>
            </a:pPr>
            <a:r>
              <a:rPr sz="1275" b="1">
                <a:solidFill>
                  <a:srgbClr val="B94A48"/>
                </a:solidFill>
                <a:latin typeface="Hiragino Sans"/>
                <a:ea typeface="Hiragino Sans"/>
                <a:cs typeface="Hiragino Sans"/>
              </a:rPr>
              <a:t>清浄期間を決める</a:t>
            </a:r>
          </a:p>
        </p:txBody>
      </p:sp>
      <p:sp>
        <p:nvSpPr>
          <p:cNvPr id="17" name="">
            <a:extLst xmlns:a="http://schemas.openxmlformats.org/drawingml/2006/main">
              <a:ext uri="{FF2B5EF4-FFF2-40B4-BE49-F238E27FC236}">
                <a16:creationId xmlns:a16="http://schemas.microsoft.com/office/drawing/2014/main" id="{EDD3B058-08C6-423F-884A-A0ECFAA9A777}"/>
              </a:ext>
            </a:extLst>
          </p:cNvPr>
          <p:cNvSpPr>
            <a:spLocks xmlns:a="http://schemas.openxmlformats.org/drawingml/2006/main" noGrp="1"/>
          </p:cNvSpPr>
          <p:nvPr/>
        </p:nvSpPr>
        <p:spPr>
          <a:xfrm xmlns:a="http://schemas.openxmlformats.org/drawingml/2006/main">
            <a:off x="6153150" y="3409950"/>
            <a:ext cx="21336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0">
                <a:solidFill>
                  <a:srgbClr val="26323F"/>
                </a:solidFill>
                <a:latin typeface="Hiragino Sans"/>
                <a:ea typeface="Hiragino Sans"/>
                <a:cs typeface="Hiragino Sans"/>
              </a:defRPr>
            </a:pPr>
            <a:r>
              <a:rPr sz="1013" b="0">
                <a:solidFill>
                  <a:srgbClr val="26323F"/>
                </a:solidFill>
                <a:latin typeface="Hiragino Sans"/>
                <a:ea typeface="Hiragino Sans"/>
                <a:cs typeface="Hiragino Sans"/>
              </a:rPr>
              <a:t>全損時損失と通常復旧時損失の差を見積もる。</a:t>
            </a:r>
          </a:p>
        </p:txBody>
      </p:sp>
      <p:sp>
        <p:nvSpPr>
          <p:cNvPr id="18" name="">
            <a:extLst xmlns:a="http://schemas.openxmlformats.org/drawingml/2006/main">
              <a:ext uri="{FF2B5EF4-FFF2-40B4-BE49-F238E27FC236}">
                <a16:creationId xmlns:a16="http://schemas.microsoft.com/office/drawing/2014/main" id="{6AFC0A2B-37E5-440E-9D6B-AFB83A5B2509}"/>
              </a:ext>
            </a:extLst>
          </p:cNvPr>
          <p:cNvSpPr>
            <a:spLocks xmlns:a="http://schemas.openxmlformats.org/drawingml/2006/main" noGrp="1"/>
          </p:cNvSpPr>
          <p:nvPr/>
        </p:nvSpPr>
        <p:spPr>
          <a:xfrm xmlns:a="http://schemas.openxmlformats.org/drawingml/2006/main">
            <a:off x="8705850" y="2895600"/>
            <a:ext cx="3086100" cy="1257300"/>
          </a:xfrm>
          <a:prstGeom xmlns:a="http://schemas.openxmlformats.org/drawingml/2006/main" prst="rect">
            <a:avLst/>
          </a:prstGeom>
          <a:solidFill xmlns:a="http://schemas.openxmlformats.org/drawingml/2006/main">
            <a:srgbClr val="D9EFEC"/>
          </a:solidFill>
          <a:ln xmlns:a="http://schemas.openxmlformats.org/drawingml/2006/main" w="11430">
            <a:solidFill>
              <a:srgbClr val="0E8A8A"/>
            </a:solidFill>
            <a:prstDash val="solid"/>
          </a:ln>
        </p:spPr>
      </p:sp>
      <p:sp>
        <p:nvSpPr>
          <p:cNvPr id="19" name="">
            <a:extLst xmlns:a="http://schemas.openxmlformats.org/drawingml/2006/main">
              <a:ext uri="{FF2B5EF4-FFF2-40B4-BE49-F238E27FC236}">
                <a16:creationId xmlns:a16="http://schemas.microsoft.com/office/drawing/2014/main" id="{A1C2834D-6977-4E09-91D4-C5BFE40AD676}"/>
              </a:ext>
            </a:extLst>
          </p:cNvPr>
          <p:cNvSpPr>
            <a:spLocks xmlns:a="http://schemas.openxmlformats.org/drawingml/2006/main" noGrp="1"/>
          </p:cNvSpPr>
          <p:nvPr/>
        </p:nvSpPr>
        <p:spPr>
          <a:xfrm xmlns:a="http://schemas.openxmlformats.org/drawingml/2006/main">
            <a:off x="8896350" y="3105150"/>
            <a:ext cx="342900" cy="342900"/>
          </a:xfrm>
          <a:prstGeom xmlns:a="http://schemas.openxmlformats.org/drawingml/2006/main" prst="rect">
            <a:avLst/>
          </a:prstGeom>
          <a:solidFill xmlns:a="http://schemas.openxmlformats.org/drawingml/2006/main">
            <a:srgbClr val="0E8A8A"/>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25BFBFC-F516-409D-B2D1-723A5718BA7D}"/>
              </a:ext>
            </a:extLst>
          </p:cNvPr>
          <p:cNvSpPr>
            <a:spLocks xmlns:a="http://schemas.openxmlformats.org/drawingml/2006/main" noGrp="1"/>
          </p:cNvSpPr>
          <p:nvPr/>
        </p:nvSpPr>
        <p:spPr>
          <a:xfrm xmlns:a="http://schemas.openxmlformats.org/drawingml/2006/main">
            <a:off x="8896350" y="3143250"/>
            <a:ext cx="342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2</a:t>
            </a:r>
          </a:p>
        </p:txBody>
      </p:sp>
      <p:sp>
        <p:nvSpPr>
          <p:cNvPr id="21" name="">
            <a:extLst xmlns:a="http://schemas.openxmlformats.org/drawingml/2006/main">
              <a:ext uri="{FF2B5EF4-FFF2-40B4-BE49-F238E27FC236}">
                <a16:creationId xmlns:a16="http://schemas.microsoft.com/office/drawing/2014/main" id="{D3BB5F30-BDE3-4232-A1F0-968628179D15}"/>
              </a:ext>
            </a:extLst>
          </p:cNvPr>
          <p:cNvSpPr>
            <a:spLocks xmlns:a="http://schemas.openxmlformats.org/drawingml/2006/main" noGrp="1"/>
          </p:cNvSpPr>
          <p:nvPr/>
        </p:nvSpPr>
        <p:spPr>
          <a:xfrm xmlns:a="http://schemas.openxmlformats.org/drawingml/2006/main">
            <a:off x="9391650" y="3086100"/>
            <a:ext cx="2133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0E8A8A"/>
                </a:solidFill>
                <a:latin typeface="Hiragino Sans"/>
                <a:ea typeface="Hiragino Sans"/>
                <a:cs typeface="Hiragino Sans"/>
              </a:defRPr>
            </a:pPr>
            <a:r>
              <a:rPr sz="1275" b="1">
                <a:solidFill>
                  <a:srgbClr val="0E8A8A"/>
                </a:solidFill>
                <a:latin typeface="Hiragino Sans"/>
                <a:ea typeface="Hiragino Sans"/>
                <a:cs typeface="Hiragino Sans"/>
              </a:rPr>
              <a:t>世代数に分解する</a:t>
            </a:r>
          </a:p>
        </p:txBody>
      </p:sp>
      <p:sp>
        <p:nvSpPr>
          <p:cNvPr id="22" name="">
            <a:extLst xmlns:a="http://schemas.openxmlformats.org/drawingml/2006/main">
              <a:ext uri="{FF2B5EF4-FFF2-40B4-BE49-F238E27FC236}">
                <a16:creationId xmlns:a16="http://schemas.microsoft.com/office/drawing/2014/main" id="{DCA0800C-5D56-4977-98D8-7774706E1554}"/>
              </a:ext>
            </a:extLst>
          </p:cNvPr>
          <p:cNvSpPr>
            <a:spLocks xmlns:a="http://schemas.openxmlformats.org/drawingml/2006/main" noGrp="1"/>
          </p:cNvSpPr>
          <p:nvPr/>
        </p:nvSpPr>
        <p:spPr>
          <a:xfrm xmlns:a="http://schemas.openxmlformats.org/drawingml/2006/main">
            <a:off x="9391650" y="3409950"/>
            <a:ext cx="21336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0">
                <a:solidFill>
                  <a:srgbClr val="26323F"/>
                </a:solidFill>
                <a:latin typeface="Hiragino Sans"/>
                <a:ea typeface="Hiragino Sans"/>
                <a:cs typeface="Hiragino Sans"/>
              </a:defRPr>
            </a:pPr>
            <a:r>
              <a:rPr sz="1013" b="0">
                <a:solidFill>
                  <a:srgbClr val="26323F"/>
                </a:solidFill>
                <a:latin typeface="Hiragino Sans"/>
                <a:ea typeface="Hiragino Sans"/>
                <a:cs typeface="Hiragino Sans"/>
              </a:rPr>
              <a:t>a* を n 世代で割り、実装可能な Δ を選ぶ。</a:t>
            </a:r>
          </a:p>
        </p:txBody>
      </p:sp>
      <p:sp>
        <p:nvSpPr>
          <p:cNvPr id="23" name="">
            <a:extLst xmlns:a="http://schemas.openxmlformats.org/drawingml/2006/main">
              <a:ext uri="{FF2B5EF4-FFF2-40B4-BE49-F238E27FC236}">
                <a16:creationId xmlns:a16="http://schemas.microsoft.com/office/drawing/2014/main" id="{BC5AE968-7A9A-4576-B3E6-140C97DFF300}"/>
              </a:ext>
            </a:extLst>
          </p:cNvPr>
          <p:cNvSpPr>
            <a:spLocks xmlns:a="http://schemas.openxmlformats.org/drawingml/2006/main" noGrp="1"/>
          </p:cNvSpPr>
          <p:nvPr/>
        </p:nvSpPr>
        <p:spPr>
          <a:xfrm xmlns:a="http://schemas.openxmlformats.org/drawingml/2006/main">
            <a:off x="7086600" y="4457700"/>
            <a:ext cx="3086100" cy="1257300"/>
          </a:xfrm>
          <a:prstGeom xmlns:a="http://schemas.openxmlformats.org/drawingml/2006/main" prst="rect">
            <a:avLst/>
          </a:prstGeom>
          <a:solidFill xmlns:a="http://schemas.openxmlformats.org/drawingml/2006/main">
            <a:srgbClr val="F3E1BF"/>
          </a:solidFill>
          <a:ln xmlns:a="http://schemas.openxmlformats.org/drawingml/2006/main" w="11430">
            <a:solidFill>
              <a:srgbClr val="C9821B"/>
            </a:solidFill>
            <a:prstDash val="solid"/>
          </a:ln>
        </p:spPr>
      </p:sp>
      <p:sp>
        <p:nvSpPr>
          <p:cNvPr id="24" name="">
            <a:extLst xmlns:a="http://schemas.openxmlformats.org/drawingml/2006/main">
              <a:ext uri="{FF2B5EF4-FFF2-40B4-BE49-F238E27FC236}">
                <a16:creationId xmlns:a16="http://schemas.microsoft.com/office/drawing/2014/main" id="{2622F583-19AD-48EA-BE81-408AD1A4BB85}"/>
              </a:ext>
            </a:extLst>
          </p:cNvPr>
          <p:cNvSpPr>
            <a:spLocks xmlns:a="http://schemas.openxmlformats.org/drawingml/2006/main" noGrp="1"/>
          </p:cNvSpPr>
          <p:nvPr/>
        </p:nvSpPr>
        <p:spPr>
          <a:xfrm xmlns:a="http://schemas.openxmlformats.org/drawingml/2006/main">
            <a:off x="7277100" y="4667250"/>
            <a:ext cx="342900" cy="342900"/>
          </a:xfrm>
          <a:prstGeom xmlns:a="http://schemas.openxmlformats.org/drawingml/2006/main" prst="rect">
            <a:avLst/>
          </a:prstGeom>
          <a:solidFill xmlns:a="http://schemas.openxmlformats.org/drawingml/2006/main">
            <a:srgbClr val="C9821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00445D35-8CF7-4446-83C4-CF8E21DCB440}"/>
              </a:ext>
            </a:extLst>
          </p:cNvPr>
          <p:cNvSpPr>
            <a:spLocks xmlns:a="http://schemas.openxmlformats.org/drawingml/2006/main" noGrp="1"/>
          </p:cNvSpPr>
          <p:nvPr/>
        </p:nvSpPr>
        <p:spPr>
          <a:xfrm xmlns:a="http://schemas.openxmlformats.org/drawingml/2006/main">
            <a:off x="7277100" y="4705350"/>
            <a:ext cx="342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3</a:t>
            </a:r>
          </a:p>
        </p:txBody>
      </p:sp>
      <p:sp>
        <p:nvSpPr>
          <p:cNvPr id="26" name="">
            <a:extLst xmlns:a="http://schemas.openxmlformats.org/drawingml/2006/main">
              <a:ext uri="{FF2B5EF4-FFF2-40B4-BE49-F238E27FC236}">
                <a16:creationId xmlns:a16="http://schemas.microsoft.com/office/drawing/2014/main" id="{C3492CD8-9A37-4C39-A914-70655937FF09}"/>
              </a:ext>
            </a:extLst>
          </p:cNvPr>
          <p:cNvSpPr>
            <a:spLocks xmlns:a="http://schemas.openxmlformats.org/drawingml/2006/main" noGrp="1"/>
          </p:cNvSpPr>
          <p:nvPr/>
        </p:nvSpPr>
        <p:spPr>
          <a:xfrm xmlns:a="http://schemas.openxmlformats.org/drawingml/2006/main">
            <a:off x="7772400" y="4648200"/>
            <a:ext cx="2133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C9821B"/>
                </a:solidFill>
                <a:latin typeface="Hiragino Sans"/>
                <a:ea typeface="Hiragino Sans"/>
                <a:cs typeface="Hiragino Sans"/>
              </a:defRPr>
            </a:pPr>
            <a:r>
              <a:rPr sz="1275" b="1">
                <a:solidFill>
                  <a:srgbClr val="C9821B"/>
                </a:solidFill>
                <a:latin typeface="Hiragino Sans"/>
                <a:ea typeface="Hiragino Sans"/>
                <a:cs typeface="Hiragino Sans"/>
              </a:rPr>
              <a:t>端点と延長を評価する</a:t>
            </a:r>
          </a:p>
        </p:txBody>
      </p:sp>
      <p:sp>
        <p:nvSpPr>
          <p:cNvPr id="27" name="">
            <a:extLst xmlns:a="http://schemas.openxmlformats.org/drawingml/2006/main">
              <a:ext uri="{FF2B5EF4-FFF2-40B4-BE49-F238E27FC236}">
                <a16:creationId xmlns:a16="http://schemas.microsoft.com/office/drawing/2014/main" id="{4717B53F-C028-410D-88C3-5B3736673748}"/>
              </a:ext>
            </a:extLst>
          </p:cNvPr>
          <p:cNvSpPr>
            <a:spLocks xmlns:a="http://schemas.openxmlformats.org/drawingml/2006/main" noGrp="1"/>
          </p:cNvSpPr>
          <p:nvPr/>
        </p:nvSpPr>
        <p:spPr>
          <a:xfrm xmlns:a="http://schemas.openxmlformats.org/drawingml/2006/main">
            <a:off x="7772400" y="4972050"/>
            <a:ext cx="21336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0">
                <a:solidFill>
                  <a:srgbClr val="26323F"/>
                </a:solidFill>
                <a:latin typeface="Hiragino Sans"/>
                <a:ea typeface="Hiragino Sans"/>
                <a:cs typeface="Hiragino Sans"/>
              </a:defRPr>
            </a:pPr>
            <a:r>
              <a:rPr sz="1013" b="0">
                <a:solidFill>
                  <a:srgbClr val="26323F"/>
                </a:solidFill>
                <a:latin typeface="Hiragino Sans"/>
                <a:ea typeface="Hiragino Sans"/>
                <a:cs typeface="Hiragino Sans"/>
              </a:rPr>
              <a:t>許容区間の端点、固定費補正、追加保持世代を確認する。</a:t>
            </a:r>
          </a:p>
        </p:txBody>
      </p:sp>
      <p:sp>
        <p:nvSpPr>
          <p:cNvPr id="28" name="">
            <a:extLst xmlns:a="http://schemas.openxmlformats.org/drawingml/2006/main">
              <a:ext uri="{FF2B5EF4-FFF2-40B4-BE49-F238E27FC236}">
                <a16:creationId xmlns:a16="http://schemas.microsoft.com/office/drawing/2014/main" id="{E09462F4-CAF1-4E65-A7E7-2C11D6A2918E}"/>
              </a:ext>
            </a:extLst>
          </p:cNvPr>
          <p:cNvSpPr>
            <a:spLocks xmlns:a="http://schemas.openxmlformats.org/drawingml/2006/main" noGrp="1"/>
          </p:cNvSpPr>
          <p:nvPr/>
        </p:nvSpPr>
        <p:spPr>
          <a:xfrm xmlns:a="http://schemas.openxmlformats.org/drawingml/2006/main">
            <a:off x="800100" y="5848350"/>
            <a:ext cx="10610850" cy="438150"/>
          </a:xfrm>
          <a:prstGeom xmlns:a="http://schemas.openxmlformats.org/drawingml/2006/main" prst="rect">
            <a:avLst/>
          </a:prstGeom>
          <a:solidFill xmlns:a="http://schemas.openxmlformats.org/drawingml/2006/main">
            <a:srgbClr val="E4E8EA"/>
          </a:solidFill>
          <a:ln xmlns:a="http://schemas.openxmlformats.org/drawingml/2006/main" w="9525">
            <a:solidFill>
              <a:srgbClr val="D7DCCF"/>
            </a:solidFill>
            <a:prstDash val="solid"/>
          </a:ln>
        </p:spPr>
      </p:sp>
      <p:sp>
        <p:nvSpPr>
          <p:cNvPr id="29" name="">
            <a:extLst xmlns:a="http://schemas.openxmlformats.org/drawingml/2006/main">
              <a:ext uri="{FF2B5EF4-FFF2-40B4-BE49-F238E27FC236}">
                <a16:creationId xmlns:a16="http://schemas.microsoft.com/office/drawing/2014/main" id="{C44E12D1-8635-4A12-9BDA-BB1AFA0511D5}"/>
              </a:ext>
            </a:extLst>
          </p:cNvPr>
          <p:cNvSpPr>
            <a:spLocks xmlns:a="http://schemas.openxmlformats.org/drawingml/2006/main" noGrp="1"/>
          </p:cNvSpPr>
          <p:nvPr/>
        </p:nvSpPr>
        <p:spPr>
          <a:xfrm xmlns:a="http://schemas.openxmlformats.org/drawingml/2006/main">
            <a:off x="952500" y="5981700"/>
            <a:ext cx="103060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26323F"/>
                </a:solidFill>
                <a:latin typeface="Hiragino Sans"/>
                <a:ea typeface="Hiragino Sans"/>
                <a:cs typeface="Hiragino Sans"/>
              </a:defRPr>
            </a:pPr>
            <a:r>
              <a:rPr sz="938" b="0">
                <a:solidFill>
                  <a:srgbClr val="26323F"/>
                </a:solidFill>
                <a:latin typeface="Hiragino Sans"/>
                <a:ea typeface="Hiragino Sans"/>
                <a:cs typeface="Hiragino Sans"/>
              </a:rPr>
              <a:t>注意: 数値は実務推奨ではなく、式の挙動と単位の確認。尾指数・検知率・攻撃頻度は最終評価や有限頻度補正に影響する。</a:t>
            </a:r>
          </a:p>
        </p:txBody>
      </p:sp>
      <p:sp>
        <p:nvSpPr>
          <p:cNvPr id="30" name="">
            <a:extLst xmlns:a="http://schemas.openxmlformats.org/drawingml/2006/main">
              <a:ext uri="{FF2B5EF4-FFF2-40B4-BE49-F238E27FC236}">
                <a16:creationId xmlns:a16="http://schemas.microsoft.com/office/drawing/2014/main" id="{925D925B-32EA-4016-BE93-21DFD1F94E1F}"/>
              </a:ext>
            </a:extLst>
          </p:cNvPr>
          <p:cNvSpPr>
            <a:spLocks xmlns:a="http://schemas.openxmlformats.org/drawingml/2006/main" noGrp="1"/>
          </p:cNvSpPr>
          <p:nvPr/>
        </p:nvSpPr>
        <p:spPr>
          <a:xfrm xmlns:a="http://schemas.openxmlformats.org/drawingml/2006/main">
            <a:off x="552450" y="6400800"/>
            <a:ext cx="11087100" cy="11430"/>
          </a:xfrm>
          <a:prstGeom xmlns:a="http://schemas.openxmlformats.org/drawingml/2006/main" prst="rect">
            <a:avLst/>
          </a:prstGeom>
          <a:solidFill xmlns:a="http://schemas.openxmlformats.org/drawingml/2006/main">
            <a:srgbClr val="D7DCCF"/>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D233ED85-28DA-46D4-989C-03393F9390E6}"/>
              </a:ext>
            </a:extLst>
          </p:cNvPr>
          <p:cNvSpPr>
            <a:spLocks xmlns:a="http://schemas.openxmlformats.org/drawingml/2006/main" noGrp="1"/>
          </p:cNvSpPr>
          <p:nvPr/>
        </p:nvSpPr>
        <p:spPr>
          <a:xfrm xmlns:a="http://schemas.openxmlformats.org/drawingml/2006/main">
            <a:off x="552450" y="6515100"/>
            <a:ext cx="914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00" b="0">
                <a:solidFill>
                  <a:srgbClr val="5F6B75"/>
                </a:solidFill>
                <a:latin typeface="Hiragino Sans"/>
                <a:ea typeface="Hiragino Sans"/>
                <a:cs typeface="Hiragino Sans"/>
              </a:defRPr>
            </a:pPr>
            <a:r>
              <a:rPr sz="600" b="0">
                <a:solidFill>
                  <a:srgbClr val="5F6B75"/>
                </a:solidFill>
                <a:latin typeface="Hiragino Sans"/>
                <a:ea typeface="Hiragino Sans"/>
                <a:cs typeface="Hiragino Sans"/>
              </a:rPr>
              <a:t>Source: paper/sections/tex/05_backup_optimization.tex; 06_dynamic_retention.tex; 07_numerical_examples.tex; analysis/paper_review_checks/results/manifest.json</a:t>
            </a:r>
          </a:p>
        </p:txBody>
      </p:sp>
      <p:sp>
        <p:nvSpPr>
          <p:cNvPr id="32" name="">
            <a:extLst xmlns:a="http://schemas.openxmlformats.org/drawingml/2006/main">
              <a:ext uri="{FF2B5EF4-FFF2-40B4-BE49-F238E27FC236}">
                <a16:creationId xmlns:a16="http://schemas.microsoft.com/office/drawing/2014/main" id="{7E42630C-87D8-41F0-88EC-8A7477D61270}"/>
              </a:ext>
            </a:extLst>
          </p:cNvPr>
          <p:cNvSpPr>
            <a:spLocks xmlns:a="http://schemas.openxmlformats.org/drawingml/2006/main" noGrp="1"/>
          </p:cNvSpPr>
          <p:nvPr/>
        </p:nvSpPr>
        <p:spPr>
          <a:xfrm xmlns:a="http://schemas.openxmlformats.org/drawingml/2006/main">
            <a:off x="11239500" y="6486525"/>
            <a:ext cx="400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00" b="1">
                <a:solidFill>
                  <a:srgbClr val="5F6B75"/>
                </a:solidFill>
                <a:latin typeface="Hiragino Sans"/>
                <a:ea typeface="Hiragino Sans"/>
                <a:cs typeface="Hiragino Sans"/>
              </a:defRPr>
            </a:pPr>
            <a:r>
              <a:rPr sz="900" b="1">
                <a:solidFill>
                  <a:srgbClr val="5F6B75"/>
                </a:solidFill>
                <a:latin typeface="Hiragino Sans"/>
                <a:ea typeface="Hiragino Sans"/>
                <a:cs typeface="Hiragino Sans"/>
              </a:rPr>
              <a:t>05</a:t>
            </a:r>
          </a:p>
        </p:txBody>
      </p:sp>
    </p:spTree>
    <p:extLst>
      <p:ext uri="{BB962C8B-B14F-4D97-AF65-F5344CB8AC3E}">
        <p14:creationId xmlns:p14="http://schemas.microsoft.com/office/powerpoint/2010/main" val="13709534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2026-05-05T07:58:36.3670000Z</dcterms:created>
  <dcterms:modified xsi:type="dcterms:W3CDTF">2026-05-05T07:58:36.3670000Z</dcterms:modified>
</coreProperties>
</file>