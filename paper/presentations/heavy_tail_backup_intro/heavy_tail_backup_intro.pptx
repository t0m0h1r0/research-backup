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36426ac80444388" /><Relationship Type="http://schemas.openxmlformats.org/officeDocument/2006/relationships/extended-properties" Target="/docProps/app.xml" Id="Ra4d3418d5b9d45e0" /><Relationship Type="http://schemas.openxmlformats.org/officeDocument/2006/relationships/officeDocument" Target="/ppt/presentation.xml" Id="R81da944440914d4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3ae1bafc3914534"/>
  </p:sldMasterIdLst>
  <p:notesMasterIdLst>
    <p:notesMasterId xmlns:r="http://schemas.openxmlformats.org/officeDocument/2006/relationships" r:id="Rc6bed5e2351c4148"/>
  </p:notesMasterIdLst>
  <p:sldIdLst>
    <p:sldId xmlns:r="http://schemas.openxmlformats.org/officeDocument/2006/relationships" id="256" r:id="Re353729e7b2e413e"/>
    <p:sldId xmlns:r="http://schemas.openxmlformats.org/officeDocument/2006/relationships" id="257" r:id="R5df928a0b4994bef"/>
    <p:sldId xmlns:r="http://schemas.openxmlformats.org/officeDocument/2006/relationships" id="258" r:id="R367b46890fd244b9"/>
    <p:sldId xmlns:r="http://schemas.openxmlformats.org/officeDocument/2006/relationships" id="259" r:id="Rbb243afbcbb14a02"/>
    <p:sldId xmlns:r="http://schemas.openxmlformats.org/officeDocument/2006/relationships" id="260" r:id="R36954361c96b442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ae1bafc3914534" /><Relationship Type="http://schemas.openxmlformats.org/officeDocument/2006/relationships/theme" Target="/ppt/theme/theme1.xml" Id="R6b079c0fa0d64a5d" /><Relationship Type="http://schemas.openxmlformats.org/officeDocument/2006/relationships/notesMaster" Target="/ppt/notesMasters/notesMaster1.xml" Id="Rc6bed5e2351c4148" /><Relationship Type="http://schemas.openxmlformats.org/officeDocument/2006/relationships/presProps" Target="/ppt/presProps.xml" Id="Rfe3622cdd5c74974" /><Relationship Type="http://schemas.openxmlformats.org/officeDocument/2006/relationships/viewProps" Target="/ppt/viewProps.xml" Id="Ra85dea70a93746a0" /><Relationship Type="http://schemas.openxmlformats.org/officeDocument/2006/relationships/tableStyles" Target="/ppt/tableStyles.xml" Id="Rccbf1832148342d9" /><Relationship Type="http://schemas.openxmlformats.org/officeDocument/2006/relationships/slide" Target="/ppt/slides/slide1.xml" Id="Re353729e7b2e413e" /><Relationship Type="http://schemas.openxmlformats.org/officeDocument/2006/relationships/slide" Target="/ppt/slides/slide2.xml" Id="R5df928a0b4994bef" /><Relationship Type="http://schemas.openxmlformats.org/officeDocument/2006/relationships/slide" Target="/ppt/slides/slide3.xml" Id="R367b46890fd244b9" /><Relationship Type="http://schemas.openxmlformats.org/officeDocument/2006/relationships/slide" Target="/ppt/slides/slide4.xml" Id="Rbb243afbcbb14a02" /><Relationship Type="http://schemas.openxmlformats.org/officeDocument/2006/relationships/slide" Target="/ppt/slides/slide5.xml" Id="R36954361c96b442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73522885f3a148f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e5736fe9d80437d" /><Relationship Type="http://schemas.openxmlformats.org/officeDocument/2006/relationships/notesMaster" Target="/ppt/notesMasters/notesMaster1.xml" Id="R8ae46c8192ca4e5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7b32ce64e524200" /><Relationship Type="http://schemas.openxmlformats.org/officeDocument/2006/relationships/notesMaster" Target="/ppt/notesMasters/notesMaster1.xml" Id="R700147160099445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d28943a41654766" /><Relationship Type="http://schemas.openxmlformats.org/officeDocument/2006/relationships/notesMaster" Target="/ppt/notesMasters/notesMaster1.xml" Id="Rb4782562bbc948a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89892bc20d94487" /><Relationship Type="http://schemas.openxmlformats.org/officeDocument/2006/relationships/notesMaster" Target="/ppt/notesMasters/notesMaster1.xml" Id="Rb6a9869c6647480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d16659b7c084899" /><Relationship Type="http://schemas.openxmlformats.org/officeDocument/2006/relationships/notesMaster" Target="/ppt/notesMasters/notesMaster1.xml" Id="R5b748f751b6f45b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9da64119b94568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fe6d703ed9d84a7d" /><Relationship Type="http://schemas.openxmlformats.org/officeDocument/2006/relationships/slideLayout" Target="/ppt/slideLayouts/slideLayout2.xml" Id="Rc26dcf882f564e6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26dcf882f564e6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81de7781754149" /><Relationship Type="http://schemas.openxmlformats.org/officeDocument/2006/relationships/notesSlide" Target="/ppt/notesSlides/notesSlide1.xml" Id="R71db9ddf1a20408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91f5d86defb4d16" /><Relationship Type="http://schemas.openxmlformats.org/officeDocument/2006/relationships/notesSlide" Target="/ppt/notesSlides/notesSlide2.xml" Id="R5d93f0029ec94d7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7580d4612124fb0" /><Relationship Type="http://schemas.openxmlformats.org/officeDocument/2006/relationships/notesSlide" Target="/ppt/notesSlides/notesSlide3.xml" Id="Rc9389b7f0e5748d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1dc48e885be4e86" /><Relationship Type="http://schemas.openxmlformats.org/officeDocument/2006/relationships/notesSlide" Target="/ppt/notesSlides/notesSlide4.xml" Id="R182e4452fe43459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cbe52e1fb2644aa" /><Relationship Type="http://schemas.openxmlformats.org/officeDocument/2006/relationships/notesSlide" Target="/ppt/notesSlides/notesSlide5.xml" Id="Rc804c72825f5406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26B060-036A-4B48-A7F3-A197B677E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ED1254-4665-4AC6-AB1B-49C17B32D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440F65-ACD1-4ADF-B129-C784A5D98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23850"/>
            <a:ext cx="666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rPr>
              <a:t>事故当日の問いから始める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6DCF24-7E8D-4E68-8332-27BF034A1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95275"/>
            <a:ext cx="609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A75F21-5DC4-4ACD-B9E4-DBED7F8EF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04850"/>
            <a:ext cx="10191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最新バックアップが、いちばん危ない復元先になる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F4C51F-5D02-4510-8F14-364BF6F6D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04950"/>
            <a:ext cx="10363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F6B7A"/>
                </a:solidFill>
                <a:latin typeface="Hiragino Sans"/>
                <a:ea typeface="Hiragino Sans"/>
                <a:cs typeface="Hiragino Sans"/>
              </a:rPr>
              <a:t>ランサムウェアは侵入後も静かに潜伏する。症状が出た日に戻すべきなのは、最新ではなく「侵入前」の世代。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93037E-0134-431D-B07E-B311F730C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38350"/>
            <a:ext cx="802005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6FA9A0-6E8A-488C-BE86-D32A9E219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669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復元候補の時系列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4786A7-C004-4B06-83D8-A82E229B1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333750"/>
            <a:ext cx="6343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E2A7DF-DF45-4CA0-B482-71876DA3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2766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36CC05-0F51-43F5-9205-E53D5906A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00450"/>
            <a:ext cx="914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12日前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0668D7-14D7-4AF1-8707-12A0D700A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924300"/>
            <a:ext cx="8001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0">
            <a:solidFill>
              <a:srgbClr val="DCFC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4F0108-4240-43A7-9A8A-D29B289CF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990975"/>
            <a:ext cx="6477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清浄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4C6A9D-9B06-4798-BD9B-2C4F86D7C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2766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C87D6E-5E96-418C-9A80-6926D6E61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600450"/>
            <a:ext cx="914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10日前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BD4E0F-702A-4E67-A780-AE4C9398E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924300"/>
            <a:ext cx="8001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0">
            <a:solidFill>
              <a:srgbClr val="DCFC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461B4F-B47C-4BE7-AF14-4E021A3DA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990975"/>
            <a:ext cx="6477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清浄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5521B8-367A-4256-90BF-B76B73A17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766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9409FE-62B5-4127-8F1E-673B3A042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600450"/>
            <a:ext cx="914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7日前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07A0CC-95A4-40A9-ADBE-BB4C2C700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924300"/>
            <a:ext cx="8001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4E2"/>
          </a:solidFill>
          <a:ln xmlns:a="http://schemas.openxmlformats.org/drawingml/2006/main" w="0">
            <a:solidFill>
              <a:srgbClr val="FEE4E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EE071C-93F3-4E67-BF54-44BEB445B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990975"/>
            <a:ext cx="6477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rPr>
              <a:t>汚染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6F3B2C-DAF3-44C6-8D62-3A00BCE1F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2766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303AEC-C46B-4479-9829-78610E6AF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600450"/>
            <a:ext cx="914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3日前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28339A-A51E-4FC1-804F-B14B739F6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924300"/>
            <a:ext cx="8001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4E2"/>
          </a:solidFill>
          <a:ln xmlns:a="http://schemas.openxmlformats.org/drawingml/2006/main" w="0">
            <a:solidFill>
              <a:srgbClr val="FEE4E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4AFABA-C952-4B81-9DC8-0A281868E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990975"/>
            <a:ext cx="6477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rPr>
              <a:t>汚染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071C2B-7A56-4EB4-8DEF-45888300C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766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0E1874-7BB5-4D77-8F7E-CB6714A84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600450"/>
            <a:ext cx="914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今日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047F97-9A7F-4B38-8A0A-50E7F8BE0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924300"/>
            <a:ext cx="8001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4E2"/>
          </a:solidFill>
          <a:ln xmlns:a="http://schemas.openxmlformats.org/drawingml/2006/main" w="0">
            <a:solidFill>
              <a:srgbClr val="FEE4E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D25C106-B8FD-4267-A316-0FFC03C3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990975"/>
            <a:ext cx="6477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rPr>
              <a:t>汚染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5F2C52A-9C0F-494A-B4C6-199B80209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781300"/>
            <a:ext cx="190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4E97227-12DA-4DE7-8F5E-A588F3398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476500"/>
            <a:ext cx="742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0">
            <a:solidFill>
              <a:srgbClr val="FEF3C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845F723-7109-4432-A8B9-5207D44E6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543175"/>
            <a:ext cx="59055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侵入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2525C4B-B33B-4B90-BE1E-FBFEA92A6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686050"/>
            <a:ext cx="190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E67D338-637B-4DCF-9837-39056C9A3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381250"/>
            <a:ext cx="1066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4E2"/>
          </a:solidFill>
          <a:ln xmlns:a="http://schemas.openxmlformats.org/drawingml/2006/main" w="0">
            <a:solidFill>
              <a:srgbClr val="FEE4E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E07EC6E-114C-422C-8950-F173AC4BE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447925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rPr>
              <a:t>発症・検知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BF4B6E8-8DB2-4596-BEE0-D9D26DD87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343400"/>
            <a:ext cx="53149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復旧判断は「最新へ戻す」ではなく</a:t>
            </a:r>
          </a:p>
          <a:p xmlns:a="http://schemas.openxmlformats.org/drawingml/2006/main">
            <a:pPr algn="ctr">
              <a:defRPr sz="18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「侵入前へ戻れるか」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25ED069-6535-40CA-A231-F8EE15322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038350"/>
            <a:ext cx="234315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9525">
            <a:solidFill>
              <a:srgbClr val="17171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FC6854A-2F27-471E-8D18-F0D96FFC3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790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本研究の入口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473D308-9C29-48D5-91D1-6817BCB35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895600"/>
            <a:ext cx="17907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EF3C7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FEF3C7"/>
                </a:solidFill>
                <a:latin typeface="Hiragino Sans"/>
                <a:ea typeface="Hiragino Sans"/>
                <a:cs typeface="Hiragino Sans"/>
              </a:rPr>
              <a:t>検知が速いか</a:t>
            </a:r>
          </a:p>
          <a:p xmlns:a="http://schemas.openxmlformats.org/drawingml/2006/main">
            <a:pPr algn="ctr">
              <a:defRPr sz="1650" b="1">
                <a:solidFill>
                  <a:srgbClr val="FEF3C7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FEF3C7"/>
                </a:solidFill>
                <a:latin typeface="Hiragino Sans"/>
                <a:ea typeface="Hiragino Sans"/>
                <a:cs typeface="Hiragino Sans"/>
              </a:rPr>
              <a:t>だけでは足りない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F74D714-6293-480A-B541-021933706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600450"/>
            <a:ext cx="419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82E475F-F546-4D0E-BE0A-7F7311432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095750"/>
            <a:ext cx="1790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CFBF1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CCFBF1"/>
                </a:solidFill>
                <a:latin typeface="Hiragino Sans"/>
                <a:ea typeface="Hiragino Sans"/>
                <a:cs typeface="Hiragino Sans"/>
              </a:rPr>
              <a:t>清浄な復元点が</a:t>
            </a:r>
          </a:p>
          <a:p xmlns:a="http://schemas.openxmlformats.org/drawingml/2006/main">
            <a:pPr algn="ctr">
              <a:defRPr sz="1500" b="1">
                <a:solidFill>
                  <a:srgbClr val="CCFBF1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CCFBF1"/>
                </a:solidFill>
                <a:latin typeface="Hiragino Sans"/>
                <a:ea typeface="Hiragino Sans"/>
                <a:cs typeface="Hiragino Sans"/>
              </a:rPr>
              <a:t>残っているかを見る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C25BFF9-D3C0-4F68-9FDA-4EA4E4951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419850"/>
            <a:ext cx="11239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252427B-85AF-4547-A977-89420BEC8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53200"/>
            <a:ext cx="11125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Sources: 01_introduction.tex; 02_model_formulation.tex. Assumption: backups taken after intrusion may be contaminated.</a:t>
            </a:r>
          </a:p>
        </p:txBody>
      </p:sp>
    </p:spTree>
    <p:extLst>
      <p:ext uri="{BB962C8B-B14F-4D97-AF65-F5344CB8AC3E}">
        <p14:creationId xmlns:p14="http://schemas.microsoft.com/office/powerpoint/2010/main" val="38741882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D762FAB-B5A5-43B2-A57A-17766F22C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37DCF6-A6EF-4A2A-A673-9B9B03D8E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D20F64-66BA-4C73-904C-4CC80F7AC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23850"/>
            <a:ext cx="666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rPr>
              <a:t>検知を復旧可能性で評価する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A271AE-4556-4DC5-877E-83280E4BF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95275"/>
            <a:ext cx="609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BAABE3-5474-4C1E-A912-826F4634D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04850"/>
            <a:ext cx="10191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良いアラートは、清浄世代が消える前に鳴る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2E5F30-313D-4DD0-8C83-77778EAB5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04950"/>
            <a:ext cx="10363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F6B7A"/>
                </a:solidFill>
                <a:latin typeface="Hiragino Sans"/>
                <a:ea typeface="Hiragino Sans"/>
                <a:cs typeface="Hiragino Sans"/>
              </a:rPr>
              <a:t>この論文は、検知時間をバックアップ保持窓に接続して、運用可能な評価軸へ変換する。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53F66B-02A1-4154-A939-AEADBFDD3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581025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273FD9-DBB6-4647-814E-5D52635F0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24100"/>
            <a:ext cx="2762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復旧可能性の判定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36B996-68BA-42A4-A5AF-81BFB099B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333750"/>
            <a:ext cx="400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D91592-3152-476A-A7AF-B960DB85E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333750"/>
            <a:ext cx="685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4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5540A6-3C39-4D1F-B392-7CA208303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905125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a_n(Δ) = nΔ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D276B1-1540-4326-8495-E4320BAE9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448050"/>
            <a:ext cx="4686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A18994-5BA4-47D4-9910-DD3161C96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219450"/>
            <a:ext cx="1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A8DD20-5803-4B43-BC86-D7C0A1C40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219450"/>
            <a:ext cx="1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D0A886-EE7D-403F-AC78-E88BCA338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67150"/>
            <a:ext cx="1352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0">
            <a:solidFill>
              <a:srgbClr val="DCFC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345569-C102-4CF5-BF54-E62314737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33825"/>
            <a:ext cx="120015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侵入前の清浄点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62CDCC-489B-469D-A691-890FB11D0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867150"/>
            <a:ext cx="952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4E2"/>
          </a:solidFill>
          <a:ln xmlns:a="http://schemas.openxmlformats.org/drawingml/2006/main" w="0">
            <a:solidFill>
              <a:srgbClr val="FEE4E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4E1B72-C3B5-4501-BA7A-DFAD365F6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933825"/>
            <a:ext cx="8001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rPr>
              <a:t>保持期限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F2EEE2-92E3-4DB0-9687-DD584B6B7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771900"/>
            <a:ext cx="2190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この間に検知できれば復旧可能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EDA496-1114-4CF9-8770-5971C8116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40055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rPr>
              <a:t>越えると全損扱い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FBDC73-32AC-444E-809A-B8782DC00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52800"/>
            <a:ext cx="419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6CCBAB-ED4B-409D-96CE-15FFA58E0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076450"/>
            <a:ext cx="394335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3F9B62-5A45-43FE-9053-18BFE6D7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32410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評価指標の翻訳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6A62B9A-7A8E-47C2-AF34-4121B782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9527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004374-FD15-463F-B0C1-A2D115295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876550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検知率だけでなく、検知時刻を見る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065595-2B0F-4322-8C4D-335679400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6195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2928093-14A9-457E-9A4A-935E2C6EA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543300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アラート後の行動を「復旧」に接続する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58F765F-7800-4D6F-B6EC-51CA08FDE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2862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CFF9CB7-240D-4651-A140-F8F1A85BD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210050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失敗条件を、清浄世代の保持期限として置く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E802FAE-7EB4-4041-BB16-62A7AD1ED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619750"/>
            <a:ext cx="5905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検知性能 → 復旧できたか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5A76D9-25A2-4089-90A8-C273CAA8E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419850"/>
            <a:ext cx="11239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7C122D5-A40C-4E76-9586-18A4B77E1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53200"/>
            <a:ext cx="11125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Sources: 02_model_formulation.tex; 08_conclusion.tex. Clean-backup horizon: a_n(Delta)=nDelta.</a:t>
            </a:r>
          </a:p>
        </p:txBody>
      </p:sp>
    </p:spTree>
    <p:extLst>
      <p:ext uri="{BB962C8B-B14F-4D97-AF65-F5344CB8AC3E}">
        <p14:creationId xmlns:p14="http://schemas.microsoft.com/office/powerpoint/2010/main" val="23382666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BDD6D6D-7C83-439F-97A3-E9BC9955C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3E75D9-764A-43A8-AB50-C26AFB2A7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2BF89F-49BB-4DBF-BCD9-ACE4EEA39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23850"/>
            <a:ext cx="666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rPr>
              <a:t>なぜ平均では危ないか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1D478C-27B6-4C78-8A4D-D4E789658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95275"/>
            <a:ext cx="609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41F2E9-5C6D-42D2-9210-8DF4B0B22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04850"/>
            <a:ext cx="10191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重尾潜伏では、まれな長期感染が保持窓を壊す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FBBC4D-52EC-470B-A3E1-B807EB49F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04950"/>
            <a:ext cx="10363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F6B7A"/>
                </a:solidFill>
                <a:latin typeface="Hiragino Sans"/>
                <a:ea typeface="Hiragino Sans"/>
                <a:cs typeface="Hiragino Sans"/>
              </a:rPr>
              <a:t>モデル上のポイントは、典型的な潜伏時間ではなく、長く残る尾が復旧不能リスクを作ること。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A3C71C-AA02-4648-AE03-A6583FEE2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485775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0DECF9-7536-422F-8ED6-19DB24227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2410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平均に合わせた保持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6C4C68-6E4F-4920-841C-714978C2D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191000"/>
            <a:ext cx="3638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38E341-B1CC-4922-BC92-544462FB3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676650"/>
            <a:ext cx="209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DF8569-FBD6-4F9F-BEA6-25FA569D2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333750"/>
            <a:ext cx="2095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34BEFA-115D-4168-9F6F-305789A6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048000"/>
            <a:ext cx="2095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56FEA9-D24D-4869-B00D-C725FD81D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95650"/>
            <a:ext cx="2095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9C9220-ABA6-4B97-9B80-F190D169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714750"/>
            <a:ext cx="209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2CADD7-11F6-49DA-A4B4-488913078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724150"/>
            <a:ext cx="1905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927B97-B033-4C19-86FC-0281CD070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81250"/>
            <a:ext cx="742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0">
            <a:solidFill>
              <a:srgbClr val="FEF3C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25C385-DD91-41E6-9087-2FA592875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447925"/>
            <a:ext cx="59055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保持窓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1D4AFF-7692-4DBD-888B-2C9E3C87E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514850"/>
            <a:ext cx="2190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D4ED8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D4ED8"/>
                </a:solidFill>
                <a:latin typeface="Hiragino Sans"/>
                <a:ea typeface="Hiragino Sans"/>
                <a:cs typeface="Hiragino Sans"/>
              </a:rPr>
              <a:t>典型例だけ見ると</a:t>
            </a:r>
          </a:p>
          <a:p xmlns:a="http://schemas.openxmlformats.org/drawingml/2006/main">
            <a:pPr algn="ctr">
              <a:defRPr sz="1350" b="1">
                <a:solidFill>
                  <a:srgbClr val="1D4ED8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D4ED8"/>
                </a:solidFill>
                <a:latin typeface="Hiragino Sans"/>
                <a:ea typeface="Hiragino Sans"/>
                <a:cs typeface="Hiragino Sans"/>
              </a:rPr>
              <a:t>十分に見える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F8F92B-816D-4687-8F17-8634B0294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076450"/>
            <a:ext cx="485775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D732FD-9B2A-42A5-8E51-8164BD989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32410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尾まで見る保持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FE6E13-8D60-46CF-B1B0-B0229A946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191000"/>
            <a:ext cx="3638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BC3DD1-7B87-4639-8AF3-BD54FC821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448050"/>
            <a:ext cx="2095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55CABA-231F-4181-BEEC-B87D7A198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067050"/>
            <a:ext cx="2095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F54229-9149-4DFC-A6CB-04CEC1B8A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24150"/>
            <a:ext cx="2095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3CE230-21DE-4C6F-9ECD-5FDAA65B0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76600"/>
            <a:ext cx="2095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6198FC-BA44-45DD-AA90-F2F2EBBBE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524250"/>
            <a:ext cx="2095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1F1CFE-037D-471C-AFE4-E4BFCD23E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790950"/>
            <a:ext cx="209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4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7D51FA-51B9-4D9D-9629-F66F74FE4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962400"/>
            <a:ext cx="209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4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F8AE24D-B1AD-4218-885E-09A2E428B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724150"/>
            <a:ext cx="1905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21C4760-79C5-46A2-98DE-23AB6CEA0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81250"/>
            <a:ext cx="742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0">
            <a:solidFill>
              <a:srgbClr val="FEF3C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2CED129-7122-4903-800C-FCE119032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447925"/>
            <a:ext cx="59055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保持窓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FD3D8D-2F93-48D3-B1A7-DC679C963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514850"/>
            <a:ext cx="2571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rPr>
              <a:t>少数の長期潜伏が</a:t>
            </a:r>
          </a:p>
          <a:p xmlns:a="http://schemas.openxmlformats.org/drawingml/2006/main">
            <a:pPr algn="ctr">
              <a:defRPr sz="1350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rPr>
              <a:t>清浄世代を押し出す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163A873-2421-4A3E-ABC0-8293361B8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600700"/>
            <a:ext cx="9525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研究上の意味：保持境界を入れて、長い尾を復旧設計の中で扱う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C5DD606-DF8E-4462-AC17-264CAB982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419850"/>
            <a:ext cx="11239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B842522-1FCF-4F72-A801-1FE29BF47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53200"/>
            <a:ext cx="11125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Sources: 01_introduction.tex; 04_tauber_transition.tex. Pareto dwell time is a model assumption, not an empirical claim in this deck.</a:t>
            </a:r>
          </a:p>
        </p:txBody>
      </p:sp>
    </p:spTree>
    <p:extLst>
      <p:ext uri="{BB962C8B-B14F-4D97-AF65-F5344CB8AC3E}">
        <p14:creationId xmlns:p14="http://schemas.microsoft.com/office/powerpoint/2010/main" val="85318689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A3AF163-F3C4-4AF1-9626-ECFF71360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49D0EC-D8C4-4CE0-B857-C3230722D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28B75B-E0B4-4C38-82E7-E0DE4A822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23850"/>
            <a:ext cx="666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rPr>
              <a:t>論文の答えを運用語へ直す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899F8F-D7BC-4083-BE34-7210E10AA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95275"/>
            <a:ext cx="609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D5D108-D1C8-42F5-8B58-45FCDDFCD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04850"/>
            <a:ext cx="10191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まず決めるのは、間隔ではなく清浄復旧ホライズン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F90C38-AB62-42D5-BFED-CB38A3DF6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04950"/>
            <a:ext cx="10363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F6B7A"/>
                </a:solidFill>
                <a:latin typeface="Hiragino Sans"/>
                <a:ea typeface="Hiragino Sans"/>
                <a:cs typeface="Hiragino Sans"/>
              </a:rPr>
              <a:t>式は「何日おきに取るか」だけでなく、「何日前まで清浄に戻れるべきか」を決める読み方ができる。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5E727B-4373-4B18-9FC7-6D9D1094A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51816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A3E40B-F648-48BE-B776-273D74BEA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812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設計式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1E6E52-65DD-4837-A7F0-F99863ED0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971800"/>
            <a:ext cx="3619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a* = nΔ*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43F174-3FD7-49CB-AEC1-604A3E173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81400"/>
            <a:ext cx="4419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= [L − (d₁τ_R + d₀)] / (d₁κ_s)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F77C77-23D9-4800-BE67-A68045477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400550"/>
            <a:ext cx="2381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0">
            <a:solidFill>
              <a:srgbClr val="CCFBF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C4A8D4-837C-4FAA-80FC-41BF54C3B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467225"/>
            <a:ext cx="222885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rPr>
              <a:t>a*: 残すべき清浄期間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72C053-EC49-4460-B14E-4F6019E04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95500"/>
            <a:ext cx="512445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FF37D2-5384-4069-8EEA-D77D765B7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8125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式の読み筋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1E8091-1081-43AF-AC80-E81EC26A2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9908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FC180F-F44F-4DF5-8A3C-9F218C13D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914650"/>
            <a:ext cx="3905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全損 L が大きいほど、古い清浄点を残す価値が増える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B32B61-B36A-486B-88BA-83A161CB6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7338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7BDCEF-CAFC-4295-9EFA-4CDC06EFF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657600"/>
            <a:ext cx="3905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復旧時間 τ_R と固定費 d₀ は、復旧できても残る損失を表す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AA9DEB-589E-413B-A87C-7838A63D1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4767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6E0C22-99AE-43E6-8934-FCCDF9DEF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400550"/>
            <a:ext cx="3905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スキャン負荷 κ_s は、長く戻るほど増える運用コストを表す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139FD3-3FCA-4D68-B04B-DB103553F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638800"/>
            <a:ext cx="8953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n を増やせるなら、同じ a* を短い Δ で実装できる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CD410C-223F-46FC-B3E2-451B6FD39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419850"/>
            <a:ext cx="11239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8187AD-0CD3-4C39-AE60-91B14E659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53200"/>
            <a:ext cx="11125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Sources: 05_backup_optimization.tex; 08_conclusion.tex. Interior formula requires stated admissible design conditions.</a:t>
            </a:r>
          </a:p>
        </p:txBody>
      </p:sp>
    </p:spTree>
    <p:extLst>
      <p:ext uri="{BB962C8B-B14F-4D97-AF65-F5344CB8AC3E}">
        <p14:creationId xmlns:p14="http://schemas.microsoft.com/office/powerpoint/2010/main" val="134506850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F01C1BD-6F2C-4B99-81E1-0EFCED33A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43009C-4993-4324-98FD-386323CFC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B691DF-0680-414A-B063-DD769893D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23850"/>
            <a:ext cx="666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rPr>
              <a:t>運用として何が得られるか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DDA2AC-FD82-40D4-B112-56EE57A1E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95275"/>
            <a:ext cx="609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0BEAC0-CECA-4033-8735-B53504599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04850"/>
            <a:ext cx="10191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バックアップは後始末ではなく、防御設計の入力になる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3E93A1-5821-4B63-BE27-5D1B457E8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04950"/>
            <a:ext cx="10363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F6B7A"/>
                </a:solidFill>
                <a:latin typeface="Hiragino Sans"/>
                <a:ea typeface="Hiragino Sans"/>
                <a:cs typeface="Hiragino Sans"/>
              </a:rPr>
              <a:t>研究の価値は、検知・復旧・保持を別々に最適化せず、同じ損失会計で会話できるようにすること。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52F8F1-1922-45AD-86A8-06412735B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234315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38A303-0666-430D-8387-3D37492D1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765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EE4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BD5AC3-76B4-4D21-A727-3CB5985B2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52700"/>
            <a:ext cx="438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7B29B2-2AB9-41CC-8041-335566EB9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57450"/>
            <a:ext cx="1257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損失を置く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7B17B7-D79E-447A-AEDE-DEDADAFCE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19450"/>
            <a:ext cx="1809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全損 L、停止損失 d₁、復旧費 d₀ を見積もる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E9ABAE-008A-431A-A2D6-A19BA0392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076575"/>
            <a:ext cx="419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EFDF83-9489-40B1-BDF4-E4FDE84E1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209800"/>
            <a:ext cx="234315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2D3682-5013-4AD7-93EC-0D9DC2B6B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4765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EF8FC2-B3A9-49E0-AB97-5ACE0BB41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552700"/>
            <a:ext cx="438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FD3C18-6B70-4C39-BEF4-A02C53CF8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457450"/>
            <a:ext cx="1257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復旧を測る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ACD6D0-F792-440A-A004-56127A067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219450"/>
            <a:ext cx="1809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隔離・クローン・再デプロイで τ_R を置く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11CB75-5C23-4C17-9529-7CD04A903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076575"/>
            <a:ext cx="419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FC343D-FE2A-47FD-BF47-C780182B4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09800"/>
            <a:ext cx="234315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8386CF-D8C8-40EF-B5FB-F2B6DE54E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765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E73B02-C6E9-4E9D-8F91-9C9D840F5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52700"/>
            <a:ext cx="438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96C21E-EC68-4921-8A44-7BE3D2155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57450"/>
            <a:ext cx="1257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ホライズンを決める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4CACEF-F767-4B63-9A97-577D598F3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219450"/>
            <a:ext cx="1809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a* を決め、n と Δ に分解する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525282-AA35-40C9-A6D8-422B2815C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076575"/>
            <a:ext cx="419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DE2F51-E80D-4ABD-AA64-DF6361566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209800"/>
            <a:ext cx="234315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F8DC1B3-E3D0-4E65-A9D3-1062B00CE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4765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BCBD49-9CAD-4E99-AF43-E3FA91E2C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552700"/>
            <a:ext cx="438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D28D9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6D28D9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35BA832-5913-467B-89C3-3E2838B13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457450"/>
            <a:ext cx="1257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必要時に伸ばす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7F38221-16F1-4DBF-B1B1-AEC01919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219450"/>
            <a:ext cx="1809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リスク上昇時は n_ext を整数で評価する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9DC5BD0-B821-41D8-B839-CAC93444A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800600"/>
            <a:ext cx="9505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9095F0A-9F66-4343-9687-8F690FA14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29200"/>
            <a:ext cx="8915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数値例はスケール確認。実務値は、自組織の損失・復旧時間・検知前提で再計算する。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5B9C93D-5DC4-44AD-A477-664C91465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8674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0">
            <a:solidFill>
              <a:srgbClr val="DBEAF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3BFD196-48D5-4E47-8FC4-F34F34520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5934075"/>
            <a:ext cx="93345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D4ED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D4ED8"/>
                </a:solidFill>
                <a:latin typeface="Hiragino Sans"/>
                <a:ea typeface="Hiragino Sans"/>
                <a:cs typeface="Hiragino Sans"/>
              </a:rPr>
              <a:t>検知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9EBA09C-F1B4-4B4F-B553-BE50551F8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58674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0">
            <a:solidFill>
              <a:srgbClr val="FEF3C7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A781C93-2DF6-4A0D-B63F-8E038CCB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934075"/>
            <a:ext cx="93345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復旧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1EE3C79-67C3-4138-8DF7-22E7DD2A3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8674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0">
            <a:solidFill>
              <a:srgbClr val="CCFBF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31F49E6-10A1-49B3-B413-7D66B3EED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934075"/>
            <a:ext cx="93345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rPr>
              <a:t>保持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6218318-C096-4250-9AF8-3F6F88862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915025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を同じ設計問題に置く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22C2673-A73C-4514-BFEE-8C8DC1E88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419850"/>
            <a:ext cx="11239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B60C562-FF74-4E7D-934E-9242F191F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53200"/>
            <a:ext cx="11125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Sources: 05_backup_optimization.tex; 06_dynamic_retention.tex; 07_numerical_examples.tex; docs/evidence/heavy_tail_backup_source_note.md.</a:t>
            </a:r>
          </a:p>
        </p:txBody>
      </p:sp>
    </p:spTree>
    <p:extLst>
      <p:ext uri="{BB962C8B-B14F-4D97-AF65-F5344CB8AC3E}">
        <p14:creationId xmlns:p14="http://schemas.microsoft.com/office/powerpoint/2010/main" val="3772610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2026-05-06T04:34:39.8690000Z</dcterms:created>
  <dcterms:modified xsi:type="dcterms:W3CDTF">2026-05-06T04:34:39.8690000Z</dcterms:modified>
</coreProperties>
</file>