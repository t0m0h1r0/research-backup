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475d3a5f8864d45" /><Relationship Type="http://schemas.openxmlformats.org/officeDocument/2006/relationships/extended-properties" Target="/docProps/app.xml" Id="R861b080e9cdc41cd" /><Relationship Type="http://schemas.openxmlformats.org/officeDocument/2006/relationships/officeDocument" Target="/ppt/presentation.xml" Id="R41177db9a7a347a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970b19ae99f49e9"/>
  </p:sldMasterIdLst>
  <p:notesMasterIdLst>
    <p:notesMasterId xmlns:r="http://schemas.openxmlformats.org/officeDocument/2006/relationships" r:id="Ra242a591518d4297"/>
  </p:notesMasterIdLst>
  <p:sldIdLst>
    <p:sldId xmlns:r="http://schemas.openxmlformats.org/officeDocument/2006/relationships" id="256" r:id="R96467514c1ba4975"/>
    <p:sldId xmlns:r="http://schemas.openxmlformats.org/officeDocument/2006/relationships" id="257" r:id="R4c2795f212bf4c8a"/>
    <p:sldId xmlns:r="http://schemas.openxmlformats.org/officeDocument/2006/relationships" id="258" r:id="Rcf5f6be4f85544e1"/>
    <p:sldId xmlns:r="http://schemas.openxmlformats.org/officeDocument/2006/relationships" id="259" r:id="Rb58692dd01f14a53"/>
    <p:sldId xmlns:r="http://schemas.openxmlformats.org/officeDocument/2006/relationships" id="260" r:id="R77bcee06887e437d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970b19ae99f49e9" /><Relationship Type="http://schemas.openxmlformats.org/officeDocument/2006/relationships/theme" Target="/ppt/theme/theme1.xml" Id="R994e686d9fda4260" /><Relationship Type="http://schemas.openxmlformats.org/officeDocument/2006/relationships/notesMaster" Target="/ppt/notesMasters/notesMaster1.xml" Id="Ra242a591518d4297" /><Relationship Type="http://schemas.openxmlformats.org/officeDocument/2006/relationships/presProps" Target="/ppt/presProps.xml" Id="R8a540ca34c6f4702" /><Relationship Type="http://schemas.openxmlformats.org/officeDocument/2006/relationships/viewProps" Target="/ppt/viewProps.xml" Id="R02c440582da14fd8" /><Relationship Type="http://schemas.openxmlformats.org/officeDocument/2006/relationships/tableStyles" Target="/ppt/tableStyles.xml" Id="R4d0d6d1385244c4f" /><Relationship Type="http://schemas.openxmlformats.org/officeDocument/2006/relationships/slide" Target="/ppt/slides/slide1.xml" Id="R96467514c1ba4975" /><Relationship Type="http://schemas.openxmlformats.org/officeDocument/2006/relationships/slide" Target="/ppt/slides/slide2.xml" Id="R4c2795f212bf4c8a" /><Relationship Type="http://schemas.openxmlformats.org/officeDocument/2006/relationships/slide" Target="/ppt/slides/slide3.xml" Id="Rcf5f6be4f85544e1" /><Relationship Type="http://schemas.openxmlformats.org/officeDocument/2006/relationships/slide" Target="/ppt/slides/slide4.xml" Id="Rb58692dd01f14a53" /><Relationship Type="http://schemas.openxmlformats.org/officeDocument/2006/relationships/slide" Target="/ppt/slides/slide5.xml" Id="R77bcee06887e437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8a706f87fbc6472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7d10c278005406b" /><Relationship Type="http://schemas.openxmlformats.org/officeDocument/2006/relationships/notesMaster" Target="/ppt/notesMasters/notesMaster1.xml" Id="R3f172c444d9d4a0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30b4e39ea58433f" /><Relationship Type="http://schemas.openxmlformats.org/officeDocument/2006/relationships/notesMaster" Target="/ppt/notesMasters/notesMaster1.xml" Id="R89b64e4941db4a1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f0277d981f04328" /><Relationship Type="http://schemas.openxmlformats.org/officeDocument/2006/relationships/notesMaster" Target="/ppt/notesMasters/notesMaster1.xml" Id="R5c8c93d219ab4db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945d35099ff458e" /><Relationship Type="http://schemas.openxmlformats.org/officeDocument/2006/relationships/notesMaster" Target="/ppt/notesMasters/notesMaster1.xml" Id="Rcf4b1ff79ccc40a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7de458a61164d66" /><Relationship Type="http://schemas.openxmlformats.org/officeDocument/2006/relationships/notesMaster" Target="/ppt/notesMasters/notesMaster1.xml" Id="Rd1d54851b28b4bb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d4a434df59a4669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5206c0221598411b" /><Relationship Type="http://schemas.openxmlformats.org/officeDocument/2006/relationships/slideLayout" Target="/ppt/slideLayouts/slideLayout2.xml" Id="R86ab11ed5ac14d7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6ab11ed5ac14d7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d67222e88bc425e" /><Relationship Type="http://schemas.openxmlformats.org/officeDocument/2006/relationships/notesSlide" Target="/ppt/notesSlides/notesSlide1.xml" Id="R9351471815d9413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ad2a68b57e6413a" /><Relationship Type="http://schemas.openxmlformats.org/officeDocument/2006/relationships/notesSlide" Target="/ppt/notesSlides/notesSlide2.xml" Id="R05e48fb946bb4e2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655dd8f96164680" /><Relationship Type="http://schemas.openxmlformats.org/officeDocument/2006/relationships/notesSlide" Target="/ppt/notesSlides/notesSlide3.xml" Id="Rf854dab3a751408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2851863a6774c91" /><Relationship Type="http://schemas.openxmlformats.org/officeDocument/2006/relationships/notesSlide" Target="/ppt/notesSlides/notesSlide4.xml" Id="R9b09bc53e55f456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1e637bba8be4ae7" /><Relationship Type="http://schemas.openxmlformats.org/officeDocument/2006/relationships/notesSlide" Target="/ppt/notesSlides/notesSlide5.xml" Id="R7f2e5183c3d344c7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096FA08-6B73-48E4-AAF6-DC7938B11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6FB8B7-DF15-46D0-80E4-708DFC5E3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33637D-3930-4562-8A6A-BB15529C4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04800"/>
            <a:ext cx="666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F766E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0F766E"/>
                </a:solidFill>
                <a:latin typeface="Hiragino Sans"/>
                <a:ea typeface="Hiragino Sans"/>
                <a:cs typeface="Hiragino Sans"/>
              </a:rPr>
              <a:t>事故当日の問いから始める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223D16-92C3-4A86-9EC8-8CDFF475E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276225"/>
            <a:ext cx="609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029EA3-C8EC-4351-89FB-0BBFB2860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704850"/>
            <a:ext cx="10191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最新バックアップが、危ない復元先になりうる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F03F08-548D-4783-93D4-BF78CEF0B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04950"/>
            <a:ext cx="103632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F6B7A"/>
                </a:solidFill>
                <a:latin typeface="Hiragino Sans"/>
                <a:ea typeface="Hiragino Sans"/>
                <a:cs typeface="Hiragino Sans"/>
              </a:rPr>
              <a:t>本モデルでは、侵入後に潜伏するケースを扱う。症状が出た日に見るべきなのは、最新ではなく「推定した侵入前」の清浄候補。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4D7BE7-2049-4AAA-8B5E-5C887D379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00250"/>
            <a:ext cx="10801350" cy="3295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5E59C3-396C-445E-8EDB-389C77DC0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66950"/>
            <a:ext cx="533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1575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復元候補の時系列：最新より、侵入前の清浄候補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497AF7-393D-4196-83FF-9429847E3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705100"/>
            <a:ext cx="670560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4E2">
              <a:alpha val="53333"/>
            </a:srgbClr>
          </a:solidFill>
          <a:ln xmlns:a="http://schemas.openxmlformats.org/drawingml/2006/main" w="9525">
            <a:solidFill>
              <a:srgbClr val="B4231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5E7B43-5B77-41D2-96B6-F9581DE31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838450"/>
            <a:ext cx="5029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B42318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B42318"/>
                </a:solidFill>
                <a:latin typeface="Hiragino Sans"/>
                <a:ea typeface="Hiragino Sans"/>
                <a:cs typeface="Hiragino Sans"/>
              </a:rPr>
              <a:t>侵入後に取得された世代は、見た目が正常でも要注意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82C2A4-7824-41B4-9F7D-116C18C51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448050"/>
            <a:ext cx="88582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D44B20-1315-409D-A0F8-0136F935A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4004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D1D086-AFD7-466B-8B3E-CBA63DB54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73380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12日前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EBD19C-E75F-4416-AB3B-7EEA1B171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57650"/>
            <a:ext cx="1104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0">
            <a:solidFill>
              <a:srgbClr val="DCFCE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521D3A-C08D-470A-A94D-3D5FA5B7C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124325"/>
            <a:ext cx="9525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清浄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A702A0-3E4E-4859-9920-09AF2FFC9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4004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ED8AA2F-66B4-4262-ADFD-6DB267C16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373380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10日前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291CF7-E3BA-4CDA-9CE9-1BCA65B2B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057650"/>
            <a:ext cx="1104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0">
            <a:solidFill>
              <a:srgbClr val="DCFC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E764A4-2DCC-4D40-8FA7-B72667F58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124325"/>
            <a:ext cx="9525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清浄候補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823C77-5B2A-4C02-9076-34585C3FA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4004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FF06C04-6578-4FDF-9D06-38AA5E024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73380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7日前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9533EAF-5CB1-4C37-B7A4-58A9E28B6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057650"/>
            <a:ext cx="1104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4E2"/>
          </a:solidFill>
          <a:ln xmlns:a="http://schemas.openxmlformats.org/drawingml/2006/main" w="0">
            <a:solidFill>
              <a:srgbClr val="FEE4E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4017A17-5480-45FD-8089-87E765D14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124325"/>
            <a:ext cx="9525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B42318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B42318"/>
                </a:solidFill>
                <a:latin typeface="Hiragino Sans"/>
                <a:ea typeface="Hiragino Sans"/>
                <a:cs typeface="Hiragino Sans"/>
              </a:rPr>
              <a:t>汚染疑い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01F370E-1C68-4C09-874D-993A8F4B0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4004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0C8591F-FC90-48A5-A3F9-D395265E0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3380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3日前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3C86A26-EC53-49F3-BA48-9158B2520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057650"/>
            <a:ext cx="1104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4E2"/>
          </a:solidFill>
          <a:ln xmlns:a="http://schemas.openxmlformats.org/drawingml/2006/main" w="0">
            <a:solidFill>
              <a:srgbClr val="FEE4E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E6D2F0F-1290-456B-9946-FB6EF4DE2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124325"/>
            <a:ext cx="9525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B42318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B42318"/>
                </a:solidFill>
                <a:latin typeface="Hiragino Sans"/>
                <a:ea typeface="Hiragino Sans"/>
                <a:cs typeface="Hiragino Sans"/>
              </a:rPr>
              <a:t>汚染疑い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6FE3E9A-12A2-432B-AE5E-61E4CFAB5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4004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593E5B0-2046-4F2D-AE6D-1D8040515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73380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今日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E06AF58-65E5-4872-B5B0-6166673A1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057650"/>
            <a:ext cx="1104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4E2"/>
          </a:solidFill>
          <a:ln xmlns:a="http://schemas.openxmlformats.org/drawingml/2006/main" w="0">
            <a:solidFill>
              <a:srgbClr val="FEE4E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7FA6AC3-BF5B-4B8D-A8C7-7BCA96528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124325"/>
            <a:ext cx="9525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B42318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B42318"/>
                </a:solidFill>
                <a:latin typeface="Hiragino Sans"/>
                <a:ea typeface="Hiragino Sans"/>
                <a:cs typeface="Hiragino Sans"/>
              </a:rPr>
              <a:t>最新だが危険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9D5FCE6-6441-433B-8C2E-A97098773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552700"/>
            <a:ext cx="38100" cy="2152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049C692-25AE-4CD9-B325-3A97F1B09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533650"/>
            <a:ext cx="9715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0">
            <a:solidFill>
              <a:srgbClr val="FEF3C7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A2A98B8-2C5C-4D7E-92F7-3F90A72EB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600325"/>
            <a:ext cx="81915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rPr>
              <a:t>推定侵入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56A5F5E-3980-4AFB-B13B-59EB2D229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2552700"/>
            <a:ext cx="47625" cy="2152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632B630-BBCF-45DF-AAEE-C78173A7A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247900"/>
            <a:ext cx="1066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4E2"/>
          </a:solidFill>
          <a:ln xmlns:a="http://schemas.openxmlformats.org/drawingml/2006/main" w="0">
            <a:solidFill>
              <a:srgbClr val="FEE4E2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1A62F42-B743-441F-87C0-C1EAF2532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314575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B42318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B42318"/>
                </a:solidFill>
                <a:latin typeface="Hiragino Sans"/>
                <a:ea typeface="Hiragino Sans"/>
                <a:cs typeface="Hiragino Sans"/>
              </a:rPr>
              <a:t>発症・検知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A6E4919-0A18-432F-AE00-1C4C51802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048000"/>
            <a:ext cx="628650" cy="628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15803D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0D32151-340C-43FC-9236-FBFC9D000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6075" y="3105150"/>
            <a:ext cx="4000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5803D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15803D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5990AD1-B21D-4E39-950E-A458D6F9C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048000"/>
            <a:ext cx="628650" cy="628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B4231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3291CB0-4913-4B85-AFFD-7C33CE7EF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7275" y="3095625"/>
            <a:ext cx="4191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B42318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B42318"/>
                </a:solidFill>
                <a:latin typeface="Aptos"/>
                <a:ea typeface="Aptos"/>
                <a:cs typeface="Aptos"/>
              </a:rPr>
              <a:t>×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EBF0B8B-2472-4057-930F-28E27B7C8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4610100"/>
            <a:ext cx="6896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165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復旧判断は「最新へ戻す」ではなく</a:t>
            </a:r>
          </a:p>
          <a:p xmlns:a="http://schemas.openxmlformats.org/drawingml/2006/main">
            <a:pPr algn="ctr">
              <a:defRPr sz="165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165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「推定した侵入前へ戻れるか」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03E7008-B381-44E0-8361-88A6C6DB5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562600"/>
            <a:ext cx="84582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E9FF76B-2902-4D75-9FEF-36E1BBBDE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715000"/>
            <a:ext cx="781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復元前に清浄性を確認する。研究の入口は「清浄な復元点が残っているか」。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7D5E5B7-B7BB-4D73-973E-813D3FC7D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419850"/>
            <a:ext cx="112395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E0E512F-6891-4FA5-BD01-426750734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53200"/>
            <a:ext cx="11125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Sources: 01_introduction.tex; 02_model_formulation.tex. Model boundary: post-intrusion backups may be contaminated.</a:t>
            </a:r>
          </a:p>
        </p:txBody>
      </p:sp>
    </p:spTree>
    <p:extLst>
      <p:ext uri="{BB962C8B-B14F-4D97-AF65-F5344CB8AC3E}">
        <p14:creationId xmlns:p14="http://schemas.microsoft.com/office/powerpoint/2010/main" val="139928778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AD8F615-0C4A-460B-8A57-A26951DA9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038ED4-EE6D-4996-BEF7-0DE4C8975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84E87E-CA95-4999-BADB-FB20B32D4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04800"/>
            <a:ext cx="666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F766E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0F766E"/>
                </a:solidFill>
                <a:latin typeface="Hiragino Sans"/>
                <a:ea typeface="Hiragino Sans"/>
                <a:cs typeface="Hiragino Sans"/>
              </a:rPr>
              <a:t>検知を復旧可能性で評価する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C2C866-55AD-4712-85C4-7C7C284BF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276225"/>
            <a:ext cx="609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75FA99-62D7-4CC5-9F94-366720E68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704850"/>
            <a:ext cx="10191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良いアラートは、清浄世代が消える前に鳴る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F4DA08-8752-425F-ABEC-196E50E35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04950"/>
            <a:ext cx="103632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F6B7A"/>
                </a:solidFill>
                <a:latin typeface="Hiragino Sans"/>
                <a:ea typeface="Hiragino Sans"/>
                <a:cs typeface="Hiragino Sans"/>
              </a:rPr>
              <a:t>アラート時刻を、復旧できる／できないの設計判定に翻訳する。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22AF05-E631-4CBD-A6BF-1B57ACF72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000250"/>
            <a:ext cx="82677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255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検知性能  →  清浄復旧できたか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618ED2-62ED-4A55-BD6C-5654E5411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0"/>
            <a:ext cx="10839450" cy="2362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593BE2-9CE5-446A-BAA8-3D42FB260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009900"/>
            <a:ext cx="3905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aₙ(Δ) = nΔ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5972F0-0850-41A1-BAD6-90F973F5A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943350"/>
            <a:ext cx="7219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70560B-B148-4C7C-8813-96BA645BA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943350"/>
            <a:ext cx="1714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4E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144969-C92F-4053-AB7D-DF4C2211C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114800"/>
            <a:ext cx="89344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7C8732-062B-4716-A510-D38DA2CB2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714750"/>
            <a:ext cx="381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9C313D-0FF1-4D4E-A5CA-DA19AC666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714750"/>
            <a:ext cx="381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378B2B-28A2-472F-A403-465201F43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648200"/>
            <a:ext cx="1466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0">
            <a:solidFill>
              <a:srgbClr val="DCFC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F88F52-F478-41A7-AA9E-AADF9A648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14875"/>
            <a:ext cx="131445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侵入前の清浄候補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4C80520-8660-4D82-ADC0-199990886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648200"/>
            <a:ext cx="990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4E2"/>
          </a:solidFill>
          <a:ln xmlns:a="http://schemas.openxmlformats.org/drawingml/2006/main" w="0">
            <a:solidFill>
              <a:srgbClr val="FEE4E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8C646D-5948-4A37-9060-ECD3B4993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714875"/>
            <a:ext cx="8382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B42318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B42318"/>
                </a:solidFill>
                <a:latin typeface="Hiragino Sans"/>
                <a:ea typeface="Hiragino Sans"/>
                <a:cs typeface="Hiragino Sans"/>
              </a:rPr>
              <a:t>保持期限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F0B43E9-7A73-406A-9305-CC686A687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343400"/>
            <a:ext cx="5219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検知時点の感染後経過時間が nΔ 内なら、復旧可能として扱う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989B46B-718D-4249-B841-CF3D94118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219700"/>
            <a:ext cx="3733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B42318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B42318"/>
                </a:solidFill>
                <a:latin typeface="Hiragino Sans"/>
                <a:ea typeface="Hiragino Sans"/>
                <a:cs typeface="Hiragino Sans"/>
              </a:rPr>
              <a:t>この設計では清浄復旧に失敗（全損相当）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7AB0A31-F57F-4EC7-BC3B-A8D7FB0E3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429250"/>
            <a:ext cx="1752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0">
            <a:solidFill>
              <a:srgbClr val="DBEAF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43177A8-CDC9-436D-8179-637969DD5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5495925"/>
            <a:ext cx="16002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D4ED8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1D4ED8"/>
                </a:solidFill>
                <a:latin typeface="Hiragino Sans"/>
                <a:ea typeface="Hiragino Sans"/>
                <a:cs typeface="Hiragino Sans"/>
              </a:rPr>
              <a:t>n = 保持する世代数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B24BFD4-05F4-4C7E-8957-DFB72523D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5429250"/>
            <a:ext cx="1866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0">
            <a:solidFill>
              <a:srgbClr val="FEF3C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A234BAC-66B1-4D01-BDC5-B9718CC70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495925"/>
            <a:ext cx="17145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rPr>
              <a:t>Δ = バックアップ間隔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FE3FCB4-8BB9-4215-8E8B-EFB2820A7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429250"/>
            <a:ext cx="22669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FBF1"/>
          </a:solidFill>
          <a:ln xmlns:a="http://schemas.openxmlformats.org/drawingml/2006/main" w="0">
            <a:solidFill>
              <a:srgbClr val="CCFBF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73B25CF-50A8-4667-B388-757E958A1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5495925"/>
            <a:ext cx="211455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F766E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0F766E"/>
                </a:solidFill>
                <a:latin typeface="Hiragino Sans"/>
                <a:ea typeface="Hiragino Sans"/>
                <a:cs typeface="Hiragino Sans"/>
              </a:rPr>
              <a:t>aₙ = 清浄復旧ホライズン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C2EFECC-D2FD-4FD9-A6EF-7E94E8793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429250"/>
            <a:ext cx="16954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0">
            <a:solidFill>
              <a:srgbClr val="F1F5F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EC66B4D-89F4-459A-8258-BFCA93C8C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5495925"/>
            <a:ext cx="154305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5F6B7A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5F6B7A"/>
                </a:solidFill>
                <a:latin typeface="Hiragino Sans"/>
                <a:ea typeface="Hiragino Sans"/>
                <a:cs typeface="Hiragino Sans"/>
              </a:rPr>
              <a:t>評価領域: nΔ &gt; tₘ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1BDC64E-7B69-4EFB-A7B6-9E6F76C79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419850"/>
            <a:ext cx="112395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15DE1DF-3D7B-4168-B070-9831797F9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53200"/>
            <a:ext cx="11125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Sources: 02_model_formulation.tex; 08_conclusion.tex. Recoverability is modeled through infection age and clean-backup horizon.</a:t>
            </a:r>
          </a:p>
        </p:txBody>
      </p:sp>
    </p:spTree>
    <p:extLst>
      <p:ext uri="{BB962C8B-B14F-4D97-AF65-F5344CB8AC3E}">
        <p14:creationId xmlns:p14="http://schemas.microsoft.com/office/powerpoint/2010/main" val="116425229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C4F26B2-B63B-44DB-9B4A-66721A0EE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849B93-7CAF-4A91-AD5A-0F9971D96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2206F8-E365-4029-A002-7B7A941B6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04800"/>
            <a:ext cx="666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F766E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0F766E"/>
                </a:solidFill>
                <a:latin typeface="Hiragino Sans"/>
                <a:ea typeface="Hiragino Sans"/>
                <a:cs typeface="Hiragino Sans"/>
              </a:rPr>
              <a:t>なぜ平均では危ないか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B4E38E-E3C5-48F3-9CB7-DB94EBF6E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276225"/>
            <a:ext cx="609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CAAC3F-0A2B-483F-95F4-298C2E40A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704850"/>
            <a:ext cx="10191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Pareto型の潜伏モデルでは、少数の長期感染が保持窓を超える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B5A8A1-F9BA-42AE-8D50-F60A9BC60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04950"/>
            <a:ext cx="103632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F6B7A"/>
                </a:solidFill>
                <a:latin typeface="Hiragino Sans"/>
                <a:ea typeface="Hiragino Sans"/>
                <a:cs typeface="Hiragino Sans"/>
              </a:rPr>
              <a:t>モデル上のポイントは、典型的な潜伏時間ではなく、長く残る尾が復旧不能リスクを作ること。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F6135A-176D-42F5-945B-E36926AAA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4857750" cy="3067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33C3B7-CF6E-4A33-A9AE-E9EBCCE1A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24100"/>
            <a:ext cx="2952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165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短い潜伏だけを見る保持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DDB4EF-C36D-4FCC-AA9E-3174AED47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191000"/>
            <a:ext cx="3638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2A68D4-E29C-4513-A2C0-EDC9586C9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990850"/>
            <a:ext cx="1238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5F6B7A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5F6B7A"/>
                </a:solidFill>
                <a:latin typeface="Hiragino Sans"/>
                <a:ea typeface="Hiragino Sans"/>
                <a:cs typeface="Hiragino Sans"/>
              </a:rPr>
              <a:t>横軸: 潜伏期間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007870-A2AA-4659-A0BB-3E1192DD6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19400"/>
            <a:ext cx="990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5F6B7A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5F6B7A"/>
                </a:solidFill>
                <a:latin typeface="Hiragino Sans"/>
                <a:ea typeface="Hiragino Sans"/>
                <a:cs typeface="Hiragino Sans"/>
              </a:rPr>
              <a:t>発生しやすさ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4A20B2-C31F-4D92-ABDC-CF6E50B73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676650"/>
            <a:ext cx="247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387DBC-F581-4FD7-A5CF-B379F4673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3333750"/>
            <a:ext cx="2476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EB3713-EB15-4D02-9153-39F1B4F62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048000"/>
            <a:ext cx="2476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A0D51D-945A-4082-9C69-DE58D6499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295650"/>
            <a:ext cx="2476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8EC1ED-3AC6-4946-9FB2-26E6FDEDC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714750"/>
            <a:ext cx="2476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DCA2427-117A-4936-BF0E-198B26182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724150"/>
            <a:ext cx="3810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55855DA-FE51-4E13-82D3-523591663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686050"/>
            <a:ext cx="1866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0">
            <a:solidFill>
              <a:srgbClr val="FEF3C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80A0978-C23E-40F0-A733-40472992A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752725"/>
            <a:ext cx="17145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rPr>
              <a:t>保持窓（ポリシー境界）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A31E898-CE18-4CE2-9361-A098B8589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495800"/>
            <a:ext cx="2190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D4ED8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1D4ED8"/>
                </a:solidFill>
                <a:latin typeface="Hiragino Sans"/>
                <a:ea typeface="Hiragino Sans"/>
                <a:cs typeface="Hiragino Sans"/>
              </a:rPr>
              <a:t>典型例だけ見ると</a:t>
            </a:r>
          </a:p>
          <a:p xmlns:a="http://schemas.openxmlformats.org/drawingml/2006/main">
            <a:pPr algn="ctr">
              <a:defRPr sz="1350" b="1">
                <a:solidFill>
                  <a:srgbClr val="1D4ED8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1D4ED8"/>
                </a:solidFill>
                <a:latin typeface="Hiragino Sans"/>
                <a:ea typeface="Hiragino Sans"/>
                <a:cs typeface="Hiragino Sans"/>
              </a:rPr>
              <a:t>十分に見える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B8A59F6-1C71-4284-9994-36DC00107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076450"/>
            <a:ext cx="4857750" cy="3067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AEB560D-19EC-4A53-B808-D0A2C892B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324100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165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尾まで見る保持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BF4388A-CB5C-4AC7-A74F-55415AE5F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191000"/>
            <a:ext cx="3638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176350A-D01E-48FF-9275-56A7364DA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990850"/>
            <a:ext cx="1238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5F6B7A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5F6B7A"/>
                </a:solidFill>
                <a:latin typeface="Hiragino Sans"/>
                <a:ea typeface="Hiragino Sans"/>
                <a:cs typeface="Hiragino Sans"/>
              </a:rPr>
              <a:t>横軸: 潜伏期間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D459F06-563B-46A6-89FF-C4694B5E1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724150"/>
            <a:ext cx="1123950" cy="177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4E2">
              <a:alpha val="53333"/>
            </a:srgbClr>
          </a:solidFill>
          <a:ln xmlns:a="http://schemas.openxmlformats.org/drawingml/2006/main" w="9525">
            <a:solidFill>
              <a:srgbClr val="B4231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1D34B0B-B5B8-4A6C-B9DD-B6CA6B17B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543300"/>
            <a:ext cx="2095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9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FA847BE-6FB0-4E8D-9587-9BFDA3230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238500"/>
            <a:ext cx="2095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9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0C596A2-DC1A-4C0C-BB3E-4DFAE8BEB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933700"/>
            <a:ext cx="2095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9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1458108-0E5A-41B8-94DD-EC95FB6CE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295650"/>
            <a:ext cx="2095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9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4052F8F-D2C1-4D76-AB0E-849289D47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524250"/>
            <a:ext cx="2095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9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061117D-D37A-42F0-932E-5F95DC2C7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3638550"/>
            <a:ext cx="2095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4E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C3A4CBC-F83B-4685-8CB2-6CA299474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771900"/>
            <a:ext cx="209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4E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FB76F32-ED78-4CF2-B24E-15C6676AB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724150"/>
            <a:ext cx="3810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68EE2E7-E392-416B-929C-34AE53861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686050"/>
            <a:ext cx="16954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0">
            <a:solidFill>
              <a:srgbClr val="FEF3C7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EDCA87A-124B-4FEC-BA81-552721BB1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752725"/>
            <a:ext cx="154305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rPr>
              <a:t>保持窓（同じ境界）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DF2DE45-65CC-448E-BA24-6BE965E58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495800"/>
            <a:ext cx="27241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B42318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B42318"/>
                </a:solidFill>
                <a:latin typeface="Hiragino Sans"/>
                <a:ea typeface="Hiragino Sans"/>
                <a:cs typeface="Hiragino Sans"/>
              </a:rPr>
              <a:t>少数の長期潜伏が</a:t>
            </a:r>
          </a:p>
          <a:p xmlns:a="http://schemas.openxmlformats.org/drawingml/2006/main">
            <a:pPr algn="ctr">
              <a:defRPr sz="1350" b="1">
                <a:solidFill>
                  <a:srgbClr val="B42318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B42318"/>
                </a:solidFill>
                <a:latin typeface="Hiragino Sans"/>
                <a:ea typeface="Hiragino Sans"/>
                <a:cs typeface="Hiragino Sans"/>
              </a:rPr>
              <a:t>清浄世代を押し出す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8BB58B6-E750-4D07-8C68-8BA8BD42D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600700"/>
            <a:ext cx="9525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典型例が短く見えても、少数の長期潜伏が保持窓を超える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BEC6E52-0624-4E43-9B02-55E7A06F7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419850"/>
            <a:ext cx="112395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5F21599-CF29-4EFF-8FEB-7C599BB8A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53200"/>
            <a:ext cx="11125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Sources: 01_introduction.tex; 04_tauber_transition.tex. Pareto dwell time is a model assumption, not an empirical claim.</a:t>
            </a:r>
          </a:p>
        </p:txBody>
      </p:sp>
    </p:spTree>
    <p:extLst>
      <p:ext uri="{BB962C8B-B14F-4D97-AF65-F5344CB8AC3E}">
        <p14:creationId xmlns:p14="http://schemas.microsoft.com/office/powerpoint/2010/main" val="1773364478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CB00377-80B9-4E48-B1B8-8C22F5518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A38B96-A8E9-4416-89A9-318807712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2AD0A9-F3F1-4013-BCA4-9BF95E86C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04800"/>
            <a:ext cx="666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F766E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0F766E"/>
                </a:solidFill>
                <a:latin typeface="Hiragino Sans"/>
                <a:ea typeface="Hiragino Sans"/>
                <a:cs typeface="Hiragino Sans"/>
              </a:rPr>
              <a:t>論文の答えを運用語へ直す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ADEC0B-F2F0-4B3F-B60B-FA2C2DD59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276225"/>
            <a:ext cx="609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91A5C8-D9B3-450F-8498-BAB019C1D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704850"/>
            <a:ext cx="10191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まず決めるのは、何日前まで清浄に戻れるべきか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DEE40A-16B5-4EE7-89F4-ACAF0AA59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04950"/>
            <a:ext cx="103632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F6B7A"/>
                </a:solidFill>
                <a:latin typeface="Hiragino Sans"/>
                <a:ea typeface="Hiragino Sans"/>
                <a:cs typeface="Hiragino Sans"/>
              </a:rPr>
              <a:t>清浄復旧ホライズンを先に決め、あとから世代数 n とバックアップ間隔 Δ に分解する。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973498-A7A5-454A-A3F4-97BA21BAF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38350"/>
            <a:ext cx="10858500" cy="3409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B316AF-E7EE-423C-9040-2D2FD9AF6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05050"/>
            <a:ext cx="5143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損失・復旧時間・スキャン負荷から a* を出す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95824B-4066-4B6E-A0E0-F6079846A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895600"/>
            <a:ext cx="48196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Δ* = [L − (d₁τ_R + d₀)] / (d₁κ_s n)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7BEB54-200F-4B2D-AAE2-C16EF5C74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562350"/>
            <a:ext cx="5905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a* = nΔ* = [L − (d₁τ_R + d₀)] / (d₁κ_s)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774185-0C43-493A-8D92-8A75C89CE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324350"/>
            <a:ext cx="17907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0">
            <a:solidFill>
              <a:srgbClr val="FEF3C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83E618-0505-4158-A95F-ADDB8605B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391025"/>
            <a:ext cx="16383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rPr>
              <a:t>Δ*: バックアップ間隔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EB471B-7D98-4837-BD9D-1676BFF43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4324350"/>
            <a:ext cx="21145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FBF1"/>
          </a:solidFill>
          <a:ln xmlns:a="http://schemas.openxmlformats.org/drawingml/2006/main" w="0">
            <a:solidFill>
              <a:srgbClr val="CCFBF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C79667-061C-4D0D-97B5-BA36D085E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4391025"/>
            <a:ext cx="196215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F766E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F766E"/>
                </a:solidFill>
                <a:latin typeface="Hiragino Sans"/>
                <a:ea typeface="Hiragino Sans"/>
                <a:cs typeface="Hiragino Sans"/>
              </a:rPr>
              <a:t>a*: 残すべき清浄期間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574B86-7ACE-465B-9AD7-02876D808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781550"/>
            <a:ext cx="42291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0">
            <a:solidFill>
              <a:srgbClr val="F1F5F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92F38DD-EA04-43A4-BBF5-794AE0D97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848225"/>
            <a:ext cx="40767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5F6B7A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5F6B7A"/>
                </a:solidFill>
                <a:latin typeface="Hiragino Sans"/>
                <a:ea typeface="Hiragino Sans"/>
                <a:cs typeface="Hiragino Sans"/>
              </a:rPr>
              <a:t>内点条件: L &gt; d₁τ_R+d₀, κ_s&gt;0, Δ*∈D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8B59D26-CFBD-4EC2-994E-67ADC4A19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647950"/>
            <a:ext cx="365760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45E4182-1B1B-4CF2-8555-F36B7A9E4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857500"/>
            <a:ext cx="171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150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変数の読み方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83B32C8-1ECA-4DA4-B506-2D29587E1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3528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0144200-1BA5-4054-92AC-EAF7BD632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276600"/>
            <a:ext cx="27813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損失差が大きいほど、古い清浄点を残す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383031E-184B-4503-8E66-1F1FB5B23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0386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91F4728-F299-4DCB-8CF7-18CB9FD9E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962400"/>
            <a:ext cx="27813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τ_R と d₀ は、復旧後も残る損失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12D4697-E13C-43DD-9410-3B37B8785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6672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AC33E15-447D-484A-BB2E-540B0E5C1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591050"/>
            <a:ext cx="27813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κ_s は、長く戻るほど増える運用コスト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271E4D9-A292-4C49-80F6-59B44F47E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562600"/>
            <a:ext cx="94107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4E2">
              <a:alpha val="33333"/>
            </a:srgbClr>
          </a:solidFill>
          <a:ln xmlns:a="http://schemas.openxmlformats.org/drawingml/2006/main" w="9525">
            <a:solidFill>
              <a:srgbClr val="B4231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C3AC651-97E7-4ABD-A385-2621640D1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695950"/>
            <a:ext cx="94107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B42318"/>
                </a:solidFill>
                <a:latin typeface="Hiragino Sans"/>
                <a:ea typeface="Hiragino Sans"/>
                <a:cs typeface="Hiragino Sans"/>
              </a:defRPr>
            </a:pPr>
            <a:r>
              <a:rPr sz="1575" b="1">
                <a:solidFill>
                  <a:srgbClr val="B42318"/>
                </a:solidFill>
                <a:latin typeface="Hiragino Sans"/>
                <a:ea typeface="Hiragino Sans"/>
                <a:cs typeface="Hiragino Sans"/>
              </a:rPr>
              <a:t>式が正でない／許容範囲外なら、単純適用せず端点評価と保持設計を見直す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19226F5-DA6C-4912-90ED-A4A46FC0A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419850"/>
            <a:ext cx="112395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39CB40F-AE64-4E65-A4BE-6F7A0B160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53200"/>
            <a:ext cx="11125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Sources: 05_backup_optimization.tex; 08_conclusion.tex. Formula is conditional on the stated interior/admissible design assumptions.</a:t>
            </a:r>
          </a:p>
        </p:txBody>
      </p:sp>
    </p:spTree>
    <p:extLst>
      <p:ext uri="{BB962C8B-B14F-4D97-AF65-F5344CB8AC3E}">
        <p14:creationId xmlns:p14="http://schemas.microsoft.com/office/powerpoint/2010/main" val="417110375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0D83A32-37B4-48B8-A3C8-F1E87E024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6E7417-C4E5-4461-A2D0-EC5658035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57AE44-FEE9-4EFB-99A7-4AA2AE421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04800"/>
            <a:ext cx="666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F766E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0F766E"/>
                </a:solidFill>
                <a:latin typeface="Hiragino Sans"/>
                <a:ea typeface="Hiragino Sans"/>
                <a:cs typeface="Hiragino Sans"/>
              </a:rPr>
              <a:t>運用として何が得られるか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533A60-C11C-4ED0-868A-25C0D0FC0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276225"/>
            <a:ext cx="609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868195-E6A4-45E0-932B-906F8F8AC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704850"/>
            <a:ext cx="10191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バックアップは後始末ではなく、防御設計の入力になる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D64E0B-506A-4442-96A3-F40F3C399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04950"/>
            <a:ext cx="103632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F6B7A"/>
                </a:solidFill>
                <a:latin typeface="Hiragino Sans"/>
                <a:ea typeface="Hiragino Sans"/>
                <a:cs typeface="Hiragino Sans"/>
              </a:rPr>
              <a:t>検知・復旧・保持を、同じ損失表で比べるための手順に落とす。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9B3B4B-917F-4B9F-BAC7-E7660F59D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2343150" cy="213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EFDCEE-5A7A-45DE-AA0F-55C96E4E1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765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EE4E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F9DEF3-95AC-4AF0-8630-4E7B9FAF3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52700"/>
            <a:ext cx="438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B4231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B42318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7B4D27-45D3-41C5-B442-D7630BF9E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457450"/>
            <a:ext cx="1257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150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損失を置く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A4BA22-59DC-437A-B371-F00964E44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19450"/>
            <a:ext cx="1809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全損 L、停止損失 d₁、復旧費 d₀ を見積もる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2B30CF-9DEB-4835-AD35-6C9239BD1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076575"/>
            <a:ext cx="419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03FAB5-0749-457A-9B76-542FCDDC2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209800"/>
            <a:ext cx="2343150" cy="213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C82D9C-C8B6-4EBA-BCF2-9C4B5A0C0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4765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9F8D25-134E-4B7E-8897-959E9FC21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552700"/>
            <a:ext cx="438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EC12ECD-FEB5-48C9-9B39-CD0AE9831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457450"/>
            <a:ext cx="1257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150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復旧を測る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577721A-8279-4598-8D19-295A12D3F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219450"/>
            <a:ext cx="1809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隔離・クローン・再デプロイで τ_R と κ_s を置く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281CA9-9D0C-4C5C-8189-7C22E0558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076575"/>
            <a:ext cx="419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6480E18-AA3F-49F0-981B-789E74A1F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09800"/>
            <a:ext cx="2343150" cy="213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44D298F-14A3-43CA-890B-7361EF587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4765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04BA40F-0C4F-4D6E-8BD3-69650C4E9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552700"/>
            <a:ext cx="438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D4ED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D4ED8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9D44E98-FB11-4B03-83B8-530DB3A6E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457450"/>
            <a:ext cx="1257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150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遅れを見る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A70EF07-F7EE-4CE5-AC02-5ADCC068A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219450"/>
            <a:ext cx="1809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検知時点の感染後経過時間が a* を超えないかを見る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AF5E713-8FB0-4AF5-B490-635EAE5AC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076575"/>
            <a:ext cx="419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7D799B3-F2F4-4C92-A927-2F6853FE4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209800"/>
            <a:ext cx="2343150" cy="213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E538AB4-3AC1-48F1-993A-2C7007C94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4765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FBF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9D14F37-DEE9-47BE-AB7D-1FF6A565C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552700"/>
            <a:ext cx="438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35A93E4-F55D-45B7-9262-628FCDA05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457450"/>
            <a:ext cx="1257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150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保持を決める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34111D3-CC10-4ECD-8561-7F0E7C816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219450"/>
            <a:ext cx="1809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n と Δ を実装し、追加で何世代伸ばすかを整数評価する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B3BA01E-E000-4DD7-A81E-9E52A6E31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800600"/>
            <a:ext cx="95059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15803D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374FF03-1893-4A07-9478-2D44D47ED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029200"/>
            <a:ext cx="89154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157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実務値は自組織で再計算する。数値例はスケール確認であり、パラメータは実証推定値ではない。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F551A5D-B3D6-4190-825E-94F92161E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867400"/>
            <a:ext cx="1428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9FE"/>
          </a:solidFill>
          <a:ln xmlns:a="http://schemas.openxmlformats.org/drawingml/2006/main" w="0">
            <a:solidFill>
              <a:srgbClr val="EDE9FE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3FCBA4D-5CC4-4429-9299-11205BB06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5934075"/>
            <a:ext cx="127635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6D28D9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6D28D9"/>
                </a:solidFill>
                <a:latin typeface="Hiragino Sans"/>
                <a:ea typeface="Hiragino Sans"/>
                <a:cs typeface="Hiragino Sans"/>
              </a:rPr>
              <a:t>追加保持費用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0F81EB6-1FE6-4F3B-888A-4B6DFA326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5867400"/>
            <a:ext cx="1752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4E2"/>
          </a:solidFill>
          <a:ln xmlns:a="http://schemas.openxmlformats.org/drawingml/2006/main" w="0">
            <a:solidFill>
              <a:srgbClr val="FEE4E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5D620C1-792F-414B-BE8A-6C7C0C1F2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5934075"/>
            <a:ext cx="16002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B4231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B42318"/>
                </a:solidFill>
                <a:latin typeface="Hiragino Sans"/>
                <a:ea typeface="Hiragino Sans"/>
                <a:cs typeface="Hiragino Sans"/>
              </a:rPr>
              <a:t>復旧不能ペナルティ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B8C8352-5B37-48C2-A38C-4B7FBCE0D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5915025"/>
            <a:ext cx="28194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を置いて、追加保持世代を評価する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D0C04E2-2CCA-45A6-B765-F739C063B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419850"/>
            <a:ext cx="112395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C0E16EB-0526-48DC-95D9-33D465314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53200"/>
            <a:ext cx="11125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Sources: 05_backup_optimization.tex; 06_dynamic_retention.tex; 07_numerical_examples.tex; docs/evidence/heavy_tail_backup_source_note.md.</a:t>
            </a:r>
          </a:p>
        </p:txBody>
      </p:sp>
    </p:spTree>
    <p:extLst>
      <p:ext uri="{BB962C8B-B14F-4D97-AF65-F5344CB8AC3E}">
        <p14:creationId xmlns:p14="http://schemas.microsoft.com/office/powerpoint/2010/main" val="146291617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2026-05-06T04:51:41.0190000Z</dcterms:created>
  <dcterms:modified xsi:type="dcterms:W3CDTF">2026-05-06T04:51:41.0190000Z</dcterms:modified>
</coreProperties>
</file>