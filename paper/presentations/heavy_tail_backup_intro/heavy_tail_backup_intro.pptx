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d35120e12841cd" /><Relationship Type="http://schemas.openxmlformats.org/officeDocument/2006/relationships/extended-properties" Target="/docProps/app.xml" Id="Rcf1af4e2a3184a6f" /><Relationship Type="http://schemas.openxmlformats.org/officeDocument/2006/relationships/officeDocument" Target="/ppt/presentation.xml" Id="R0f57490996774f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9aa4f56f194104"/>
  </p:sldMasterIdLst>
  <p:notesMasterIdLst>
    <p:notesMasterId xmlns:r="http://schemas.openxmlformats.org/officeDocument/2006/relationships" r:id="R9fd34200047c4e32"/>
  </p:notesMasterIdLst>
  <p:sldIdLst>
    <p:sldId xmlns:r="http://schemas.openxmlformats.org/officeDocument/2006/relationships" id="256" r:id="R7a37c5171a544fc2"/>
    <p:sldId xmlns:r="http://schemas.openxmlformats.org/officeDocument/2006/relationships" id="257" r:id="R8b93130d949a4b98"/>
    <p:sldId xmlns:r="http://schemas.openxmlformats.org/officeDocument/2006/relationships" id="258" r:id="R70a9ccc102b84d27"/>
    <p:sldId xmlns:r="http://schemas.openxmlformats.org/officeDocument/2006/relationships" id="259" r:id="R57c690585ffd4410"/>
    <p:sldId xmlns:r="http://schemas.openxmlformats.org/officeDocument/2006/relationships" id="260" r:id="R8036421e75174f6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9aa4f56f194104" /><Relationship Type="http://schemas.openxmlformats.org/officeDocument/2006/relationships/theme" Target="/ppt/theme/theme1.xml" Id="R58b48e49b7d44163" /><Relationship Type="http://schemas.openxmlformats.org/officeDocument/2006/relationships/notesMaster" Target="/ppt/notesMasters/notesMaster1.xml" Id="R9fd34200047c4e32" /><Relationship Type="http://schemas.openxmlformats.org/officeDocument/2006/relationships/presProps" Target="/ppt/presProps.xml" Id="R6f7501a035fc4548" /><Relationship Type="http://schemas.openxmlformats.org/officeDocument/2006/relationships/viewProps" Target="/ppt/viewProps.xml" Id="R98ece359842c46a4" /><Relationship Type="http://schemas.openxmlformats.org/officeDocument/2006/relationships/tableStyles" Target="/ppt/tableStyles.xml" Id="Re47fe528cc9a4dbd" /><Relationship Type="http://schemas.openxmlformats.org/officeDocument/2006/relationships/slide" Target="/ppt/slides/slide1.xml" Id="R7a37c5171a544fc2" /><Relationship Type="http://schemas.openxmlformats.org/officeDocument/2006/relationships/slide" Target="/ppt/slides/slide2.xml" Id="R8b93130d949a4b98" /><Relationship Type="http://schemas.openxmlformats.org/officeDocument/2006/relationships/slide" Target="/ppt/slides/slide3.xml" Id="R70a9ccc102b84d27" /><Relationship Type="http://schemas.openxmlformats.org/officeDocument/2006/relationships/slide" Target="/ppt/slides/slide4.xml" Id="R57c690585ffd4410" /><Relationship Type="http://schemas.openxmlformats.org/officeDocument/2006/relationships/slide" Target="/ppt/slides/slide5.xml" Id="R8036421e75174f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9ebbde632ea44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8383a33785427d" /><Relationship Type="http://schemas.openxmlformats.org/officeDocument/2006/relationships/notesMaster" Target="/ppt/notesMasters/notesMaster1.xml" Id="R3569df7ac7c6486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41abe089f747fe" /><Relationship Type="http://schemas.openxmlformats.org/officeDocument/2006/relationships/notesMaster" Target="/ppt/notesMasters/notesMaster1.xml" Id="R88a0003b679e47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489f3458c64cf0" /><Relationship Type="http://schemas.openxmlformats.org/officeDocument/2006/relationships/notesMaster" Target="/ppt/notesMasters/notesMaster1.xml" Id="R7e104bfdd1544a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4b460b223744ad" /><Relationship Type="http://schemas.openxmlformats.org/officeDocument/2006/relationships/notesMaster" Target="/ppt/notesMasters/notesMaster1.xml" Id="Rbd6fe917431a46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5523742cfb4545" /><Relationship Type="http://schemas.openxmlformats.org/officeDocument/2006/relationships/notesMaster" Target="/ppt/notesMasters/notesMaster1.xml" Id="R6f988075434942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dd1bef647f458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b75dd59813e84b52" /><Relationship Type="http://schemas.openxmlformats.org/officeDocument/2006/relationships/slideLayout" Target="/ppt/slideLayouts/slideLayout2.xml" Id="Rf9400277fb5a414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400277fb5a41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486b5e200d4f2f" /><Relationship Type="http://schemas.openxmlformats.org/officeDocument/2006/relationships/notesSlide" Target="/ppt/notesSlides/notesSlide1.xml" Id="R80beadee87f643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440b05497a427c" /><Relationship Type="http://schemas.openxmlformats.org/officeDocument/2006/relationships/notesSlide" Target="/ppt/notesSlides/notesSlide2.xml" Id="R807918fc996c432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dad480eab64dad" /><Relationship Type="http://schemas.openxmlformats.org/officeDocument/2006/relationships/notesSlide" Target="/ppt/notesSlides/notesSlide3.xml" Id="Rbbd49d600f7f44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668c07200349f1" /><Relationship Type="http://schemas.openxmlformats.org/officeDocument/2006/relationships/notesSlide" Target="/ppt/notesSlides/notesSlide4.xml" Id="R8109084a11f54c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939aeb882b441b" /><Relationship Type="http://schemas.openxmlformats.org/officeDocument/2006/relationships/notesSlide" Target="/ppt/notesSlides/notesSlide5.xml" Id="R684e421a2ae548e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946BC3-FC6A-4E25-A12B-9544DAE0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27F462-D1EA-477E-B00C-135EA5BE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478353-33F6-45B0-9EA9-70EC9BDD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66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事故当日の問いから始める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8B766B-1BA0-4D37-B4AF-2FE37416F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76225"/>
            <a:ext cx="609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BD3261-CD29-41DF-81EC-9FC2B8BC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最新バックアップが、危ない復元先になりうる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C278E8-7FF0-4E68-9C2D-AB56CBBA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本モデルでは、侵入後に潜伏するケースを扱う。症状が出た日に見るべきなのは、最新ではなく「推定した侵入前」の清浄候補。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ABE8DE-0AE6-4665-AA4D-5CAA1882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1080135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890035-FFDB-45D1-8CD7-316C3FAF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6695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復元候補の時系列：最新より、侵入前の清浄候補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9A3701-AFD8-4354-848A-658E851B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05100"/>
            <a:ext cx="67056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>
              <a:alpha val="53333"/>
            </a:srgbClr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52418C-2FEA-41BB-A1BE-8ACBED13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38450"/>
            <a:ext cx="5029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侵入後に取得された世代は、見た目が正常でも要注意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6D7769-017F-4747-8074-DEDCEECC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48050"/>
            <a:ext cx="8858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0E7539-57D8-4DEC-BC11-47C0E788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4004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05BCDC-C44F-4794-A757-B3CACDF8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338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12日前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553A31-5875-4E0D-B665-3936B53A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57650"/>
            <a:ext cx="1104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DCFC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3402BC-8EC9-48F4-844D-24CEA8E4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24325"/>
            <a:ext cx="952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清浄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AD3DEA-28A2-4289-B149-120EA93A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4004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19673E-2BD5-4FC4-B3FB-A88696AC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7338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10日前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719422-EC35-4B76-9069-D490F5DA3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57650"/>
            <a:ext cx="1104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DCFC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118FB5-FADD-4C5E-AAF4-7F008546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124325"/>
            <a:ext cx="952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清浄候補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2E208A-34FF-470E-9F36-2C0BB278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4004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B7E802-AA64-4C93-8CB1-EDCC6D1E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338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7日前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C0C6DA-3A18-4234-B579-3426DEA7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057650"/>
            <a:ext cx="1104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6AB2AC-799C-4FA7-9271-2C111567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124325"/>
            <a:ext cx="952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汚染疑い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CA025E-1499-4D6A-847F-6EEA3E19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004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DDE649-027B-42F9-8CAD-34D1E3B5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338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3日前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BF9ECE-EBEA-418E-BBD7-E106A6DC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57650"/>
            <a:ext cx="1104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9940DA-DD08-4C45-B107-CA51B983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24325"/>
            <a:ext cx="952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汚染疑い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F14C1C-B2C4-402B-944D-0AA846EB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4004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4A3A72-6CAE-4C22-A2FD-524B2AB3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3380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今日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E96892-D90F-44D0-82A4-7C23DC14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1104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56D385-D41C-4295-B33E-AC31BC74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24325"/>
            <a:ext cx="952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最新だが危険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F8E6963-8A1E-4CFC-951B-A8637C35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552700"/>
            <a:ext cx="38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E530F1-656E-4C01-B8E3-839C8302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533650"/>
            <a:ext cx="971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36DDFF-F0E9-4D70-8934-B1572F2E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00325"/>
            <a:ext cx="8191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推定侵入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5C0ED5-0F80-4C08-B453-5D08CB1F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552700"/>
            <a:ext cx="47625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5172F74-BA9D-489E-8A76-56B10186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47900"/>
            <a:ext cx="106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2EAAA7-5197-4A76-B88C-AC1B7D00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314575"/>
            <a:ext cx="9144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発症・検知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67C1EE-79E9-40FB-9C9E-EBA2CB79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4800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5803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BB6F7A-F361-4ECD-9661-3AD0CCCE0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3105150"/>
            <a:ext cx="400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E640B5-DDD7-47F1-826F-F6847F88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48000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B4231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DA43CF-928D-429F-B3BB-F96F92E4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3095625"/>
            <a:ext cx="419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×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A7343A-824A-4CD3-8CF6-DAE183DC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610100"/>
            <a:ext cx="689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復旧判断は「最新へ戻す」ではなく</a:t>
            </a:r>
          </a:p>
          <a:p xmlns:a="http://schemas.openxmlformats.org/drawingml/2006/main">
            <a:pPr algn="ctr">
              <a:def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「推定した侵入前へ戻れるか」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EAEDF9-8AD0-47F2-8465-D5A2AE9E0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562600"/>
            <a:ext cx="8458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DDD11B-7C74-4AC6-A926-19E0F121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71500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復元前に清浄性を確認する。研究の入口は「清浄な復元点が残っているか」。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AA5283-65DF-4F56-A04B-1F7693CF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E751CB-3F50-4218-928A-04D37C74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01_introduction.tex; 02_model_formulation.tex. Model boundary: post-intrusion backups may be contaminated.</a:t>
            </a:r>
          </a:p>
        </p:txBody>
      </p:sp>
    </p:spTree>
    <p:extLst>
      <p:ext uri="{BB962C8B-B14F-4D97-AF65-F5344CB8AC3E}">
        <p14:creationId xmlns:p14="http://schemas.microsoft.com/office/powerpoint/2010/main" val="54592725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081C22-A312-47DA-B46D-97D3A766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939B6D-6DBC-49D5-AB34-AE94C961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A4F0D4-1622-46CD-97B5-ACADCAB3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66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検知を復旧可能性で評価する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14AE7A-9B71-4B05-9E25-8BD65D70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76225"/>
            <a:ext cx="609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8E8A4-7E62-44B4-AF8B-BFE24B16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良いアラートは、清浄世代が消える前に鳴る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7ACC60-D918-4E77-8657-3B13BAE6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アラート時刻を、復旧できる／できないの設計判定に翻訳する。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A6F56A-595D-4F8D-BC55-E346A9F7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000250"/>
            <a:ext cx="8267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5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検知性能  →  清浄復旧できたか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B9A68D-6F0F-4E2C-9495-57F0B2E1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083945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1BD499-02F3-4559-A967-521C2E48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009900"/>
            <a:ext cx="3905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a_n(Δ) = nΔ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EE09EA-B412-4E2B-8830-A6B5B348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7219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BC16A1-1ACD-4BB7-841E-3B7A4855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4335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44C2D1-7476-4B80-8FA3-10F4DCEE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14800"/>
            <a:ext cx="89344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501763-EA7A-4086-B0DC-E0395530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71475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80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9A51D2-11EB-474E-B088-05F88BB3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14750"/>
            <a:ext cx="38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93E3E6-BB60-4CC2-8C5C-3E8DC922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48200"/>
            <a:ext cx="1466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0">
            <a:solidFill>
              <a:srgbClr val="DCFC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655E80-2576-4895-A6BD-96BF2BEB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14875"/>
            <a:ext cx="13144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侵入前の清浄候補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2AEB9-CF17-40F1-89D3-997280ED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48200"/>
            <a:ext cx="990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CAECE4-C6DA-4613-8B3D-03ECD926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14875"/>
            <a:ext cx="8382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保持期限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2A6C0-FF44-4409-90E2-B8B0968C5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43400"/>
            <a:ext cx="5219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検知時点の感染後経過時間が nΔ 内なら、復旧可能として扱う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E41024-5670-48A8-BF56-52FB3D23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219700"/>
            <a:ext cx="3733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この設計では清浄復旧に失敗（全損相当）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7750C7-B4AA-4A63-B96A-83E5F7FC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4292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DBEAF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F6DC0D-D60E-4DFE-B263-A763A8D6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495925"/>
            <a:ext cx="16002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rPr>
              <a:t>n = 保持する世代数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CBD6DC-4D5B-4C20-B9D5-B41E5856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42925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D65476-7789-4FD1-ACC2-0295BAEF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95925"/>
            <a:ext cx="1714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Δ = バックアップ間隔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B1A754-2BD3-49F0-B432-9CF881D2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29250"/>
            <a:ext cx="2266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CCFBF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B584D6-F853-41EB-9A2E-37C09501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495925"/>
            <a:ext cx="21145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a_n = 清浄復旧ホライズン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9B32EB-D9B4-4B30-8A27-8F9BA5C11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429250"/>
            <a:ext cx="1695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0">
            <a:solidFill>
              <a:srgbClr val="F1F5F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35D7CB-FBCB-49B9-BC50-E614DA6A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495925"/>
            <a:ext cx="15430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評価領域: nΔ &gt; t_m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B23D51-487E-4A9D-BB86-B36CD63A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88E8F8-8B37-43A9-8EA8-FC53DBC7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02_model_formulation.tex; 08_conclusion.tex. Recoverability is modeled through infection age and clean-backup horizon.</a:t>
            </a:r>
          </a:p>
        </p:txBody>
      </p:sp>
    </p:spTree>
    <p:extLst>
      <p:ext uri="{BB962C8B-B14F-4D97-AF65-F5344CB8AC3E}">
        <p14:creationId xmlns:p14="http://schemas.microsoft.com/office/powerpoint/2010/main" val="72418704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17BF67-E3EC-4A6A-8E9E-6E597931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09F514-F50A-4306-B404-B67BD4D7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965F24-5A31-40DA-9C0E-83B67012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66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なぜ平均では危ないか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0B787-E5D0-473A-8ED9-61706A12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76225"/>
            <a:ext cx="609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5F09B-F92E-4079-85AE-0BB2DE77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Pareto型の潜伏モデルでは、少数の長期感染が保持窓を超える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534393-B252-42B9-A691-DC059AA9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モデル上のポイントは、典型的な潜伏時間ではなく、長く残る尾が復旧不能リスクを作ること。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C6342F-FF46-43E9-A68E-C961BA93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8577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0F6950-D3A2-40E9-90A5-1BBDF30C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24100"/>
            <a:ext cx="2952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短い潜伏だけを見る保持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4B4C52-3E72-47A1-ACC7-5F1E68E79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91000"/>
            <a:ext cx="3638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CDDD8C-3340-4E4D-97A6-E5BE9D6F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990850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横軸: 潜伏期間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B459A6-450C-44AF-B77C-1D0AFC82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19400"/>
            <a:ext cx="990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発生しやすさ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A0A9B6-143A-4DDB-B8E0-DFCF21CA9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76650"/>
            <a:ext cx="247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C010CD-FC9C-467C-8E2A-FFACCD7B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333750"/>
            <a:ext cx="2476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AD6D26-F9D2-47CB-889C-04B3C47D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48000"/>
            <a:ext cx="2476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FDA2FA-7A34-4705-89D8-56B2C230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95650"/>
            <a:ext cx="2476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0AE9AD-18AB-4198-8AEA-BFB434D5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14750"/>
            <a:ext cx="24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98F4B8-3C62-484A-8538-F9E29CD1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81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44FFEB-96CE-4AF3-813A-52154415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86050"/>
            <a:ext cx="1866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545D6C-8006-43F2-B6AB-669596DD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52725"/>
            <a:ext cx="17145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保持窓（ポリシー境界）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3B4E09-EDD1-455A-9976-DF71E46D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9580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rPr>
              <a:t>典型例だけ見ると</a:t>
            </a:r>
          </a:p>
          <a:p xmlns:a="http://schemas.openxmlformats.org/drawingml/2006/main">
            <a:pPr algn="ctr">
              <a:defRPr sz="1350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D4ED8"/>
                </a:solidFill>
                <a:latin typeface="Hiragino Sans"/>
                <a:ea typeface="Hiragino Sans"/>
                <a:cs typeface="Hiragino Sans"/>
              </a:rPr>
              <a:t>十分に見える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6B34BC-C4B0-4950-943B-E52992D05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76450"/>
            <a:ext cx="485775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62D9D4-B802-4EDB-B4FC-5CA3BF11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3241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尾まで見る保持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789623-44B9-4ACA-B0F4-C1A966FA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91000"/>
            <a:ext cx="3638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5CF8A2-B4AD-4A6C-8C13-3EFD38A8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90850"/>
            <a:ext cx="1238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横軸: 潜伏期間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9E61C6-9A62-4FE2-89AD-81D43CB78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724150"/>
            <a:ext cx="11239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>
              <a:alpha val="53333"/>
            </a:srgbClr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58B1F2-0755-4628-BEE7-A0B50E14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43300"/>
            <a:ext cx="2095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9D4C00-D364-4923-8BA3-DC0F11BE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38500"/>
            <a:ext cx="209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61BE0E-FC71-4ECB-B54C-E44E7099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33700"/>
            <a:ext cx="2095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67588F-B953-446E-97D6-A2277738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95650"/>
            <a:ext cx="2095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673B11-0765-4D6E-856B-51499E917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524250"/>
            <a:ext cx="2095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09D7AD-513C-4AAD-92C9-CCE182411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638550"/>
            <a:ext cx="209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8DB9DE1-6374-4A9F-B533-AEEBB206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771900"/>
            <a:ext cx="209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C1093E-B575-4DA8-868B-6F0A720F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724150"/>
            <a:ext cx="381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6EED11-245A-4588-9308-AD2C3771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86050"/>
            <a:ext cx="1695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87302D-1717-4FA5-A444-D25C72DF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52725"/>
            <a:ext cx="15430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保持窓（同じ境界）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7DA6937-7B2D-4412-82BE-3C0B04A4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95800"/>
            <a:ext cx="2724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少数の長期潜伏が</a:t>
            </a:r>
          </a:p>
          <a:p xmlns:a="http://schemas.openxmlformats.org/drawingml/2006/main">
            <a:pPr algn="ctr">
              <a:defRPr sz="135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清浄世代を押し出す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BF0271-0D2F-4954-9C56-40EBC305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00700"/>
            <a:ext cx="9525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平均が同じに見えても、少数の長期潜伏が保持窓を超える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910DD1D-FD9D-4FD6-9266-634786C4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B76013-7743-44C2-82E3-B9A51A80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01_introduction.tex; 04_tauber_transition.tex. Pareto dwell time is a model assumption, not an empirical claim.</a:t>
            </a:r>
          </a:p>
        </p:txBody>
      </p:sp>
    </p:spTree>
    <p:extLst>
      <p:ext uri="{BB962C8B-B14F-4D97-AF65-F5344CB8AC3E}">
        <p14:creationId xmlns:p14="http://schemas.microsoft.com/office/powerpoint/2010/main" val="74750190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BF1624-D557-4CF8-9D0C-8B6483D9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69F3C7-7B97-4B97-A95D-2BF4282A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CB5B6C-E97B-42A8-BBF0-FC049875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66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論文の答えを運用語へ直す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D6FF2-1948-41DC-927A-C70C9D2E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76225"/>
            <a:ext cx="609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3FE4F6-36C1-4F05-83F9-950BD72CF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まず決めるのは、何日前まで安全に戻れるべきか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CA3367-29FC-4ECF-992C-56233285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清浄復旧ホライズンを先に決め、あとから世代数 n とバックアップ間隔 Δ に分解する。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E68543-0671-46D4-9FA4-F8319127B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38350"/>
            <a:ext cx="10858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E34DC2-9836-4F3A-B5EE-7FA04BEB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514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損失・復旧時間・スキャン負荷から a* を出す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916685-6140-4264-9D14-05FD15D3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95600"/>
            <a:ext cx="4819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Δ* = [L − (d₁τ_R + d₀)] / (d₁κ_s n)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9AFFC7-F19F-44CA-9772-1363A553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62350"/>
            <a:ext cx="5905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a* = nΔ* = [L − (d₁τ_R + d₀)] / (d₁κ_s)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8A2280-62C1-46A3-9B48-7D38CD93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24350"/>
            <a:ext cx="1790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FEF3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E7410B-DF9C-4332-99F3-B52F85B0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391025"/>
            <a:ext cx="16383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B45309"/>
                </a:solidFill>
                <a:latin typeface="Hiragino Sans"/>
                <a:ea typeface="Hiragino Sans"/>
                <a:cs typeface="Hiragino Sans"/>
              </a:rPr>
              <a:t>Δ*: バックアップ間隔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D571DB-2CA6-46C8-8AAF-5DEACDAF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243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CCFBF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0CCD2A-0BCC-416E-9666-2C5BA664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391025"/>
            <a:ext cx="19621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a*: 残すべき清浄期間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8FA88-278C-4821-8CD7-6CB456D6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81550"/>
            <a:ext cx="42291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0">
            <a:solidFill>
              <a:srgbClr val="F1F5F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FB006E-2065-4A65-8F9B-5D8B34A6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848225"/>
            <a:ext cx="40767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内点条件: L &gt; d₁τ_R+d₀, κ_s&gt;0, Δ*∈D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4AA3EB-A218-474C-9058-7DF701CF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47950"/>
            <a:ext cx="36576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2B9A5-B644-4003-B040-924EC663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85750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変数の読み方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69CF03-00D1-4837-A7B3-380EC49C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3337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5D697C-8105-400C-BE45-C9621889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257550"/>
            <a:ext cx="2781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全損と通常復旧の損失差が大きいほど、古い清浄点を残す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F1412A-585F-4FA8-AE0F-6F5BFD23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057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CEF33C-62C0-489E-A3F4-A05E66A61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81450"/>
            <a:ext cx="2781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τ_R と d₀ は、復旧できても残る損失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F42DE1-EA17-4E6E-841C-8A191114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705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62CB51-602D-4689-8E72-1B10240A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29150"/>
            <a:ext cx="2781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κ_s は、長く戻るほど増える運用コスト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02AB60-1C67-4FBF-BA7F-2833577A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562600"/>
            <a:ext cx="94107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>
              <a:alpha val="33333"/>
            </a:srgbClr>
          </a:solidFill>
          <a:ln xmlns:a="http://schemas.openxmlformats.org/drawingml/2006/main" w="9525">
            <a:solidFill>
              <a:srgbClr val="B4231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3142F8-BA00-48E0-9DB7-25313114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695950"/>
            <a:ext cx="9410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式が正でない／許容範囲外なら、単純適用せず端点評価と保持設計を見直す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6AE20C-3071-408E-A726-00F7E795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2B7221-FB6F-4D2C-A31A-8DDE17292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05_backup_optimization.tex; 08_conclusion.tex. Formula is conditional on the stated interior/admissible design assumptions.</a:t>
            </a:r>
          </a:p>
        </p:txBody>
      </p:sp>
    </p:spTree>
    <p:extLst>
      <p:ext uri="{BB962C8B-B14F-4D97-AF65-F5344CB8AC3E}">
        <p14:creationId xmlns:p14="http://schemas.microsoft.com/office/powerpoint/2010/main" val="211340747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6E4760-75D5-46BB-ACB2-99F0665A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8808DE-BCC2-4AF8-9F08-CC45561D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FD632-5B25-43B5-A539-AEA86AEF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66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F766E"/>
                </a:solidFill>
                <a:latin typeface="Hiragino Sans"/>
                <a:ea typeface="Hiragino Sans"/>
                <a:cs typeface="Hiragino Sans"/>
              </a:rPr>
              <a:t>運用として何が得られるか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63420-8125-402C-99AC-68DF8808F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276225"/>
            <a:ext cx="609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9B20C8-4403-4D1D-AF2C-6D9023E5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04850"/>
            <a:ext cx="10191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2325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バックアップは後始末ではなく、防御設計の入力になる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6C58A6-856D-4F43-86F6-828ECF53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04950"/>
            <a:ext cx="10363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F6B7A"/>
                </a:solidFill>
                <a:latin typeface="Hiragino Sans"/>
                <a:ea typeface="Hiragino Sans"/>
                <a:cs typeface="Hiragino Sans"/>
              </a:rPr>
              <a:t>検知・復旧・保持を、同じ損失表で比べるための手順に落とす。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AA84AC-CC63-4765-BD9D-4994D838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3431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4621A9-DB97-43D0-A0CB-C186B0B0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B3EDB4-61E5-4B8E-A20B-D50C20FEF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08D82F-E2D6-4872-BAE1-377A1C5C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574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損失を置く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AB3D0C-8633-491F-8D1A-7A4F664D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19450"/>
            <a:ext cx="1809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全損 L、停止損失 d₁、復旧費 d₀ を見積もる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658EE3-7172-4ECE-BD65-2584253C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76575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9992B6-2889-49A4-83A9-B6DD3E0D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09800"/>
            <a:ext cx="23431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5F6223-F458-40D1-BFB9-052E78A3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76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5164A1-52BB-4CAD-9742-97935C71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527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57A320-20EE-41B9-B13E-111300FE3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574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復旧を測る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A87515-301B-44E4-9222-7C81104B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19450"/>
            <a:ext cx="1809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隔離・クローン・再デプロイで τ_R と κ_s を置く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B2ABE0-3453-4728-940B-BB2074AA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076575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547829-AA1B-4B65-B860-596CEC2D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09800"/>
            <a:ext cx="23431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877CA6-CDFC-4F41-BC71-B6A5709D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76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6F0835-1020-435B-AA7A-FB58262E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347540-D35F-4916-8DE8-5B9CF3FF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574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遅れを見る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4773F1-2CD4-4C9D-9BAE-379ACD5C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19450"/>
            <a:ext cx="1809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検知遅れ・潜伏分布が a* を超えないかを見る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F0180E-D0B3-453B-837D-64FD7BED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076575"/>
            <a:ext cx="41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5F6B7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45EAA5-513A-46C5-BA55-41C7A236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209800"/>
            <a:ext cx="23431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BA4A98-BA6D-42C2-AE15-B556E229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4765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CFB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F2568C-7EF7-499D-AFE6-27F74549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5270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71D0EF-9A96-42D4-B4DE-88D7A0C3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57450"/>
            <a:ext cx="1257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保持を決める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186E50-4946-4A3E-9B22-0AC10E63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219450"/>
            <a:ext cx="1809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n と Δ を実装し、追加で何世代伸ばすかを整数評価する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DC000B-0EC4-4401-877E-B938F136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00600"/>
            <a:ext cx="9505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9A9BD2-25EB-46BD-8F6F-9CE983AD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8915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15803D"/>
                </a:solidFill>
                <a:latin typeface="Hiragino Sans"/>
                <a:ea typeface="Hiragino Sans"/>
                <a:cs typeface="Hiragino Sans"/>
              </a:rPr>
              <a:t>実務値は自組織で再計算する。数値例はスケール確認であり、パラメータは実証推定値ではない。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E2BCA1-101B-47E0-8079-2ACE54B33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86740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9FE"/>
          </a:solidFill>
          <a:ln xmlns:a="http://schemas.openxmlformats.org/drawingml/2006/main" w="0">
            <a:solidFill>
              <a:srgbClr val="EDE9F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E12F23-F9C4-4C4D-96FA-C005E6053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934075"/>
            <a:ext cx="127635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6D28D9"/>
                </a:solidFill>
                <a:latin typeface="Hiragino Sans"/>
                <a:ea typeface="Hiragino Sans"/>
                <a:cs typeface="Hiragino Sans"/>
              </a:rPr>
              <a:t>追加保持費用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4A836B2-82C4-4A69-B3C0-817B2015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86740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4E2"/>
          </a:solidFill>
          <a:ln xmlns:a="http://schemas.openxmlformats.org/drawingml/2006/main" w="0">
            <a:solidFill>
              <a:srgbClr val="FEE4E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608AC9-FEA0-4E93-B3C4-9F19328A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934075"/>
            <a:ext cx="1600200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42318"/>
                </a:solidFill>
                <a:latin typeface="Hiragino Sans"/>
                <a:ea typeface="Hiragino Sans"/>
                <a:cs typeface="Hiragino Sans"/>
              </a:rPr>
              <a:t>復旧不能ペナルティ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62B556-CC83-45BD-8233-E7621D61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915025"/>
            <a:ext cx="2819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71717"/>
                </a:solidFill>
                <a:latin typeface="Hiragino Sans"/>
                <a:ea typeface="Hiragino Sans"/>
                <a:cs typeface="Hiragino Sans"/>
              </a:rPr>
              <a:t>を置いて、追加保持世代を評価する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7433E7-1814-4D03-BCE5-A111CACC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19850"/>
            <a:ext cx="112395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0C6823C-D8EF-4453-A8E7-BA92557A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53200"/>
            <a:ext cx="1112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5F6B7A"/>
                </a:solidFill>
                <a:latin typeface="Aptos"/>
                <a:ea typeface="Aptos"/>
                <a:cs typeface="Aptos"/>
              </a:defRPr>
            </a:pPr>
            <a:r>
              <a:rPr sz="788" b="0">
                <a:solidFill>
                  <a:srgbClr val="5F6B7A"/>
                </a:solidFill>
                <a:latin typeface="Aptos"/>
                <a:ea typeface="Aptos"/>
                <a:cs typeface="Aptos"/>
              </a:rPr>
              <a:t>Sources: 05_backup_optimization.tex; 06_dynamic_retention.tex; 07_numerical_examples.tex; docs/evidence/heavy_tail_backup_source_note.md.</a:t>
            </a:r>
          </a:p>
        </p:txBody>
      </p:sp>
    </p:spTree>
    <p:extLst>
      <p:ext uri="{BB962C8B-B14F-4D97-AF65-F5344CB8AC3E}">
        <p14:creationId xmlns:p14="http://schemas.microsoft.com/office/powerpoint/2010/main" val="20426100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2026-05-06T04:46:24.8690000Z</dcterms:created>
  <dcterms:modified xsi:type="dcterms:W3CDTF">2026-05-06T04:46:24.8690000Z</dcterms:modified>
</coreProperties>
</file>