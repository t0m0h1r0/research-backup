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d60499b4548d6" /><Relationship Type="http://schemas.openxmlformats.org/officeDocument/2006/relationships/extended-properties" Target="/docProps/app.xml" Id="R6ef89d08f69c401a" /><Relationship Type="http://schemas.openxmlformats.org/officeDocument/2006/relationships/officeDocument" Target="/ppt/presentation.xml" Id="Ra4839595dca9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9cf1de6e74a2f"/>
  </p:sldMasterIdLst>
  <p:notesMasterIdLst>
    <p:notesMasterId xmlns:r="http://schemas.openxmlformats.org/officeDocument/2006/relationships" r:id="R81807d37af8b4ccf"/>
  </p:notesMasterIdLst>
  <p:sldIdLst>
    <p:sldId xmlns:r="http://schemas.openxmlformats.org/officeDocument/2006/relationships" id="256" r:id="R4d99136556124749"/>
    <p:sldId xmlns:r="http://schemas.openxmlformats.org/officeDocument/2006/relationships" id="257" r:id="Rc4512a2022be4940"/>
    <p:sldId xmlns:r="http://schemas.openxmlformats.org/officeDocument/2006/relationships" id="258" r:id="R4a719cd30f1b4c7a"/>
    <p:sldId xmlns:r="http://schemas.openxmlformats.org/officeDocument/2006/relationships" id="259" r:id="R91137b8278324ca0"/>
    <p:sldId xmlns:r="http://schemas.openxmlformats.org/officeDocument/2006/relationships" id="260" r:id="Rfada113708e044ef"/>
    <p:sldId xmlns:r="http://schemas.openxmlformats.org/officeDocument/2006/relationships" id="261" r:id="R5654880d4b6c4b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9cf1de6e74a2f" /><Relationship Type="http://schemas.openxmlformats.org/officeDocument/2006/relationships/theme" Target="/ppt/theme/theme1.xml" Id="Rd8553c9c9b0e48e5" /><Relationship Type="http://schemas.openxmlformats.org/officeDocument/2006/relationships/notesMaster" Target="/ppt/notesMasters/notesMaster1.xml" Id="R81807d37af8b4ccf" /><Relationship Type="http://schemas.openxmlformats.org/officeDocument/2006/relationships/presProps" Target="/ppt/presProps.xml" Id="R0a55404607844525" /><Relationship Type="http://schemas.openxmlformats.org/officeDocument/2006/relationships/viewProps" Target="/ppt/viewProps.xml" Id="Rf6b9e0b942cf4bde" /><Relationship Type="http://schemas.openxmlformats.org/officeDocument/2006/relationships/tableStyles" Target="/ppt/tableStyles.xml" Id="Re98154edece44731" /><Relationship Type="http://schemas.openxmlformats.org/officeDocument/2006/relationships/slide" Target="/ppt/slides/slide1.xml" Id="R4d99136556124749" /><Relationship Type="http://schemas.openxmlformats.org/officeDocument/2006/relationships/slide" Target="/ppt/slides/slide2.xml" Id="Rc4512a2022be4940" /><Relationship Type="http://schemas.openxmlformats.org/officeDocument/2006/relationships/slide" Target="/ppt/slides/slide3.xml" Id="R4a719cd30f1b4c7a" /><Relationship Type="http://schemas.openxmlformats.org/officeDocument/2006/relationships/slide" Target="/ppt/slides/slide4.xml" Id="R91137b8278324ca0" /><Relationship Type="http://schemas.openxmlformats.org/officeDocument/2006/relationships/slide" Target="/ppt/slides/slide5.xml" Id="Rfada113708e044ef" /><Relationship Type="http://schemas.openxmlformats.org/officeDocument/2006/relationships/slide" Target="/ppt/slides/slide6.xml" Id="R5654880d4b6c4b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b6e7af6aa4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bbe6eea7164c54" /><Relationship Type="http://schemas.openxmlformats.org/officeDocument/2006/relationships/notesMaster" Target="/ppt/notesMasters/notesMaster1.xml" Id="Rfb3bacb6b729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aac58fa7b4a24" /><Relationship Type="http://schemas.openxmlformats.org/officeDocument/2006/relationships/notesMaster" Target="/ppt/notesMasters/notesMaster1.xml" Id="R3f0b303a0fa342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a3cc872e28425d" /><Relationship Type="http://schemas.openxmlformats.org/officeDocument/2006/relationships/notesMaster" Target="/ppt/notesMasters/notesMaster1.xml" Id="R04ce7afe5b9546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c3a0a3b0ce4824" /><Relationship Type="http://schemas.openxmlformats.org/officeDocument/2006/relationships/notesMaster" Target="/ppt/notesMasters/notesMaster1.xml" Id="R5174cc4d3e204b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7f6ec031cd4a10" /><Relationship Type="http://schemas.openxmlformats.org/officeDocument/2006/relationships/notesMaster" Target="/ppt/notesMasters/notesMaster1.xml" Id="R75fabf9c816d4f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1c3e2308114dad" /><Relationship Type="http://schemas.openxmlformats.org/officeDocument/2006/relationships/notesMaster" Target="/ppt/notesMasters/notesMaster1.xml" Id="Ra0f7b68e7aa44d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ac6c7030e4e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11c68f8aa043a0" /><Relationship Type="http://schemas.openxmlformats.org/officeDocument/2006/relationships/slideLayout" Target="/ppt/slideLayouts/slideLayout2.xml" Id="Ree0b9c04bb55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0b9c04bb55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fce0364f849b4" /><Relationship Type="http://schemas.openxmlformats.org/officeDocument/2006/relationships/notesSlide" Target="/ppt/notesSlides/notesSlide1.xml" Id="Rb91fdd3e7436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e1158eb194875" /><Relationship Type="http://schemas.openxmlformats.org/officeDocument/2006/relationships/notesSlide" Target="/ppt/notesSlides/notesSlide2.xml" Id="R490146d9af0a4c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4f2a068ebf44d9" /><Relationship Type="http://schemas.openxmlformats.org/officeDocument/2006/relationships/notesSlide" Target="/ppt/notesSlides/notesSlide3.xml" Id="Rf41782f3862649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998f02c454d04" /><Relationship Type="http://schemas.openxmlformats.org/officeDocument/2006/relationships/notesSlide" Target="/ppt/notesSlides/notesSlide4.xml" Id="R78a627ac951a43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a5643ff9d435d" /><Relationship Type="http://schemas.openxmlformats.org/officeDocument/2006/relationships/notesSlide" Target="/ppt/notesSlides/notesSlide5.xml" Id="R7f2411eda3ca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ea94a84ce4d19" /><Relationship Type="http://schemas.openxmlformats.org/officeDocument/2006/relationships/notesSlide" Target="/ppt/notesSlides/notesSlide6.xml" Id="R3950d16c10064b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158AFF-A96A-4CE6-907C-37B5483E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ED321-607B-4509-8850-64AC9EE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2D29BC91-1798-4FA6-A4EA-BD186F9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EA4C238-DBBC-430F-B36B-38135300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INCIDENT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A51D3-F7F1-42A8-BD88-A83B6954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FC95D-CC7F-425A-A500-0613D7D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最新バックアップだけを見ると、復旧先を間違える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0E4F8-2801-4608-BA7F-B056BB8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本モデルでは、侵入後に作られた世代は汚染されうる。復旧判断は「最新」ではなく「推定した侵入前」へ戻れるかを見る。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BC99E-315B-4E3F-8942-90EAAEED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0C3A0-1411-47CC-90DD-02E65557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復元候補の時系列：新しさより、侵入前の清浄候補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0935-4C79-4685-9B96-37AF2714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396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F1C2D-1656-41B4-B1A5-84815597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537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54642-8106-4861-A4FE-752E693A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931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60896-2C10-4286-A469-406B8EE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38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2BDCF-E855-4053-8A72-E02B123E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19350"/>
            <a:ext cx="38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D934D-8D40-448D-B161-3CC2A46E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431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DA485-08EE-41AC-8C13-66A7C0E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推定侵入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3EAF4-8997-4C18-B43C-407D29E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EB797-4B9E-4F66-B02A-CB6E67FC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622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発症・検知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ABEB9-BCBB-4126-A811-7F4EF4E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08E52-9783-4508-AC58-58B4B1E0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12日前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09356-FAB4-48AE-AECD-3B226B11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3FE2D-8BA3-4C46-AFC5-9A31E434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清浄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4156C-CBBF-4580-A5F7-19E6F9E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38100">
            <a:solidFill>
              <a:srgbClr val="087D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0857B-F613-4C57-85E5-04052CDE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90850"/>
            <a:ext cx="34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CCB6F-0184-4722-86D2-6FE98F4F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10日前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349BA-6B82-491E-9705-4ABD2448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576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0803D-A2B1-4529-867E-585110F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767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清浄候補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41B5EE-3991-4B6F-9A5F-1496656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53C0A-2E4F-431A-A400-D2C6ABA7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7日前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643F8-924C-416B-AECF-F9187D3E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18716-A0FE-4C72-99B6-AF600D8C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767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侵入直前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945B8-3258-4565-8A7B-D166327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5F3B02-8E87-40AF-8102-02802277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3日前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1CCA5-2EAC-4141-9A53-21CEFED4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706FD0-E234-4BBA-AEF8-77014530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汚染疑い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1ED9AA-4909-4835-A6FD-A63E0066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8C2F45-4ECD-4671-AC2F-97D5226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昨日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540B17-8763-494F-9DAF-24DA22C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380FB2-55FF-477D-BCA8-EF7A64DC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767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汚染疑い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7A4643-6DE9-409A-9371-1AF3F5E8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38100">
            <a:solidFill>
              <a:srgbClr val="C53A3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6DC9CA-2E50-4E43-8DED-4B2F2F8D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DBBB68-70F0-4C3A-B563-C79E354A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今日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7A8F79-2AE4-4E0A-95BD-E970C523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576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129001-A620-48AE-A4A4-DF2805B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767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最新だが危険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B1371E-2A58-4D2F-8148-84F80A65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侵入後に取得された世代は、見た目が正常でも要注意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5BC0E6-B96C-4716-A934-CAF2FB9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67250"/>
            <a:ext cx="6438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E6A053-67C6-4D4A-8445-DDF8D5D1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609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復旧判断は「最新へ戻す」ではなく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「推定した侵入前へ戻れるか」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4D079E-B805-47B3-9A3D-6CE0F94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FB0943-731B-4E00-BD5A-0E37A2F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rPr>
              <a:t>Provenance note: 01_introduction.tex; 02_model_formulation.tex. Model boundary: post-intrusion backups may be contaminated.</a:t>
            </a:r>
          </a:p>
        </p:txBody>
      </p:sp>
    </p:spTree>
    <p:extLst>
      <p:ext uri="{BB962C8B-B14F-4D97-AF65-F5344CB8AC3E}">
        <p14:creationId xmlns:p14="http://schemas.microsoft.com/office/powerpoint/2010/main" val="10909685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9BE9B-A61F-40AC-B306-73FA1E8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FB551-A439-4101-AB85-51A6CD3B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17291BE-6B97-4065-BF3E-DB28B5BB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6ECCCCC-7200-4EBB-AE1F-D93C4025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EVALUATION SHIFT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01413-DB3E-4B4B-B9E5-EA79592D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4EF53-4396-4231-BF87-BB86CFB5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良いアラートは、清浄復旧ホライズン内で鳴る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49700-ACC3-420F-945F-3A2DB01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検知時刻を、復旧できる／できないの設計判定へ翻訳する。評価対象は感染後経過時間が aₙ(Δ) を超えるかどうか。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23197-038A-44E7-84D2-59BD735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706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03561-4139-4F3A-A765-8AA0009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521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検知性能  →  清浄復旧できたか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B17A0-FF05-4549-A908-C7318769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aₙ(Δ) = nΔ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52BB3-3B04-4310-9EA8-CE5D1713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643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FBD3C-056B-45BC-9A4E-8900296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73C32-991F-4F28-8D7E-99287C4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8591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6E904-FB90-4DB5-A915-C02E8997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F7A96-3A73-41B2-B104-F072EEC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375E7-F5C9-408E-97F4-4A25130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24D70-B291-46EB-8389-30A1046A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38100">
            <a:solidFill>
              <a:srgbClr val="3F6F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EEE0E-67D2-40EE-AEEA-62A9DF2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rPr>
              <a:t>検知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1A930-E418-480F-9EDE-DECE78FE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侵入前の清浄候補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EBF80-B860-42F3-9B87-BC736D6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保持期限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D291D-589C-4E5D-962B-A9C2740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564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564F"/>
                </a:solidFill>
                <a:latin typeface="Hiragino Sans"/>
                <a:ea typeface="Hiragino Sans"/>
                <a:cs typeface="Hiragino Sans"/>
              </a:rPr>
              <a:t>この内側なら復旧可能として扱う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4827C-70AF-432A-9F45-041DFE3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434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超えると清浄復旧に失敗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B54ED-7B30-442C-B43D-A1988D5C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48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A06AF-B813-4695-B7AC-24740EB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673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rPr>
              <a:t>n = 保持世代数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642E0-0C40-4011-B208-D41B7C5A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482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D8CCD-0A8C-419A-A55D-EA5070A3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673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Δ = 間隔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91F0C-09DE-4C4D-BD8B-35214C70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48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ADFD5-DE3F-49C6-AC6B-AEDEDB0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aₙ = 清浄復旧ホライズン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DB5A1-7794-4853-A1A5-48E81512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48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CA8DDD-7E58-4CE2-A45C-35EC9823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67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評価領域: nΔ &gt; tₘ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D7494-22C6-4429-B445-6D60770D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3A5B5-CCD8-42C6-B651-A0552267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rPr>
              <a:t>Provenance note: 02_model_formulation.tex; 08_conclusion.tex. Recoverability is modeled through infection age and clean-backup horizon.</a:t>
            </a:r>
          </a:p>
        </p:txBody>
      </p:sp>
    </p:spTree>
    <p:extLst>
      <p:ext uri="{BB962C8B-B14F-4D97-AF65-F5344CB8AC3E}">
        <p14:creationId xmlns:p14="http://schemas.microsoft.com/office/powerpoint/2010/main" val="18151894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17488-1F3C-4BAE-8451-FE1608E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952B0-4AED-4108-9D70-B5C200A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C2A3D31-DA3C-4BDE-B039-AD199417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A55E6E9-24D0-4DBA-B47E-23E3EF77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TAIL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52094-537F-4D25-9933-22D783D3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8FBC9-6AB3-4F77-A28F-B78B16C4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重尾潜伏では、少数の長期感染が保持窓を破る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742FF-B54C-409E-B0D5-B5DAB25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ここでの主張は Pareto 型の潜伏モデルに基づく。実測分布や頻度を主張せず、保持境界が必要になる理由だけを示す。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A7B28-69AA-46C4-AA69-C2A6E0F1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BABA1-5FA6-4CAB-82B5-915CBBE1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544D9-3382-4A44-BFFE-161EAA43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典型例だけを見る保持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A0777-4C69-4F19-A09F-CA592C14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尾まで見る保持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476CF-FA48-476B-A13C-695DF435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発生しやすさ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77F4A-1DFC-4318-8F31-38DF749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潜伏期間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C44F7-EEA6-4297-9AEF-2095111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146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発生しやすさ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F26EC-51D5-44BC-8C05-694EC71D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33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潜伏期間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3F264-B517-4EF6-A0F8-977B0A40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1F1D2-5187-43CC-A814-EA67EA59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196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F7BF8-8A28-4BBB-A59D-F815BEC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266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03636-2509-4987-9CE6-13CC42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266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061E0-44FC-4F95-8444-E41B6B37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8610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C95E3-5B07-42B8-9B9A-A401845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52800"/>
            <a:ext cx="266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696E7-641D-4DEE-9AE8-C520B2F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95700"/>
            <a:ext cx="266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6EF63-2F8B-4A8A-A182-5892E760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2C552-8B6F-4FE9-B922-68ECFD20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228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D24A8-AC76-4F1D-B6F4-CCC0D534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228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4F350-630B-458A-B7DC-4A51E318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228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5D720-E83B-48A8-80F8-74E10309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28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AC701D-B738-4763-9BBD-CCDF010B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228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9FE329-0510-4854-AD43-1B15342C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2800"/>
            <a:ext cx="228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A3E6C-83F9-44BF-8781-D32F68CC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0450"/>
            <a:ext cx="228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07EAB-3C75-44C8-ABF1-6184AB6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1000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AA7C0-CBBF-4591-BEA5-A8E2E6C9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685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14288">
            <a:solidFill>
              <a:srgbClr val="C53A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6726E-4FAA-4237-B2AC-753D3515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381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8824D-E515-44FA-B5B8-195382B4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95600"/>
            <a:ext cx="381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CB23D9-5FA8-45BF-AD22-B5779D1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C6F3C3-B50D-4C0B-A075-79385003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051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保持窓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A1202-6102-44CE-8A7F-D0264203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29CA0D-F621-4411-82DD-1D2549DB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保持窓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AFC5FB-5DE4-4D17-B584-A6891960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62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rPr>
              <a:t>短い潜伏だけなら</a:t>
            </a:r>
          </a:p>
          <a:p xmlns:a="http://schemas.openxmlformats.org/drawingml/2006/main">
            <a:pPr algn="ctr">
              <a:defRPr sz="120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rPr>
              <a:t>十分に見える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513513-DD01-45FA-B5A9-DFFB75CB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長期潜伏が清浄性を押し出す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1E11C8-EFC3-412E-9519-600C1AFB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81650"/>
            <a:ext cx="693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7175A6-7C3C-46A7-A599-26DFBDA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95950"/>
            <a:ext cx="659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典型例が短く見えても、少数の長期潜伏が保持窓を超える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F2632B-4CBB-4624-88FC-0DC1DB1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1E5AEC-FA7C-42C1-BE43-9C92CFB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rPr>
              <a:t>Provenance note: 01_introduction.tex; 04_tauber_transition.tex. Pareto dwell time is a model assumption, not an empirical claim.</a:t>
            </a:r>
          </a:p>
        </p:txBody>
      </p:sp>
    </p:spTree>
    <p:extLst>
      <p:ext uri="{BB962C8B-B14F-4D97-AF65-F5344CB8AC3E}">
        <p14:creationId xmlns:p14="http://schemas.microsoft.com/office/powerpoint/2010/main" val="293124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98FD2-7AA0-4F80-A0D5-5073527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2781C-DE88-44F1-862F-F900DBC2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437B5F94-F14A-40A5-B503-769AE53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73A2EC1-8EE2-4F91-A551-4DE5339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LOSS ACCOUNTING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3D0D6-EA11-4377-8C1E-7B242178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DC361-0BA2-424B-A44A-23EEC0CA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モデルは復旧失敗を、検知失敗と保持超過に分けて数える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ADD67-E9A4-4D8A-96B9-89D6BBA4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早期検知に成功した費用は Δ に依存しない項として分離し、バックアップ間隔で変わる残余損失だけを設計対象にする。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27E0D-9BEC-4389-92A9-D29955B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858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50D90-4935-4323-B154-68DCF9C4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12383">
            <a:solidFill>
              <a:srgbClr val="CB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8C534-8F35-45F4-A559-481F522A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潜伏感染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FD790-8B32-4096-9BE0-F03D905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T_d と T_det の競争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B7E44-B3DD-4F0C-BE7A-7D41A0F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9185-046F-4574-95C0-B0678A4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E"/>
          </a:solidFill>
          <a:ln xmlns:a="http://schemas.openxmlformats.org/drawingml/2006/main" w="12383">
            <a:solidFill>
              <a:srgbClr val="3F6F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E73EB-EF7D-4312-ADBC-0E7BB209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rPr>
              <a:t>早期検知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4AFF2-B909-41E5-AF0D-68963F8E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T_det &lt; T_d</a:t>
            </a:r>
          </a:p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Δに依存しない費用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16959-A89D-4E2E-A937-642F246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12383">
            <a:solidFill>
              <a:srgbClr val="D58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0609B-4DC8-4F20-B027-273E7E02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早期検知失敗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0C1B0-8F65-4BF4-AFC6-7728847E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624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重み: Lβ = E[e^{-βT_d}]</a:t>
            </a:r>
          </a:p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ここから保持設計が効く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5AE9D-7F28-4CE6-8012-A3CBB5F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2910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95607-728B-4A30-9E20-0FFC3C61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12383">
            <a:solidFill>
              <a:srgbClr val="087D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213C3-2545-4564-B968-814D908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保持期間内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A650C-46DD-4EAC-8842-5F456E61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Lβ - Hβ</a:t>
            </a:r>
          </a:p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復旧費 + スキャン停止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844F0-0A39-4631-BBC4-961EF1C3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12383">
            <a:solidFill>
              <a:srgbClr val="C53A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4966E-3742-491B-929B-9212AE9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保持超過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3ADBD-821A-4B63-B98E-CE2EA07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530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Hβ</a:t>
            </a:r>
          </a:p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清浄復旧失敗 / 全損扱い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D014E-C05C-4EFF-8751-54F4FE5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143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EEF0D-6D86-4278-AFFA-236CD680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Q_full(Δ) が見るもの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7409A-8483-4A81-BF90-A9805EC7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7D5EE-E0A8-4EC3-8474-7CF5B27F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95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Hβ: 検知失敗かつ保持超過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02FCD-4377-415D-BCCE-4770D6B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95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EBB9B-FEA5-425B-8F60-C788E8B2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14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Mβ: 保持内の切断一次モーメント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E4A3DC-09B4-40C1-8676-A9064BD5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455264-1FAF-4753-B2B8-B56E206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33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Lβ - Hβ: 復旧可能分岐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47CF0-737C-4AC5-8097-4281B97A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29100"/>
            <a:ext cx="1771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設計式は、保持期間を少し延ばしたときに</a:t>
            </a:r>
          </a:p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全損を減らす便益と、スキャン停止時間の</a:t>
            </a:r>
          </a:p>
          <a:p xmlns:a="http://schemas.openxmlformats.org/drawingml/2006/main">
            <a:pPr algn="l">
              <a:def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限界費用が釣り合う点として出る。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07A41B-F66A-4FF9-81FD-EB6E2F3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43350"/>
            <a:ext cx="16573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61E38-F7F0-46F3-9971-2FFD4D7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00550"/>
            <a:ext cx="8001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41340-04AC-44A1-96C8-68EECF1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38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BE74CE-9C98-458B-AD56-6AFDE60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4CC81A-B918-4B69-92BF-260F4B5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76900"/>
            <a:ext cx="948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583FB9-468B-4C1B-B316-37AD6AD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ポイント：検知評価を「復旧できたか」に変えるため、保持超過の分岐を明示する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A0C1CC-61E5-4BDB-9D99-211247DD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1215A3-FE81-485C-8ABA-BC8DF203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rPr>
              <a:t>Provenance note: 02_model_formulation.tex; 05_backup_optimization.tex. Early-detection costs are separated from Delta-dependent residual loss.</a:t>
            </a:r>
          </a:p>
        </p:txBody>
      </p:sp>
    </p:spTree>
    <p:extLst>
      <p:ext uri="{BB962C8B-B14F-4D97-AF65-F5344CB8AC3E}">
        <p14:creationId xmlns:p14="http://schemas.microsoft.com/office/powerpoint/2010/main" val="20246451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22B36D-CEDE-4ED3-9D75-1C8720E7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9EE9D-5A6C-4864-8BD5-0E15BC0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87E11D49-582E-45C6-B91A-7F9931C7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17804BFD-C897-4939-AE5D-7CF5C160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DESIGN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66290-3168-4554-8A93-91F39A9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36B6C-F6B5-4D64-BF5A-FB47607B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まず決めるのは、間隔ではなく清浄履歴の長さ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0106C-9647-4B92-AE90-51CC81E3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清浄復旧ホライズン a* を先に決め、あとから保持世代数 n とバックアップ間隔 Δ に分解する。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DE033-973A-4CA7-AE7B-8BCA01DD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5803A-0DBA-4DCC-9918-32E02F21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損失・復旧時間・スキャン負荷から設計目標を読む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B6FB2-69BF-40AC-AE33-DD69259D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Δ* = [L − (d₁τ_R + d₀)] / (d₁κ_s 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08C60-CD7F-4B01-8D25-93080B0A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6229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a* = nΔ* = [L − (d₁τ_R + d₀)] / (d₁κ_s)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C9B3C-5CEB-4AFB-8CD7-6BF71F30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77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25E9B-CC1D-4D0C-B87B-038C98C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Δ*: バックアップ間隔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2FBB2-40AD-4FC5-921E-4618B6A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94601-01A5-47D3-85CC-A6231B0E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a*: 残すべき清浄期間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78B25-AB6A-439D-897C-F41B8DC2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058B9-FC3A-4F06-8FBB-6CC49033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保持世代数を増やせるなら、同じ a* をより短い Δ で実装できる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DE5BA-8772-4459-B755-38B1638F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028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D7344-F330-466E-8B9A-B1BFCCD0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変数の読み方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C9250-6013-437B-9A09-66F0A17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BE3B6-E6DF-4963-A70E-98F62286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L → 全損時損失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F64E3-FF0E-4DF0-B8E5-F771B681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EA37-B909-48C0-AF71-546FCFCF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d₁τ_R + d₀ → 通常復旧でも残る損失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6F542-E650-46D2-8D3A-720152E0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04443-DA40-4BD3-A76E-CB08010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κ_s → 長く戻るほど増える運用負荷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8CF70-F34A-4E3F-8A72-733A27E6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A97FF-FB9F-4900-8393-4C1C1B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n → 保持できる世代数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E7D8E-B677-4802-8376-C1EBE88B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34050"/>
            <a:ext cx="986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14288">
            <a:solidFill>
              <a:srgbClr val="C53A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F48C6-B24B-4562-8121-E7B4B72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29300"/>
            <a:ext cx="942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内点条件: L &gt; d₁τ_R + d₀、κ_s&gt;0、Δ*が許容区間内。外れる場合は端点評価と保持設計の見直し。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EFCA3A-ADAB-42A0-8C82-465BC309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E73EB3-B318-41D7-8179-6460D0F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rPr>
              <a:t>Provenance note: 05_backup_optimization.tex; 08_conclusion.tex. Formula is conditional on the stated interior/admissible design assumptions.</a:t>
            </a:r>
          </a:p>
        </p:txBody>
      </p:sp>
    </p:spTree>
    <p:extLst>
      <p:ext uri="{BB962C8B-B14F-4D97-AF65-F5344CB8AC3E}">
        <p14:creationId xmlns:p14="http://schemas.microsoft.com/office/powerpoint/2010/main" val="3910725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318B57-3EBE-47AE-8D8D-A15927FA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415E8-F71E-4C3B-BBDF-634FC8F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200791BB-8A46-4445-9793-0BCEE55A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3F825597-42B7-4D82-9D0A-C3ED6A17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OPERATING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645C1-1FB3-40E3-98DF-34CF433C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D7B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512AE-BB59-4DDE-9E4B-148BB6D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運用では、検知遅れ・復旧時間・追加保持を一緒に更新する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07467-6FAD-4029-A674-9BF04EEA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式を固定値の推奨にせず、組織ごとの損失・復旧・検知遅れを再計算する手順へ落とす。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D444F-180F-44AB-A2D4-2540D8B6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031DC-932F-422F-B965-22B823A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8E1C5-C77D-45E6-9F8A-11CF465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DF0EC-4F82-49F6-9E63-5E75342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損失を置く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8F2A7-14A7-4424-A0C6-58D85FD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73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L、d₁、d₀を見積もる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8EE3F-78C2-46C1-9271-12D3654A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F60A9-7A18-4D56-99AE-284E146D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1D8FB-B974-4B49-8E84-D759AD63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0762F-5D54-444F-8BD9-3A862E1B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66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D58A00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4FE9C-6D42-4A6A-8830-90F1ECB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38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復旧を測る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92E02-F31A-480C-90A5-C287408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173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τ_R と κ_s を置く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B3758-62A5-4A97-9EEA-4B4A1625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9F64F-8D9D-4675-80D1-11CB8DB3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E0233-82C2-4483-9679-80A5C03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B5364-6264-4C04-82DC-CD4172F2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3F6FB5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29701-148B-4D39-848E-E2B9495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38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遅れを見る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E4243-7206-4897-A1C5-D687D62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173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感染後経過が a* 内か見る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302FC-0665-495C-92B3-A4CF445F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2BC08-3862-4C9F-BF0F-3CD19E5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CBD3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44CBB-A286-4F75-9E26-B1DD360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145D3-2C9F-4020-B7DF-8C797F5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87D72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23765-6EA7-4579-AE35-425E5CE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38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保持を決める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F8DA4-CCD9-4EEB-B7C0-0E8C5751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73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n、Δ、追加世代を評価する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593D5-126E-47A9-98C9-8301A97F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9"/>
          </a:solidFill>
          <a:ln xmlns:a="http://schemas.openxmlformats.org/drawingml/2006/main" w="13335">
            <a:solidFill>
              <a:srgbClr val="087D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DD251-C859-4996-B67C-47D17FB5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944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744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4744B"/>
                </a:solidFill>
                <a:latin typeface="Hiragino Sans"/>
                <a:ea typeface="Hiragino Sans"/>
                <a:cs typeface="Hiragino Sans"/>
              </a:rPr>
              <a:t>実務値は自組織で再計算する。数値例はスケール確認であり、パラメータは実証推定値ではない。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1A499-23B6-459F-8695-3F9BF19D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67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5F2F05-FEBD-4830-89D9-89DB5569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864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146B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146B8"/>
                </a:solidFill>
                <a:latin typeface="Hiragino Sans"/>
                <a:ea typeface="Hiragino Sans"/>
                <a:cs typeface="Hiragino Sans"/>
              </a:rPr>
              <a:t>追加保持費用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88CBC-1829-4F79-B919-EEACBBCB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34374-CDA9-42F5-9BAD-72F315F1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673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5E28D-0030-46B3-99E0-B53D1966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864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C53A32"/>
                </a:solidFill>
                <a:latin typeface="Hiragino Sans"/>
                <a:ea typeface="Hiragino Sans"/>
                <a:cs typeface="Hiragino Sans"/>
              </a:rPr>
              <a:t>復旧不能ペナルティ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1F90E3-AA78-4E34-8EE8-3F973B02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86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72026"/>
                </a:solidFill>
                <a:latin typeface="Hiragino Sans"/>
                <a:ea typeface="Hiragino Sans"/>
                <a:cs typeface="Hiragino Sans"/>
              </a:rPr>
              <a:t>を置いて、追加保持世代を評価する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6DC7DF-29FD-4420-B718-E2DCD8A7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62707A"/>
                </a:solidFill>
                <a:latin typeface="Hiragino Sans"/>
                <a:ea typeface="Hiragino Sans"/>
                <a:cs typeface="Hiragino Sans"/>
              </a:rPr>
              <a:t>追加保持は「保存費用」と「清浄復旧に失敗する損失」を並べる小さな整数評価にする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2FB6B4-B7D1-43A2-B21E-6BABAF77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241B00-B8F3-4520-95E0-C6884C6B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67887"/>
                </a:solidFill>
                <a:latin typeface="Hiragino Sans"/>
                <a:ea typeface="Hiragino Sans"/>
                <a:cs typeface="Hiragino Sans"/>
              </a:rPr>
              <a:t>Provenance note: 05_backup_optimization.tex; 06_dynamic_retention.tex; 07_numerical_examples.tex; docs/evidence/heavy_tail_backup_source_note.md.</a:t>
            </a:r>
          </a:p>
        </p:txBody>
      </p:sp>
    </p:spTree>
    <p:extLst>
      <p:ext uri="{BB962C8B-B14F-4D97-AF65-F5344CB8AC3E}">
        <p14:creationId xmlns:p14="http://schemas.microsoft.com/office/powerpoint/2010/main" val="877928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2026-05-16T22:12:17.8610000Z</dcterms:created>
  <dcterms:modified xsi:type="dcterms:W3CDTF">2026-05-16T22:12:17.8610000Z</dcterms:modified>
</coreProperties>
</file>