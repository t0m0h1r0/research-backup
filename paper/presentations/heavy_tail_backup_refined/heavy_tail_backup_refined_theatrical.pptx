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9ecdc13813743ec" /><Relationship Type="http://schemas.openxmlformats.org/officeDocument/2006/relationships/extended-properties" Target="/docProps/app.xml" Id="R940b8f729b174644" /><Relationship Type="http://schemas.openxmlformats.org/officeDocument/2006/relationships/officeDocument" Target="/ppt/presentation.xml" Id="Ra3c2d0342f9349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a18bec4a1394975"/>
  </p:sldMasterIdLst>
  <p:notesMasterIdLst>
    <p:notesMasterId xmlns:r="http://schemas.openxmlformats.org/officeDocument/2006/relationships" r:id="R00254bc545634734"/>
  </p:notesMasterIdLst>
  <p:sldIdLst>
    <p:sldId xmlns:r="http://schemas.openxmlformats.org/officeDocument/2006/relationships" id="256" r:id="Rd6ad887767db4909"/>
    <p:sldId xmlns:r="http://schemas.openxmlformats.org/officeDocument/2006/relationships" id="257" r:id="Rca8b4e8df2a6447c"/>
    <p:sldId xmlns:r="http://schemas.openxmlformats.org/officeDocument/2006/relationships" id="258" r:id="R551a1678e2c14e5a"/>
    <p:sldId xmlns:r="http://schemas.openxmlformats.org/officeDocument/2006/relationships" id="259" r:id="Rd1c2d65452ad42b2"/>
    <p:sldId xmlns:r="http://schemas.openxmlformats.org/officeDocument/2006/relationships" id="260" r:id="R1910a477759b4b33"/>
    <p:sldId xmlns:r="http://schemas.openxmlformats.org/officeDocument/2006/relationships" id="261" r:id="Rcf9f763cc09543e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18bec4a1394975" /><Relationship Type="http://schemas.openxmlformats.org/officeDocument/2006/relationships/theme" Target="/ppt/theme/theme1.xml" Id="Rfea582fc39214b63" /><Relationship Type="http://schemas.openxmlformats.org/officeDocument/2006/relationships/notesMaster" Target="/ppt/notesMasters/notesMaster1.xml" Id="R00254bc545634734" /><Relationship Type="http://schemas.openxmlformats.org/officeDocument/2006/relationships/presProps" Target="/ppt/presProps.xml" Id="R6cc04f0e13954a22" /><Relationship Type="http://schemas.openxmlformats.org/officeDocument/2006/relationships/viewProps" Target="/ppt/viewProps.xml" Id="Rac9d26aeb4dc4d26" /><Relationship Type="http://schemas.openxmlformats.org/officeDocument/2006/relationships/tableStyles" Target="/ppt/tableStyles.xml" Id="Rf58e33f8a1c44a7f" /><Relationship Type="http://schemas.openxmlformats.org/officeDocument/2006/relationships/slide" Target="/ppt/slides/slide1.xml" Id="Rd6ad887767db4909" /><Relationship Type="http://schemas.openxmlformats.org/officeDocument/2006/relationships/slide" Target="/ppt/slides/slide2.xml" Id="Rca8b4e8df2a6447c" /><Relationship Type="http://schemas.openxmlformats.org/officeDocument/2006/relationships/slide" Target="/ppt/slides/slide3.xml" Id="R551a1678e2c14e5a" /><Relationship Type="http://schemas.openxmlformats.org/officeDocument/2006/relationships/slide" Target="/ppt/slides/slide4.xml" Id="Rd1c2d65452ad42b2" /><Relationship Type="http://schemas.openxmlformats.org/officeDocument/2006/relationships/slide" Target="/ppt/slides/slide5.xml" Id="R1910a477759b4b33" /><Relationship Type="http://schemas.openxmlformats.org/officeDocument/2006/relationships/slide" Target="/ppt/slides/slide6.xml" Id="Rcf9f763cc09543e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7c8cb99a26a488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5cf5a7b0bd04f3f" /><Relationship Type="http://schemas.openxmlformats.org/officeDocument/2006/relationships/notesMaster" Target="/ppt/notesMasters/notesMaster1.xml" Id="R84f693375b9f417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47d0fbcf46420f" /><Relationship Type="http://schemas.openxmlformats.org/officeDocument/2006/relationships/notesMaster" Target="/ppt/notesMasters/notesMaster1.xml" Id="R2f7bce5180d7422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bb19f27198445b5" /><Relationship Type="http://schemas.openxmlformats.org/officeDocument/2006/relationships/notesMaster" Target="/ppt/notesMasters/notesMaster1.xml" Id="Rb66a3fa5c8d54e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c8c1dd769224416" /><Relationship Type="http://schemas.openxmlformats.org/officeDocument/2006/relationships/notesMaster" Target="/ppt/notesMasters/notesMaster1.xml" Id="Rbc17845a00de41e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4c8590e8dd74386" /><Relationship Type="http://schemas.openxmlformats.org/officeDocument/2006/relationships/notesMaster" Target="/ppt/notesMasters/notesMaster1.xml" Id="R9044d1c1d5a6488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85de34cdd7040ef" /><Relationship Type="http://schemas.openxmlformats.org/officeDocument/2006/relationships/notesMaster" Target="/ppt/notesMasters/notesMaster1.xml" Id="R45a55a2f5fcb42a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18102db85a455e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246a374a9c5b49e1" /><Relationship Type="http://schemas.openxmlformats.org/officeDocument/2006/relationships/slideLayout" Target="/ppt/slideLayouts/slideLayout2.xml" Id="R25d7214542b9432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d7214542b9432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3e26964c75405f" /><Relationship Type="http://schemas.openxmlformats.org/officeDocument/2006/relationships/notesSlide" Target="/ppt/notesSlides/notesSlide1.xml" Id="R4776bcbad82947c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1007c8d8554a4c" /><Relationship Type="http://schemas.openxmlformats.org/officeDocument/2006/relationships/notesSlide" Target="/ppt/notesSlides/notesSlide2.xml" Id="R7031ba415670471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04c7c265e54f66" /><Relationship Type="http://schemas.openxmlformats.org/officeDocument/2006/relationships/notesSlide" Target="/ppt/notesSlides/notesSlide3.xml" Id="Rb5ce40e82f3948b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4208c4dacc4997" /><Relationship Type="http://schemas.openxmlformats.org/officeDocument/2006/relationships/notesSlide" Target="/ppt/notesSlides/notesSlide4.xml" Id="Rc583170ef30143b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5ee52fb98664959" /><Relationship Type="http://schemas.openxmlformats.org/officeDocument/2006/relationships/notesSlide" Target="/ppt/notesSlides/notesSlide5.xml" Id="Re68f6a1b3e18492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2d00399ec249de" /><Relationship Type="http://schemas.openxmlformats.org/officeDocument/2006/relationships/notesSlide" Target="/ppt/notesSlides/notesSlide6.xml" Id="R9929cf593d02449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C5B61F-DB0C-49C8-936E-4F09785B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EF956F-5AB9-4BDE-AF8E-F97EE94E4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49E276-C77D-4965-A097-3117EBC3B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4370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92D47F-28BF-435C-9859-F93B53985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2C507A-7574-4ECD-B27E-60E3B1087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B1194A-4C0A-4879-990F-4E1DEA72C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E0E73F-7133-4958-A468-97B0CAA80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CF62EE-24A5-48F1-B0F0-BC79BB6D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55BC41-0A41-4A54-819A-C2D56512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56A2D9-8A3B-4897-954A-FB8841E8C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BDFD22-04ED-4B43-91C1-B61E4730C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05E09A-8EF3-44B1-B236-14868C47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14093A-D873-4FFC-B41E-FCAB35FB4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8E69F4-2CB7-4B04-AA8A-4115011D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17411E-3956-4341-BDDE-77F341F8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B714A1-4999-4FEB-AB73-4D24DF946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871091-B418-4B4C-A430-5611C05D1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DA2FD3-462E-4E2A-B1CD-F43CACCCE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2CBDDF-3A16-42DD-B81A-069AE2178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470567-7795-4E6E-B85D-E6D148D5E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94BCBA-242C-4A10-99BA-7B06A969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811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4DD5FA-2B4A-43B4-BEBE-992D15E5D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66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7888B2-8329-4A45-94CE-B15AB56C6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527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070B3F-1D1D-412F-8C0B-08AF2D60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2F4671-B7E6-4A83-A53D-DEE41618D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9243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1CD5F8-F745-4EA6-8B59-8C1F717E1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01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E21041-379D-4324-A09A-9ED91518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95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2F7A32-9121-48F1-8D6E-618A8A2A8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9817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0B36F3-8FFD-440F-B658-5AFB9097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A702CA0-2AB8-4E7C-A5F9-123B0DD32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61950"/>
            <a:ext cx="51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01</a:t>
            </a:r>
          </a:p>
        </p:txBody>
      </p:sp>
      <p:sp>
        <p:nvSpPr>
          <p:cNvPr id="31" name="kicker-01-marker">
            <a:extLst xmlns:a="http://schemas.openxmlformats.org/drawingml/2006/main">
              <a:ext uri="{FF2B5EF4-FFF2-40B4-BE49-F238E27FC236}">
                <a16:creationId xmlns:a16="http://schemas.microsoft.com/office/drawing/2014/main" id="{B8747A50-7497-49E5-8B5A-2B95E2A8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kicker-01-label">
            <a:extLst xmlns:a="http://schemas.openxmlformats.org/drawingml/2006/main">
              <a:ext uri="{FF2B5EF4-FFF2-40B4-BE49-F238E27FC236}">
                <a16:creationId xmlns:a16="http://schemas.microsoft.com/office/drawing/2014/main" id="{45EC9008-D696-4568-9E39-DDC2D9AAA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19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INCIDENT DAY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5794EF8-C555-477C-BD30-33E26CA00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7429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最新が、いちばん危ない復元先になる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03806B5-77E0-4B87-B770-771B37F0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66850"/>
            <a:ext cx="6858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侵入後のバックアップは新しくても清浄とは限らない。復旧判断の問いを、鮮度から清浄性へひっくり返す。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1167F40-CB1D-406A-B373-E1EDFCA7B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219200"/>
            <a:ext cx="2362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rPr>
              <a:t>LATEST ≠ SAFE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14A601A-69D7-49EF-957A-60D7C7AD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21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20"/>
          </a:solidFill>
          <a:ln xmlns:a="http://schemas.openxmlformats.org/drawingml/2006/main" w="11430">
            <a:solidFill>
              <a:srgbClr val="49545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5CC29CD-F120-451A-9B22-5426ADC87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41719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3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9A9DFA1-3F7F-450A-B726-C08431E38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724150"/>
            <a:ext cx="5810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1B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F31B2FA-A593-45AF-8D4C-1AD7573A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62300"/>
            <a:ext cx="9582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899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0BB746E-7FBB-4B96-B7D0-F3E978B4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266950"/>
            <a:ext cx="47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D4395E1-2FC7-49B2-9FDA-0669856AD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2266950"/>
            <a:ext cx="47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44CDB9B-2E03-4FED-9185-3D122F25A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09800"/>
            <a:ext cx="1028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B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6EC8BCC-9AE1-420A-96CE-EB98C1E66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38375"/>
            <a:ext cx="838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F2B84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1">
                <a:solidFill>
                  <a:srgbClr val="F2B84B"/>
                </a:solidFill>
                <a:latin typeface="Hiragino Sans"/>
                <a:ea typeface="Hiragino Sans"/>
                <a:cs typeface="Hiragino Sans"/>
              </a:rPr>
              <a:t>推定侵入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B0449EB-9C5E-4C0F-B6B0-918A65F4B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209800"/>
            <a:ext cx="1123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1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6547E59-2E92-4CA3-9F9C-C52D7E486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238375"/>
            <a:ext cx="933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rPr>
              <a:t>発症・検知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721D8D2-3779-4CD9-B33C-9FD1E919F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横軸: バックアップ時点（古い → 新しい）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865F79D-1778-4723-8ECF-64970C47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8" y="3081338"/>
            <a:ext cx="161925" cy="1619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2B52806-ACD9-4F85-BFA6-ADB77393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1475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12日前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F3D4441-5A0B-41D9-A2C3-DF3CE6E14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1066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3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382D48D-01E9-4104-9D6E-DBFDA22B8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6717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清浄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4FFAC0E-BD52-4D0C-98C8-3545D5D82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8194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B22"/>
          </a:solidFill>
          <a:ln xmlns:a="http://schemas.openxmlformats.org/drawingml/2006/main" w="47625">
            <a:solidFill>
              <a:srgbClr val="34E0B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252351A-8C6C-474F-AD29-218AA1E9A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800350"/>
            <a:ext cx="381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✓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A5FFA4D-67A9-424A-A60F-73FBFBF7A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71475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10日前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BBFDD2D-A764-4C98-89F4-B297161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038600"/>
            <a:ext cx="1066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3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DFEDBAC-2788-434D-BCAB-633C9B80D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06717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清浄候補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C72C61F-0372-4DF8-AA95-BAB99C590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1038" y="3081338"/>
            <a:ext cx="161925" cy="1619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83FAEA7-985B-4B85-B7F4-A58ECB594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71475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7日前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D590026-A00D-4746-910A-F5E1A01A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038600"/>
            <a:ext cx="1066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B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B156C90-8D17-4AFD-9DAB-091E8011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06717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2B84B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F2B84B"/>
                </a:solidFill>
                <a:latin typeface="Hiragino Sans"/>
                <a:ea typeface="Hiragino Sans"/>
                <a:cs typeface="Hiragino Sans"/>
              </a:rPr>
              <a:t>侵入直前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70E0AB8-9B82-45CC-8012-DDF54DF7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788" y="3081338"/>
            <a:ext cx="161925" cy="1619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AE0452E-D1AB-4C12-9AB1-33C8E2CC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71475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3日前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2BABC5E-AFBD-4BFC-83F3-099468DDA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038600"/>
            <a:ext cx="1066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1B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53BAEEE-C4B1-46F4-9A59-61E613A64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6717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rPr>
              <a:t>汚染疑い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8E4287A-40BA-4C4B-9D7E-95CA948DB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538" y="3081338"/>
            <a:ext cx="161925" cy="1619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1CFCEF2-4D37-4C9B-9F47-3DE58F36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71475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昨日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62315E7-C4E6-444D-9AD4-137580EB2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038600"/>
            <a:ext cx="1066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1B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35258E0-F787-4B72-A880-4E94EBB50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06717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rPr>
              <a:t>汚染疑い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59EBB0F-47C4-41D4-BAE5-E41113DBC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8194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B22"/>
          </a:solidFill>
          <a:ln xmlns:a="http://schemas.openxmlformats.org/drawingml/2006/main" w="47625">
            <a:solidFill>
              <a:srgbClr val="FF4D4A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2AD2308-7A1C-42AB-96DE-49B02327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800350"/>
            <a:ext cx="381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rPr>
              <a:t>×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D52F889-6FD8-4FE7-A3DA-C725D251C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71475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今日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39A4099-2AFC-4179-AC84-55FD6BA7D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038600"/>
            <a:ext cx="1066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1B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E05E97C-42AC-402D-8DBB-4E567EE2A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06717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rPr>
              <a:t>最新だが危険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9417914-5CC4-4474-B200-EF36055C1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381250"/>
            <a:ext cx="390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rPr>
              <a:t>見た目が正常でも、侵入後なら要注意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9AB7AE2-704C-4C2D-999B-9CB6D10CA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391150"/>
            <a:ext cx="67437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2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7516852-0E2A-4872-BD2E-2CD0F174E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505450"/>
            <a:ext cx="64008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111820"/>
                </a:solidFill>
                <a:latin typeface="Hiragino Sans"/>
                <a:ea typeface="Hiragino Sans"/>
                <a:cs typeface="Hiragino Sans"/>
              </a:rPr>
              <a:t>復旧先を選ぶ基準は「新しい」ではなく</a:t>
            </a:r>
          </a:p>
          <a:p xmlns:a="http://schemas.openxmlformats.org/drawingml/2006/main">
            <a:pPr algn="ctr">
              <a:defRPr sz="1650" b="1">
                <a:solidFill>
                  <a:srgbClr val="11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111820"/>
                </a:solidFill>
                <a:latin typeface="Hiragino Sans"/>
                <a:ea typeface="Hiragino Sans"/>
                <a:cs typeface="Hiragino Sans"/>
              </a:rPr>
              <a:t>「侵入前まで戻れる」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E9133B9-EF94-4AB8-8D87-AF7530ECE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6F7A84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6F7A84"/>
                </a:solidFill>
                <a:latin typeface="Hiragino Sans"/>
                <a:ea typeface="Hiragino Sans"/>
                <a:cs typeface="Hiragino Sans"/>
              </a:rPr>
              <a:t>Provenance note: 01_introduction.tex; 02_model_formulation.tex. Model boundary: post-intrusion backups may be contaminated.</a:t>
            </a:r>
          </a:p>
        </p:txBody>
      </p:sp>
    </p:spTree>
    <p:extLst>
      <p:ext uri="{BB962C8B-B14F-4D97-AF65-F5344CB8AC3E}">
        <p14:creationId xmlns:p14="http://schemas.microsoft.com/office/powerpoint/2010/main" val="43092970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C25DDB-8A8C-4B4C-BA05-3CE3B890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C83458-3FB1-4CB1-BAA0-001E64CF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CC825C-FE18-47AC-94FC-A5DCBC5A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4370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356B45-2099-47B1-B6D1-345171B64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1F9738-7B86-40B4-93B8-02E997BE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3A68A2-26BC-454F-BC48-A76A9C80B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A00FDC-3D64-4C76-A350-B4F502822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F7B9C3-9F30-4CAA-B8C6-F7E8D841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3B91FE-11C3-4CD5-9307-A9AA2BAB7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1023F5-91E7-4830-A81F-D7DE6AE4C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4802D7-6BDA-4C15-B2DF-3B4B6A6F2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A99328-17A5-4D57-8676-AB7F892CC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8BBD2E-F8CA-4ED0-8B77-4EA2558CC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5075A3-23EA-4BAF-B807-6C31B76B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C7C298-38C1-463A-B551-F3E12F6DF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FDC43A-A7F1-4A0F-8CCA-59737218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0051C5-0E29-42C5-86C7-644DA4DDB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17B366-427E-4518-BD70-AF10FA00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69B390-7EB5-404F-A691-ADBC7040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EA7F17-2D39-4CB8-A572-0DD4F77E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5CB259-1C9F-400C-A7B3-8E9A0F544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811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7785A4-4F9E-4CBE-B07C-A5BC1E58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66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0E25FE-9CBF-413D-BE72-12ADB01CA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527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29273E-9B95-4243-9B5A-78C5C98A6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F5FCC6-A31A-475F-85C9-6802E85C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9243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4A5435-263F-4D69-9D38-854D7A804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01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1121DD-EC74-42EC-8160-CF59BE831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95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A3AB52-A78C-482E-B950-C6CB4A1C1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9817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51CA29-34B1-44DA-93C4-8203838B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6D4E07-E2EB-435A-AB69-26D46A43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61950"/>
            <a:ext cx="51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02</a:t>
            </a:r>
          </a:p>
        </p:txBody>
      </p:sp>
      <p:sp>
        <p:nvSpPr>
          <p:cNvPr id="31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35181432-58E3-4C3C-95EB-23422B37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1F7FD70D-6C78-4671-8565-BB003E1D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19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EVALUATION SHIFT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D18EAD-6A57-4786-B539-A2D50862E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933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255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検知性能は、復旧可能性に翻訳して初めて意味を持つ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F6B917A-4B0C-47CA-8142-527483EE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66850"/>
            <a:ext cx="7239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良いアラートとは、清浄世代が消える前に鳴るアラートである。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81EA8BE-BA67-478C-BC47-676ECDCD8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108204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11430">
            <a:solidFill>
              <a:srgbClr val="46525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9D29FC0-52B7-4E15-93E4-DBA072EA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00300"/>
            <a:ext cx="2381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6EA8FF"/>
                </a:solidFill>
                <a:latin typeface="Hiragino Sans"/>
                <a:ea typeface="Hiragino Sans"/>
                <a:cs typeface="Hiragino Sans"/>
              </a:defRPr>
            </a:pPr>
            <a:r>
              <a:rPr sz="3450" b="1">
                <a:solidFill>
                  <a:srgbClr val="6EA8FF"/>
                </a:solidFill>
                <a:latin typeface="Hiragino Sans"/>
                <a:ea typeface="Hiragino Sans"/>
                <a:cs typeface="Hiragino Sans"/>
              </a:rPr>
              <a:t>ALERT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542D193-44C9-4E00-AD6C-FD4B9FD1E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400300"/>
            <a:ext cx="1809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255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BEFORE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89F04DF-26F4-40BA-9D90-68FBE2A5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2410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2550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CLEAN HISTORY</a:t>
            </a:r>
          </a:p>
          <a:p xmlns:a="http://schemas.openxmlformats.org/drawingml/2006/main">
            <a:pPr algn="l">
              <a:defRPr sz="2550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2550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EXPIRES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62BD374-E5B2-4AC2-A500-711CDFA3A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147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aₙ(Δ) = nΔ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A74019B-1E65-493D-924E-092D1C34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95750"/>
            <a:ext cx="7048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3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676BC11-21DB-4518-A1E9-B5949784A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095750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1B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C37909-3ADD-412C-87DA-5534AE29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67200"/>
            <a:ext cx="90106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92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174C6F1-4172-40AD-B4B7-AE914513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29050"/>
            <a:ext cx="381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B37DE16-17EA-4B78-A4DB-EEC0B587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29050"/>
            <a:ext cx="381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A4BC76A-0A9D-4A19-BE95-40AE65D90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10000"/>
            <a:ext cx="381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9B323EF-F820-467F-80B7-E3E3B009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1148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B22"/>
          </a:solidFill>
          <a:ln xmlns:a="http://schemas.openxmlformats.org/drawingml/2006/main" w="47625">
            <a:solidFill>
              <a:srgbClr val="6EA8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B2EB802-6F4C-45A1-95C3-18EE23EF3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790950"/>
            <a:ext cx="80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B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5C7907F-FADC-4C46-92C2-D377D2B47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819525"/>
            <a:ext cx="60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6EA8FF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1">
                <a:solidFill>
                  <a:srgbClr val="6EA8FF"/>
                </a:solidFill>
                <a:latin typeface="Hiragino Sans"/>
                <a:ea typeface="Hiragino Sans"/>
                <a:cs typeface="Hiragino Sans"/>
              </a:rPr>
              <a:t>検知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4356705-D232-4C49-BF44-E7B51D48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7909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横軸: 感染後に経過した時間（短い → 長い）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FFD5AA5-BE8E-4245-8F90-2374B7095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291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この内側なら復旧可能として扱う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6ADDFC2-AC41-489A-BCB9-C0C47A868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6291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rPr>
              <a:t>超えると清浄復旧に失敗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EC95A44-31BC-4BE0-B9B8-838457016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105400"/>
            <a:ext cx="1581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B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FAD0C6A-9306-4830-9B46-64C94E45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133975"/>
            <a:ext cx="1390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6EA8FF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1">
                <a:solidFill>
                  <a:srgbClr val="6EA8FF"/>
                </a:solidFill>
                <a:latin typeface="Hiragino Sans"/>
                <a:ea typeface="Hiragino Sans"/>
                <a:cs typeface="Hiragino Sans"/>
              </a:rPr>
              <a:t>n = 保持世代数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BEBAFB6-5BA6-4618-B90D-1025A9123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105400"/>
            <a:ext cx="1219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B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1F0076F-B49E-4C59-9203-E43146FE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133975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F2B84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1">
                <a:solidFill>
                  <a:srgbClr val="F2B84B"/>
                </a:solidFill>
                <a:latin typeface="Hiragino Sans"/>
                <a:ea typeface="Hiragino Sans"/>
                <a:cs typeface="Hiragino Sans"/>
              </a:rPr>
              <a:t>Δ = 間隔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8914A38-C5BB-46E7-B7A3-3A02ED847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0540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3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C12E191-1BBA-4BDB-B7F9-08D76B6E2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133975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aₙ = 清浄復旧ホライズン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C01ABB8-F056-4816-9F35-B72F703E9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810250"/>
            <a:ext cx="75057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2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FE461A8-109B-412A-A581-BDB9284FA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924550"/>
            <a:ext cx="7162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11820"/>
                </a:solidFill>
                <a:latin typeface="Hiragino Sans"/>
                <a:ea typeface="Hiragino Sans"/>
                <a:cs typeface="Hiragino Sans"/>
              </a:rPr>
              <a:t>検知の評価軸を「当たったか」から「戻れたか」へ変える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6052AFB-F6DB-4B83-8D87-4EB7B444B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6F7A84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6F7A84"/>
                </a:solidFill>
                <a:latin typeface="Hiragino Sans"/>
                <a:ea typeface="Hiragino Sans"/>
                <a:cs typeface="Hiragino Sans"/>
              </a:rPr>
              <a:t>Provenance note: 02_model_formulation.tex; 08_conclusion.tex. Recoverability is modeled through infection age and clean-backup horizon.</a:t>
            </a:r>
          </a:p>
        </p:txBody>
      </p:sp>
    </p:spTree>
    <p:extLst>
      <p:ext uri="{BB962C8B-B14F-4D97-AF65-F5344CB8AC3E}">
        <p14:creationId xmlns:p14="http://schemas.microsoft.com/office/powerpoint/2010/main" val="15021140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A6C0F0-C339-46EC-9245-E470611BB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0735DE-AD55-4BB7-8ECD-828511AA2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DFDA21-44FB-4C60-BDA1-9EB8A89E9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4370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B2CCD7-A3D7-4E8A-836D-3562EB60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556CF8-4F34-421A-B74B-A66BCDFF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588D8F-EE11-43FC-8E60-63DE617B4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1F003-686F-4812-B171-384F937F3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8192B1-7003-48EC-A7AB-D6DCD2AA7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FF0518-36FE-406B-A0AC-6E9E53C16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F28D3E-FC60-48BF-8DA0-EEA0B189F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0013AA-7D22-4166-BA6B-622334B7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F896E2-EB4A-44B4-BA3C-E78D083B4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A5BEEC-CE21-45A2-9D41-9723E3BBA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9D34EE-5BC7-411E-94D6-B979FEFC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227814-19B0-487B-8F47-599C5F406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D92B05-B28E-4349-9422-20D10E237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F9B79D-5A75-43F9-904C-BEBBA12F2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EB2922-1888-4DFF-B323-A9B22D2A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63F7E7-A071-4DCC-912C-B36FBCD5C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E6C9E9-2884-457D-8573-34A56C27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BCB3CF-E09A-42BB-BEB2-AF46FFF9A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811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CD575E-7DB7-4939-9729-1D928F551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66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11F222-396C-43A2-A390-85D03EF4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527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E9CEE8-506F-465E-89A6-D2DAA2D6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766D9C-C7C5-4137-A6E4-B70D6FB5E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9243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1DB9D7-CEF3-4C7F-A74D-A6AD33484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01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D635BE-4845-4D70-B60D-2A5D92C1D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95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83C293-55FE-4C02-8F8C-FE8B6203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9817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9BDEC7-86E6-4EC4-A1B2-86C13D80B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106F7F-DE31-4614-835A-A219483BC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61950"/>
            <a:ext cx="51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03</a:t>
            </a:r>
          </a:p>
        </p:txBody>
      </p:sp>
      <p:sp>
        <p:nvSpPr>
          <p:cNvPr id="31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4A0D3080-C053-4618-9F7F-CA5FB12D7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4D8C38CB-CD07-4951-BFBB-C58C03904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19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TAIL RISK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5D5593-7638-4AAD-A306-65680E03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933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262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短い典型例に騙されると、尾が保持窓を破る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0405EB-E23A-493F-8068-3025942E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66850"/>
            <a:ext cx="8191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Pareto 型の潜伏モデルに限った説明。実測分布ではなく、保持境界が必要になる理由を見せる。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0601D98-2DDB-4D32-9B37-D062342EE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462915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11430">
            <a:solidFill>
              <a:srgbClr val="42505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FE5A55-3189-4B56-A09D-1D2C8CD9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114550"/>
            <a:ext cx="462915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11430">
            <a:solidFill>
              <a:srgbClr val="5E1D2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69B69EC-65A1-4237-AF47-DF074A4C8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6220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典型例だけを見る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67D2DD4-DE45-4C3E-8985-D9DBE97AB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36220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尾まで見る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6516CA9-2C84-42C5-BC7A-12353F820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48000"/>
            <a:ext cx="190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919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10FF2E3-58C6-43EC-BD28-EC34C5720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62450"/>
            <a:ext cx="323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919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7202F5E-A35D-4FE4-AAEC-A6684E263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0035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縦軸: 起きやすさ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675CF85-507E-48A3-BCEE-9B271AED1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52950"/>
            <a:ext cx="257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横軸: 潜伏期間（短い → 長い）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83B3F0E-EA17-4A86-AE11-864603B53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48000"/>
            <a:ext cx="190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919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10C2719-2E09-49E2-9222-A8FFEC40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362450"/>
            <a:ext cx="323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919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8877702-B376-4FDB-8C2D-9F446508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0035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縦軸: 起きやすさ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9CE6836-B028-4F03-A1D3-A4DA3E84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52950"/>
            <a:ext cx="257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横軸: 潜伏期間（短い → 長い）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FAE12DA-CC76-49C4-AC08-9728C55E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810000"/>
            <a:ext cx="266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B23214D-701E-47EC-B7F3-9BD58556F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486150"/>
            <a:ext cx="266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FF653CB-324A-4CBA-B9EC-95867205E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200400"/>
            <a:ext cx="2667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2156890-2091-42A3-ABCB-6AE5DB099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371850"/>
            <a:ext cx="266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A9C1DC0-CA3C-43EF-9D23-5E06DA0D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733800"/>
            <a:ext cx="2667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7B076EA-9F44-47EE-9824-0A7AF728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48100"/>
            <a:ext cx="209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8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25F71BD-EBCC-4CE4-8EDB-C1C2D12B1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524250"/>
            <a:ext cx="2095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8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188A65B-406E-4DD3-ADF9-B88E89308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57550"/>
            <a:ext cx="2095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8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E7D1834-40E5-40A0-A529-479F2D8B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876550"/>
            <a:ext cx="2095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8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136F87F-EB5D-49F4-B2F7-8FEE7136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476500"/>
            <a:ext cx="2095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8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0722B40-DDA8-4401-9B70-2F0FEBD3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971800"/>
            <a:ext cx="2095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8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5CB09EB-ADDC-4655-9A84-5637D0DF5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371850"/>
            <a:ext cx="2095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8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A967B50-7743-4823-BD38-056C93278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619500"/>
            <a:ext cx="2095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8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7754762-AE1C-4A51-AB0D-D1B40BF64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810000"/>
            <a:ext cx="209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8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E50FFD4-46BF-4D6D-BC58-D51207EA8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952750"/>
            <a:ext cx="5905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181A"/>
          </a:solidFill>
          <a:ln xmlns:a="http://schemas.openxmlformats.org/drawingml/2006/main" w="19050">
            <a:solidFill>
              <a:srgbClr val="FF4D4A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08D542D-C7D6-4613-AFC4-4CA2F020B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838450"/>
            <a:ext cx="47625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9D81A56-6C44-4C7D-B3A2-677F3117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838450"/>
            <a:ext cx="47625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62EA8E8-207C-4511-9A52-D29832278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647950"/>
            <a:ext cx="95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B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58AC564-AA37-40E0-A259-77B327D0A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76525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F2B84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1">
                <a:solidFill>
                  <a:srgbClr val="F2B84B"/>
                </a:solidFill>
                <a:latin typeface="Hiragino Sans"/>
                <a:ea typeface="Hiragino Sans"/>
                <a:cs typeface="Hiragino Sans"/>
              </a:rPr>
              <a:t>保持窓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BCEE1C1-BF87-4EDF-A2E5-9452FED0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47950"/>
            <a:ext cx="95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B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B278B49-76CD-4C62-B38D-32A1F9947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76525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F2B84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1">
                <a:solidFill>
                  <a:srgbClr val="F2B84B"/>
                </a:solidFill>
                <a:latin typeface="Hiragino Sans"/>
                <a:ea typeface="Hiragino Sans"/>
                <a:cs typeface="Hiragino Sans"/>
              </a:rPr>
              <a:t>保持窓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55E1FDE-9423-4A98-BF28-7B8C66A0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8387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EA8FF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6EA8FF"/>
                </a:solidFill>
                <a:latin typeface="Hiragino Sans"/>
                <a:ea typeface="Hiragino Sans"/>
                <a:cs typeface="Hiragino Sans"/>
              </a:rPr>
              <a:t>十分に見える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9A30A1B-8753-4854-A9F0-248DA2764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38700"/>
            <a:ext cx="2514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rPr>
              <a:t>清浄性が押し出される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2C84566-029B-4998-AA4E-2482A14F5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190750"/>
            <a:ext cx="1143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rPr>
              <a:t>RARE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45C71B0-8E68-4397-932F-69F54B35D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295900"/>
            <a:ext cx="1371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rPr>
              <a:t>LONG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1FECDB0-5BE7-4B71-AFAD-2E01177AE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19750"/>
            <a:ext cx="7696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2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0EF4D9A-07D3-479B-879F-4398BF5A6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5734050"/>
            <a:ext cx="7353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11820"/>
                </a:solidFill>
                <a:latin typeface="Hiragino Sans"/>
                <a:ea typeface="Hiragino Sans"/>
                <a:cs typeface="Hiragino Sans"/>
              </a:rPr>
              <a:t>この図で見るのは「高い棒」ではなく、右端の尾が保持窓を越えるか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85AE382-E2A0-445D-8246-11B48D25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6F7A84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6F7A84"/>
                </a:solidFill>
                <a:latin typeface="Hiragino Sans"/>
                <a:ea typeface="Hiragino Sans"/>
                <a:cs typeface="Hiragino Sans"/>
              </a:rPr>
              <a:t>Provenance note: 01_introduction.tex; 04_tauber_transition.tex. Pareto dwell time is a model assumption, not an empirical claim.</a:t>
            </a:r>
          </a:p>
        </p:txBody>
      </p:sp>
    </p:spTree>
    <p:extLst>
      <p:ext uri="{BB962C8B-B14F-4D97-AF65-F5344CB8AC3E}">
        <p14:creationId xmlns:p14="http://schemas.microsoft.com/office/powerpoint/2010/main" val="192407469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95EF4D-C0F2-45F6-8321-61FF963B9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4BC3BF-FAE2-4404-A8EA-095F1356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6E7C2B-23AE-4856-8961-A853A522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4370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E33CD7-7D55-40BD-B955-C31E80D66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18178C-2055-4006-AB5C-BA6E126D7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4BF622-8F7B-4CAD-80F3-4413D468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FD2DFB-C92F-4687-AEE7-01037089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AE8AAB-39C7-40AA-A30C-30B16E80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3069DE-0A67-4AB0-A07E-0D02466DB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AC3646-0B03-467B-BF2A-7B8981226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80F395-0D1C-4778-94E3-66040B0A4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96BEC2-BA18-4FCB-84FC-17DA6E14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56A008-6345-4FA8-85F1-C4C0A0497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BC011E-3208-486B-8F90-044003EC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A78D61-CE19-42EF-9C21-B1F6AF651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7CC373-7A1F-47C8-B447-2852A7AB9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5EBC5D-75AF-45D4-BFBA-B4ED2B382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AEF879-1DD4-44B2-9BF7-31179DEC9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9B2780-BEEB-4275-9037-F9EF54B7E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BFB5ED-8A14-4D25-B97D-6E011EDE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B005BB-4E36-4A21-9990-4D142BEA6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811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4DCB1C-1F7A-4E5A-A06C-32FFD9F8C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66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884283-1344-4449-9FE6-209C0989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527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9659D2-3097-4E48-AFDD-B8053196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70210D-7ED5-4FF1-85D1-A45F2D702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9243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927F20-7624-4736-BDB9-2EF036470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01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116025-0343-4C08-9132-96CC7A52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95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E96343-0CA4-47A2-B44F-4172C7B28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9817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2D45E6-387C-4A76-AF52-18436186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165010-ED5D-49C9-9726-691512AA7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61950"/>
            <a:ext cx="51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04</a:t>
            </a:r>
          </a:p>
        </p:txBody>
      </p:sp>
      <p:sp>
        <p:nvSpPr>
          <p:cNvPr id="31" name="kicker-04-marker">
            <a:extLst xmlns:a="http://schemas.openxmlformats.org/drawingml/2006/main">
              <a:ext uri="{FF2B5EF4-FFF2-40B4-BE49-F238E27FC236}">
                <a16:creationId xmlns:a16="http://schemas.microsoft.com/office/drawing/2014/main" id="{0B696C4C-9852-497F-9069-8FDCEF7CC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kicker-04-label">
            <a:extLst xmlns:a="http://schemas.openxmlformats.org/drawingml/2006/main">
              <a:ext uri="{FF2B5EF4-FFF2-40B4-BE49-F238E27FC236}">
                <a16:creationId xmlns:a16="http://schemas.microsoft.com/office/drawing/2014/main" id="{D894BA4B-CD6B-41BD-B233-B0E72656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19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LOSS ACCOUNTING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D3FFF2-0A69-48C8-9674-B035B497D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8858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復旧失敗は、ひとつの失敗ではない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10ED6BE-CE69-4472-9701-81CB28D77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66850"/>
            <a:ext cx="8191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検知失敗と保持超過を分けて数える。ここが、検知評価を復旧可能性へ接続する継ぎ目になる。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39C0594-CE79-4C7B-A452-D55C160D6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19300"/>
            <a:ext cx="10877550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11430">
            <a:solidFill>
              <a:srgbClr val="46525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41E403E-E12E-41C9-B756-6CAB55150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362200"/>
            <a:ext cx="1943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225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Q_full(Δ)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1091670-E62C-4A27-AF5C-96CED30C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81350"/>
            <a:ext cx="18097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20"/>
          </a:solidFill>
          <a:ln xmlns:a="http://schemas.openxmlformats.org/drawingml/2006/main" w="14288">
            <a:solidFill>
              <a:srgbClr val="56626E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C1E137F-0AFA-4B33-87C3-5CFCEC292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14700"/>
            <a:ext cx="1466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潜伏感染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607813E-025B-4D5E-A573-253E5B69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76650"/>
            <a:ext cx="1466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88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T_d と T_det の競争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724225A-E2D8-45A3-972A-15293DF45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524250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C46ECF-BCB5-463F-AE68-26B992E4C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19350"/>
            <a:ext cx="21526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B47"/>
          </a:solidFill>
          <a:ln xmlns:a="http://schemas.openxmlformats.org/drawingml/2006/main" w="14288">
            <a:solidFill>
              <a:srgbClr val="6EA8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4A0F2F8-2DC0-483A-A2D6-0C140E88B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5527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A8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6EA8FF"/>
                </a:solidFill>
                <a:latin typeface="Hiragino Sans"/>
                <a:ea typeface="Hiragino Sans"/>
                <a:cs typeface="Hiragino Sans"/>
              </a:rPr>
              <a:t>早期検知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DC9B9E3-4D82-4907-969C-2E9CB1C1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9146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88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T_det &lt; T_d</a:t>
            </a:r>
          </a:p>
          <a:p xmlns:a="http://schemas.openxmlformats.org/drawingml/2006/main">
            <a:pPr algn="l">
              <a:defRPr sz="88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88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Δに依存しない費用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4B1789C-418D-4986-AB38-D5FBCE408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152900"/>
            <a:ext cx="21526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B16"/>
          </a:solidFill>
          <a:ln xmlns:a="http://schemas.openxmlformats.org/drawingml/2006/main" w="14288">
            <a:solidFill>
              <a:srgbClr val="F2B84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A701292-A382-4181-98A8-C6C21855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2862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2B84B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2B84B"/>
                </a:solidFill>
                <a:latin typeface="Hiragino Sans"/>
                <a:ea typeface="Hiragino Sans"/>
                <a:cs typeface="Hiragino Sans"/>
              </a:rPr>
              <a:t>早期検知失敗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41D2CA5-EF08-413D-AEE3-2D438F437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6482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88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重み: Lβ</a:t>
            </a:r>
          </a:p>
          <a:p xmlns:a="http://schemas.openxmlformats.org/drawingml/2006/main">
            <a:pPr algn="l">
              <a:defRPr sz="88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88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ここから保持設計が効く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F027A1B-ED17-41E7-9D73-D09D36F0D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552950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2B84B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F2B84B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6FF8DA5-9099-4E99-9711-CA98E6A0B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76600"/>
            <a:ext cx="22479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32E"/>
          </a:solidFill>
          <a:ln xmlns:a="http://schemas.openxmlformats.org/drawingml/2006/main" w="14288">
            <a:solidFill>
              <a:srgbClr val="34E0B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2A45727-5B99-46C5-8B3C-C6ACFE205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40995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保持期間内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A439905-BCD0-448D-AC99-91E486708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771900"/>
            <a:ext cx="1905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88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Lβ - Hβ</a:t>
            </a:r>
          </a:p>
          <a:p xmlns:a="http://schemas.openxmlformats.org/drawingml/2006/main">
            <a:pPr algn="l">
              <a:defRPr sz="88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88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復旧費 + スキャン停止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1797E02-B653-4C55-AF4F-51E8DC87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533900"/>
            <a:ext cx="22479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1B20"/>
          </a:solidFill>
          <a:ln xmlns:a="http://schemas.openxmlformats.org/drawingml/2006/main" w="14288">
            <a:solidFill>
              <a:srgbClr val="FF4D4A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30DC481-7420-4BFA-B029-2F687B2D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66725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rPr>
              <a:t>保持超過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B09E58E-57ED-456F-AF90-C2F8AF5A9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029200"/>
            <a:ext cx="1905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88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Hβ</a:t>
            </a:r>
          </a:p>
          <a:p xmlns:a="http://schemas.openxmlformats.org/drawingml/2006/main">
            <a:pPr algn="l">
              <a:defRPr sz="88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88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清浄復旧失敗 / 全損扱い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80ABA8E-B1FA-4B2F-9F46-9E11DF9A1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718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1B20"/>
          </a:solidFill>
          <a:ln xmlns:a="http://schemas.openxmlformats.org/drawingml/2006/main" w="11430">
            <a:solidFill>
              <a:srgbClr val="FF4D4A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9CD1091-07CB-43BE-813F-30961C42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038475"/>
            <a:ext cx="1314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rPr>
              <a:t>Hβ: 保持超過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A92B360-18EC-4EE7-8E10-0920BF7B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52425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32E"/>
          </a:solidFill>
          <a:ln xmlns:a="http://schemas.openxmlformats.org/drawingml/2006/main" w="11430">
            <a:solidFill>
              <a:srgbClr val="34E0B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684DB18-A260-490D-A1D5-9E73D977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590925"/>
            <a:ext cx="1314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Mβ: 保持内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B74DAC6-D0B3-498D-8660-0799ACC9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767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B16"/>
          </a:solidFill>
          <a:ln xmlns:a="http://schemas.openxmlformats.org/drawingml/2006/main" w="11430">
            <a:solidFill>
              <a:srgbClr val="F2B84B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025C919-3C3C-4560-8611-FD9D4204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143375"/>
            <a:ext cx="1314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2B84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2B84B"/>
                </a:solidFill>
                <a:latin typeface="Hiragino Sans"/>
                <a:ea typeface="Hiragino Sans"/>
                <a:cs typeface="Hiragino Sans"/>
              </a:rPr>
              <a:t>Lβ-Hβ: 復旧分岐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1836BBD-12FC-4AE1-BCFD-628723C59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70535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ここで見るのは、</a:t>
            </a:r>
          </a:p>
          <a:p xmlns:a="http://schemas.openxmlformats.org/drawingml/2006/main">
            <a:pPr algn="ctr">
              <a:defRPr sz="975" b="0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どの分岐が Δ で変わるか。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E4187F9-A7F5-49D0-BD55-6AE7742EF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905500"/>
            <a:ext cx="8229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2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F6654A2-2060-40C8-BBD3-3BE619B8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6019800"/>
            <a:ext cx="7886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11820"/>
                </a:solidFill>
                <a:latin typeface="Hiragino Sans"/>
                <a:ea typeface="Hiragino Sans"/>
                <a:cs typeface="Hiragino Sans"/>
              </a:rPr>
              <a:t>検知評価を「復旧できたか」に変えるため、保持超過の分岐を表へ出す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E3DF042-5C67-46F0-BEDC-CDE6435F1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6F7A84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6F7A84"/>
                </a:solidFill>
                <a:latin typeface="Hiragino Sans"/>
                <a:ea typeface="Hiragino Sans"/>
                <a:cs typeface="Hiragino Sans"/>
              </a:rPr>
              <a:t>Provenance note: 02_model_formulation.tex; 05_backup_optimization.tex. Early-detection costs are separated from Delta-dependent residual loss.</a:t>
            </a:r>
          </a:p>
        </p:txBody>
      </p:sp>
    </p:spTree>
    <p:extLst>
      <p:ext uri="{BB962C8B-B14F-4D97-AF65-F5344CB8AC3E}">
        <p14:creationId xmlns:p14="http://schemas.microsoft.com/office/powerpoint/2010/main" val="17412246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922503-BAD4-4CC3-AA71-FF654429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19A4FA-D7B1-4323-91B2-8AB4C6883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1F6F3D-DA20-4410-8745-AA98721D0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4370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AAA7C5-5370-4345-9A5C-E7C880E3C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2EFCB9-E267-4CD5-852A-030E25ADD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C219C1-6899-4625-973A-D878CC49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DA8977-1283-4894-AD53-0E900701E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F1D965-05D0-4D1D-93BB-5FEDC4F8B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8C80E7-AA64-40AA-B8B0-43CA0086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4A1F6E-0C05-4156-98FF-1C70D0823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2E8117-72F1-48D4-BB92-76EB2BFE3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EDDD8F-3704-4D83-828C-27FE10B8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F0886C-F835-4686-B6A6-4AE97CF0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6750ED-B5A1-4C59-8096-1296CBDFB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4AB6EB-14FC-4740-9561-D5B27642A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804242-4C9E-4B39-9F68-9F2E9C83C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562881-1D70-4FA1-BC94-46CDEA29E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F723AD-39F6-4BF5-B4EF-AC31E972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12FD95-4259-42F3-8BBF-1F423F4E7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278FAE-246F-4A7C-B43B-63979642E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3077C3-671B-4420-8E53-0758779B3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811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998D4D-C371-4364-B7D3-300CDBA8D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66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5A62B5-E385-4559-90EE-FC3B9D42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527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D10753-844A-46A0-958C-26C5E2FE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094267-BB18-4CBB-85B2-62E7FF5B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9243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D77ABF-4E0E-4D12-A6CA-734961F4D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01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0F3223-43CE-4A04-A466-9F77C287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95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D54A5C-9FE7-41BE-9F5D-11DE49DDE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9817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D9C7CC-99AB-4141-B666-4322498DC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DB5700-D8D6-4F6B-80E4-5C689C0FA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61950"/>
            <a:ext cx="51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05</a:t>
            </a:r>
          </a:p>
        </p:txBody>
      </p:sp>
      <p:sp>
        <p:nvSpPr>
          <p:cNvPr id="31" name="kicker-05-marker">
            <a:extLst xmlns:a="http://schemas.openxmlformats.org/drawingml/2006/main">
              <a:ext uri="{FF2B5EF4-FFF2-40B4-BE49-F238E27FC236}">
                <a16:creationId xmlns:a16="http://schemas.microsoft.com/office/drawing/2014/main" id="{083DB1A1-FF1A-4B8B-85D1-AA6DC83F6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kicker-05-label">
            <a:extLst xmlns:a="http://schemas.openxmlformats.org/drawingml/2006/main">
              <a:ext uri="{FF2B5EF4-FFF2-40B4-BE49-F238E27FC236}">
                <a16:creationId xmlns:a16="http://schemas.microsoft.com/office/drawing/2014/main" id="{DA706F33-F970-4A72-96E4-259873770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19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DESIGN TARGET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4AD6EF-3F3A-40BF-81D4-1B2D3ABD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7239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式は、まず上下のかたまりを見る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16049F9-10D4-4FF3-A5A2-2805BE41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66850"/>
            <a:ext cx="6858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細かい記号を追う前に、分子・分母・最後の n の3か所だけを見る。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40959C7-AEB9-4278-990D-1F0B24EF8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257300"/>
            <a:ext cx="2133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2100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3 POINTS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A38AFB0-4506-4988-8382-85889CBC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1062990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11430">
            <a:solidFill>
              <a:srgbClr val="46525D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BCE8EFC-8F63-4136-BC01-235D47B4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47950"/>
            <a:ext cx="781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225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Δ* =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233C2D7-D79A-4EA9-B4D2-604F3306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76500"/>
            <a:ext cx="4171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1D12"/>
          </a:solidFill>
          <a:ln xmlns:a="http://schemas.openxmlformats.org/drawingml/2006/main" w="19050">
            <a:solidFill>
              <a:srgbClr val="F2B84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0B74721-0A13-4EE1-9098-554944DBB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628900"/>
            <a:ext cx="3752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2B84B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F2B84B"/>
                </a:solidFill>
                <a:latin typeface="Hiragino Sans"/>
                <a:ea typeface="Hiragino Sans"/>
                <a:cs typeface="Hiragino Sans"/>
              </a:rPr>
              <a:t>L − (d₁τ_R + d₀)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6C242A2-BE39-4C31-BBBF-5CA3772F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257550"/>
            <a:ext cx="4171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B27"/>
          </a:solidFill>
          <a:ln xmlns:a="http://schemas.openxmlformats.org/drawingml/2006/main" w="19050">
            <a:solidFill>
              <a:srgbClr val="34E0B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F5F9C2A-411E-404D-931B-BB1917735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09950"/>
            <a:ext cx="3752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d₁κ_s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490BAAE-0C98-4FFB-8461-DC5525FB7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90850"/>
            <a:ext cx="8191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EA8FF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1">
                <a:solidFill>
                  <a:srgbClr val="6EA8FF"/>
                </a:solidFill>
                <a:latin typeface="Hiragino Sans"/>
                <a:ea typeface="Hiragino Sans"/>
                <a:cs typeface="Hiragino Sans"/>
              </a:rPr>
              <a:t>÷ 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2A4C387-C25C-4CED-9FBD-10D314C82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267200"/>
            <a:ext cx="2781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B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645A3C3-97B2-4CED-9D33-38E872BD0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295775"/>
            <a:ext cx="2590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2B84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2B84B"/>
                </a:solidFill>
                <a:latin typeface="Hiragino Sans"/>
                <a:ea typeface="Hiragino Sans"/>
                <a:cs typeface="Hiragino Sans"/>
              </a:rPr>
              <a:t>1 分子: 全損と通常復旧の差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E9F5ACC-3F34-4CD9-AE1C-52C4018D2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2672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3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8A1E053-05C8-4058-AA83-29C8585C6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295775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2 分母: 長く戻るほど増える負荷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252C173-4C84-43B8-9103-0D040BDAF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67200"/>
            <a:ext cx="2552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B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C2FE42E-828A-442C-A7DC-B815D8D6F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95775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EA8FF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6EA8FF"/>
                </a:solidFill>
                <a:latin typeface="Hiragino Sans"/>
                <a:ea typeface="Hiragino Sans"/>
                <a:cs typeface="Hiragino Sans"/>
              </a:rPr>
              <a:t>3 n: 世代数で間隔に割り戻す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F68963C-E0DC-48A6-B5C6-E28E7A302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6896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a* = nΔ* = [L − (d₁τ_R + d₀)] / (d₁κ_s)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6B80CD2-6572-46FB-B890-D79E63CC2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734050"/>
            <a:ext cx="8496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2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3D10659-627F-47D0-88C4-B658EC06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848350"/>
            <a:ext cx="8153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11820"/>
                </a:solidFill>
                <a:latin typeface="Hiragino Sans"/>
                <a:ea typeface="Hiragino Sans"/>
                <a:cs typeface="Hiragino Sans"/>
              </a:rPr>
              <a:t>結論として見るのは Δ* より先に a*: 何日前まで清浄に戻れるべきか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06C854F-4AFD-4870-B437-269857145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81250"/>
            <a:ext cx="20574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02A"/>
          </a:solidFill>
          <a:ln xmlns:a="http://schemas.openxmlformats.org/drawingml/2006/main" w="12383">
            <a:solidFill>
              <a:srgbClr val="53606A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ACAB18B-E56D-4814-9D4D-0F0F4E534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59080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条件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14BEF8A-281C-41DA-8B03-587A7FA5F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28950"/>
            <a:ext cx="1543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L &gt; d₁τ_R+d₀</a:t>
            </a:r>
          </a:p>
          <a:p xmlns:a="http://schemas.openxmlformats.org/drawingml/2006/main">
            <a:pPr algn="ctr">
              <a:defRPr sz="90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κ_s &gt; 0</a:t>
            </a:r>
          </a:p>
          <a:p xmlns:a="http://schemas.openxmlformats.org/drawingml/2006/main">
            <a:pPr algn="ctr">
              <a:defRPr sz="90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Δ* が許容区間内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539B418-81AE-4880-9A42-63AB1233F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6F7A84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6F7A84"/>
                </a:solidFill>
                <a:latin typeface="Hiragino Sans"/>
                <a:ea typeface="Hiragino Sans"/>
                <a:cs typeface="Hiragino Sans"/>
              </a:rPr>
              <a:t>Provenance note: 05_backup_optimization.tex; 08_conclusion.tex. Formula is conditional on the stated interior/admissible design assumptions.</a:t>
            </a:r>
          </a:p>
        </p:txBody>
      </p:sp>
    </p:spTree>
    <p:extLst>
      <p:ext uri="{BB962C8B-B14F-4D97-AF65-F5344CB8AC3E}">
        <p14:creationId xmlns:p14="http://schemas.microsoft.com/office/powerpoint/2010/main" val="191116033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3DDF80F-7933-4517-85C0-2C883BA59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71EA55-733C-4D81-9D28-913DDACFC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16B6CA-DA9B-4FD9-88D1-226CDA117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4370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3185A5-BF4B-44B0-8AAD-F37CCDAE6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A29384-2AA8-4BB5-BEA4-8DA512AE1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F0D0B8-AD2F-48FE-A601-59A135E5D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F4A4EB-4FC4-4BF2-8CCE-B4069E01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11EA4B-D429-4BEE-A6C4-06F0B25E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DB8972-818D-42A8-A41D-EB21A4850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2DEC06-3626-4FAA-B44E-A479A8500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CCB97B-1A51-406B-B22D-32C16638D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4B8EA0-CC2A-4CEE-BBEA-C1FB89BC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E7AF57-4F73-45FC-8DD9-E68C9214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25682B-D7A0-4EF0-92C0-729F6E161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5DC4A3-5CC8-4D99-9F01-AF24AB7CA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FE7A41-B447-4C48-957A-8CE4EE68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2B2CF9-E576-4A82-A0A5-3219206AF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1F845E-0815-4ACB-AE4C-362F00B22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D226E5-2B4B-49AA-BAFD-73EAC6C9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C2ECE3-8661-4804-B1B8-54866F8E4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2447D6-0315-4343-9360-5BDE9F5F0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811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627A3A-F0BC-4BCC-B272-5CC28B0F4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66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0BF874-871C-4447-B235-812A02C1D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527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24C8CE-530F-4C01-A8A4-900CFF376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C28231-EA98-4A2D-B70C-790C7F07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9243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BF8E86-942A-4A12-8FDD-3B1AC35C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01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B7524E-D634-4432-AC5F-8114FE058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95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68E49C-8BBE-4CFD-A2AF-652165844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9817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AB8B0E4-4AA3-44F7-A13A-741D6D3A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9824A5-16BE-44AF-9D0F-A35CB678A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61950"/>
            <a:ext cx="51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06</a:t>
            </a:r>
          </a:p>
        </p:txBody>
      </p:sp>
      <p:sp>
        <p:nvSpPr>
          <p:cNvPr id="31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D1FB8D72-5833-4D34-B1C4-684218CE8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F84655AA-2EAB-4A62-9F65-2F12121D7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19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OPERATING LOOP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B5ECD0E-C39C-4B16-BF63-4DCAD179D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7429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292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式は、現場で使う判断手順になる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686AD9E-C4D0-4203-B8A6-0E7DED6D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66850"/>
            <a:ext cx="666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固定値の推奨ではなく、損失・復旧・検知遅れを更新し続ける手順として使う。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815E6B-72D4-407E-836B-C23D26D4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295400"/>
            <a:ext cx="2000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2100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rPr>
              <a:t>判断手順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D8F56F-BDE0-4F2E-A04F-780527CDE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22098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20"/>
          </a:solidFill>
          <a:ln xmlns:a="http://schemas.openxmlformats.org/drawingml/2006/main" w="11430">
            <a:solidFill>
              <a:srgbClr val="4A566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4EC01FD-1B99-4834-AFF5-D3E81C451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003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1B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623AC2D-22B6-413B-B3B7-19155AD96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95550"/>
            <a:ext cx="438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67B0B86-726B-4AD7-B478-B2F0C0D9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57450"/>
            <a:ext cx="1066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損失を置く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29DBA84-8088-4FED-813A-DC23ECB6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2420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L、d₁、d₀を見積もる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AAF64EC-30B6-43CC-9891-0876D9753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38450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1B53E25-DE83-4A5D-B143-77F71122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209800"/>
            <a:ext cx="22098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20"/>
          </a:solidFill>
          <a:ln xmlns:a="http://schemas.openxmlformats.org/drawingml/2006/main" w="11430">
            <a:solidFill>
              <a:srgbClr val="4A566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F6C1F15-1895-46CD-A246-D3AC6124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003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2B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467AA43-3689-4DF3-9712-CBF4BCBCF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95550"/>
            <a:ext cx="438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2B84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F2B84B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CCD4E68-4F9C-487E-85C9-1E24B7FF8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457450"/>
            <a:ext cx="1066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復旧を測る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BF1864E-0EC7-4C7B-A792-8C2DA8C3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12420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τ_R と κ_s を置く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8CF3950-E07C-4F62-8882-999D96A4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838450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81C9690-6DE3-4FE0-898A-7F6C4C825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22098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20"/>
          </a:solidFill>
          <a:ln xmlns:a="http://schemas.openxmlformats.org/drawingml/2006/main" w="11430">
            <a:solidFill>
              <a:srgbClr val="4A566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31F4FFF-40B2-4A14-AB6B-1646191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003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2B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17719A7-54A4-468B-AAA8-AE34E980E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95550"/>
            <a:ext cx="438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EA8FF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6EA8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C8239AE-91F5-4CB0-8F78-9B48C91CD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457450"/>
            <a:ext cx="1066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遅れを見る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0752351-766C-4A48-AA51-0B15836F0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12420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感染後経過が a* 内か見る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2049167-28EF-4BAE-999E-420B93EAD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38450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4159AC6-B1CD-42AD-8D99-41853C78B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209800"/>
            <a:ext cx="22098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20"/>
          </a:solidFill>
          <a:ln xmlns:a="http://schemas.openxmlformats.org/drawingml/2006/main" w="11430">
            <a:solidFill>
              <a:srgbClr val="4A566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B7E6C79-050C-4679-9451-B9FB575E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003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3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002965E-F124-4624-BAB5-559010AC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95550"/>
            <a:ext cx="438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E85D86D-56EA-4E20-B29C-4EDEAE9E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457450"/>
            <a:ext cx="1066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保持を決める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1B04632-6D3E-4A6A-A7AF-97A7C1B5B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12420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n、Δ、追加世代を評価する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F1B649B-EB04-4874-A91D-46BBAD200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48150"/>
            <a:ext cx="10172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2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7CEF4B8-3943-4554-820F-C86D220C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362450"/>
            <a:ext cx="9829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11820"/>
                </a:solidFill>
                <a:latin typeface="Hiragino Sans"/>
                <a:ea typeface="Hiragino Sans"/>
                <a:cs typeface="Hiragino Sans"/>
              </a:rPr>
              <a:t>実務値は自組織で再計算する。数値例はスケール確認であり、パラメータは実証推定値ではない。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00E20B7-FD7C-4B3C-8FB6-8A3CBBC8A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14950"/>
            <a:ext cx="1200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27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4FB5D9C-0573-41C3-8D44-1A77F017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343525"/>
            <a:ext cx="1009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A888FF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1">
                <a:solidFill>
                  <a:srgbClr val="A888FF"/>
                </a:solidFill>
                <a:latin typeface="Hiragino Sans"/>
                <a:ea typeface="Hiragino Sans"/>
                <a:cs typeface="Hiragino Sans"/>
              </a:rPr>
              <a:t>保存費用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817D045-CDBD-49FC-8134-B2228F5EA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33400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+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CF1DD8E-113D-4C52-9360-831F2799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314950"/>
            <a:ext cx="1885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1B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15F1D8D-BC78-407F-B85B-AD3427F6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343525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rPr>
              <a:t>復旧できない損失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557EB13-51E5-4F22-BEA5-7BDDCECF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353050"/>
            <a:ext cx="3143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を比べて、追加で何世代残すかを決める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7226BC5-BD7A-4DBD-988B-EF5B5E13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8864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088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ここでも見るのは式そのものではなく「費用を増やす価値があるか」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F3662C4-EACE-41C4-BEA2-B4728E2A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6F7A84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6F7A84"/>
                </a:solidFill>
                <a:latin typeface="Hiragino Sans"/>
                <a:ea typeface="Hiragino Sans"/>
                <a:cs typeface="Hiragino Sans"/>
              </a:rPr>
              <a:t>Provenance note: 05_backup_optimization.tex; 06_dynamic_retention.tex; 07_numerical_examples.tex; docs/evidence/heavy_tail_backup_source_note.md.</a:t>
            </a:r>
          </a:p>
        </p:txBody>
      </p:sp>
    </p:spTree>
    <p:extLst>
      <p:ext uri="{BB962C8B-B14F-4D97-AF65-F5344CB8AC3E}">
        <p14:creationId xmlns:p14="http://schemas.microsoft.com/office/powerpoint/2010/main" val="15873411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2026-05-16T22:37:46.8610000Z</dcterms:created>
  <dcterms:modified xsi:type="dcterms:W3CDTF">2026-05-16T22:37:46.8610000Z</dcterms:modified>
</coreProperties>
</file>