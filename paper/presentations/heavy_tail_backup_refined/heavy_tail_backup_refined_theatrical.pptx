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379e7c74ee49de" /><Relationship Type="http://schemas.openxmlformats.org/officeDocument/2006/relationships/extended-properties" Target="/docProps/app.xml" Id="R77a8e2eaca694b42" /><Relationship Type="http://schemas.openxmlformats.org/officeDocument/2006/relationships/officeDocument" Target="/ppt/presentation.xml" Id="Rff3b6f080b2c45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5b6a89f06f49dc"/>
  </p:sldMasterIdLst>
  <p:notesMasterIdLst>
    <p:notesMasterId xmlns:r="http://schemas.openxmlformats.org/officeDocument/2006/relationships" r:id="R76e30af84a64469e"/>
  </p:notesMasterIdLst>
  <p:sldIdLst>
    <p:sldId xmlns:r="http://schemas.openxmlformats.org/officeDocument/2006/relationships" id="256" r:id="R36ec742d18754bec"/>
    <p:sldId xmlns:r="http://schemas.openxmlformats.org/officeDocument/2006/relationships" id="257" r:id="Rafaf39a3e19a4efd"/>
    <p:sldId xmlns:r="http://schemas.openxmlformats.org/officeDocument/2006/relationships" id="258" r:id="R68599d86b0054cdc"/>
    <p:sldId xmlns:r="http://schemas.openxmlformats.org/officeDocument/2006/relationships" id="259" r:id="Ra690399f3fc348ee"/>
    <p:sldId xmlns:r="http://schemas.openxmlformats.org/officeDocument/2006/relationships" id="260" r:id="Ra87e5e23330d4384"/>
    <p:sldId xmlns:r="http://schemas.openxmlformats.org/officeDocument/2006/relationships" id="261" r:id="Rdab9db65be8140f8"/>
    <p:sldId xmlns:r="http://schemas.openxmlformats.org/officeDocument/2006/relationships" id="262" r:id="R330ad7efe5a34aa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5b6a89f06f49dc" /><Relationship Type="http://schemas.openxmlformats.org/officeDocument/2006/relationships/theme" Target="/ppt/theme/theme1.xml" Id="R000c36b86aaa412c" /><Relationship Type="http://schemas.openxmlformats.org/officeDocument/2006/relationships/notesMaster" Target="/ppt/notesMasters/notesMaster1.xml" Id="R76e30af84a64469e" /><Relationship Type="http://schemas.openxmlformats.org/officeDocument/2006/relationships/presProps" Target="/ppt/presProps.xml" Id="R9a3af4cabf67437f" /><Relationship Type="http://schemas.openxmlformats.org/officeDocument/2006/relationships/viewProps" Target="/ppt/viewProps.xml" Id="R8bfb528f2d584df7" /><Relationship Type="http://schemas.openxmlformats.org/officeDocument/2006/relationships/tableStyles" Target="/ppt/tableStyles.xml" Id="Ra906acf59e234caf" /><Relationship Type="http://schemas.openxmlformats.org/officeDocument/2006/relationships/slide" Target="/ppt/slides/slide1.xml" Id="R36ec742d18754bec" /><Relationship Type="http://schemas.openxmlformats.org/officeDocument/2006/relationships/slide" Target="/ppt/slides/slide2.xml" Id="Rafaf39a3e19a4efd" /><Relationship Type="http://schemas.openxmlformats.org/officeDocument/2006/relationships/slide" Target="/ppt/slides/slide3.xml" Id="R68599d86b0054cdc" /><Relationship Type="http://schemas.openxmlformats.org/officeDocument/2006/relationships/slide" Target="/ppt/slides/slide4.xml" Id="Ra690399f3fc348ee" /><Relationship Type="http://schemas.openxmlformats.org/officeDocument/2006/relationships/slide" Target="/ppt/slides/slide5.xml" Id="Ra87e5e23330d4384" /><Relationship Type="http://schemas.openxmlformats.org/officeDocument/2006/relationships/slide" Target="/ppt/slides/slide6.xml" Id="Rdab9db65be8140f8" /><Relationship Type="http://schemas.openxmlformats.org/officeDocument/2006/relationships/slide" Target="/ppt/slides/slide7.xml" Id="R330ad7efe5a34a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391005c264d4c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11a3d2146941da" /><Relationship Type="http://schemas.openxmlformats.org/officeDocument/2006/relationships/notesMaster" Target="/ppt/notesMasters/notesMaster1.xml" Id="Rb2ec858ed6df4d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452c268b4d4134" /><Relationship Type="http://schemas.openxmlformats.org/officeDocument/2006/relationships/notesMaster" Target="/ppt/notesMasters/notesMaster1.xml" Id="R21a18aa30cec43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28d44471784686" /><Relationship Type="http://schemas.openxmlformats.org/officeDocument/2006/relationships/notesMaster" Target="/ppt/notesMasters/notesMaster1.xml" Id="Re08320c7fe4449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4eeb27c5e0459f" /><Relationship Type="http://schemas.openxmlformats.org/officeDocument/2006/relationships/notesMaster" Target="/ppt/notesMasters/notesMaster1.xml" Id="R0b6b8713fcdc49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4a6f980b76431a" /><Relationship Type="http://schemas.openxmlformats.org/officeDocument/2006/relationships/notesMaster" Target="/ppt/notesMasters/notesMaster1.xml" Id="R7654b17a6a934a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89f1505315477b" /><Relationship Type="http://schemas.openxmlformats.org/officeDocument/2006/relationships/notesMaster" Target="/ppt/notesMasters/notesMaster1.xml" Id="Rcb0a6a3e7e8c44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cd578a27da4652" /><Relationship Type="http://schemas.openxmlformats.org/officeDocument/2006/relationships/notesMaster" Target="/ppt/notesMasters/notesMaster1.xml" Id="R399b378c766c46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0481f4f3de4e5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a6ecad5d0f44e47" /><Relationship Type="http://schemas.openxmlformats.org/officeDocument/2006/relationships/slideLayout" Target="/ppt/slideLayouts/slideLayout2.xml" Id="R24f1887b508846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f1887b508846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c558b0c2c646b4" /><Relationship Type="http://schemas.openxmlformats.org/officeDocument/2006/relationships/notesSlide" Target="/ppt/notesSlides/notesSlide1.xml" Id="Rf87734b8a21543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d7ea7b521d4f80" /><Relationship Type="http://schemas.openxmlformats.org/officeDocument/2006/relationships/notesSlide" Target="/ppt/notesSlides/notesSlide2.xml" Id="Rb5eb0d0d63e34f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c165e365a940bb" /><Relationship Type="http://schemas.openxmlformats.org/officeDocument/2006/relationships/notesSlide" Target="/ppt/notesSlides/notesSlide3.xml" Id="Rc825e9e1eefa40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a3f8558b0f4589" /><Relationship Type="http://schemas.openxmlformats.org/officeDocument/2006/relationships/notesSlide" Target="/ppt/notesSlides/notesSlide4.xml" Id="R0ef69a5e6f7e4c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047b8a6468412b" /><Relationship Type="http://schemas.openxmlformats.org/officeDocument/2006/relationships/notesSlide" Target="/ppt/notesSlides/notesSlide5.xml" Id="R161e69ff39f847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08a321206347cd" /><Relationship Type="http://schemas.openxmlformats.org/officeDocument/2006/relationships/notesSlide" Target="/ppt/notesSlides/notesSlide6.xml" Id="Rd7fd4b5b309041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46f36d3d2845de" /><Relationship Type="http://schemas.openxmlformats.org/officeDocument/2006/relationships/notesSlide" Target="/ppt/notesSlides/notesSlide7.xml" Id="Rd45f677e689341c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509D10-1463-484A-A024-8CA5E2C2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B0D48-C2FD-4381-B94F-D285ADC1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40D50-B2D4-4DA2-9E62-5CA8266C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6B4C5-D8D1-433F-992B-10B27E3E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CAE0C-B9AC-4E35-B68C-82CF9135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66113-C984-4ABB-9F38-910DE158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58EA6-19F9-43FD-B05F-5B52CD3F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435AE5-B994-489A-934F-098D6B9B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0A3DA-BB42-4918-9271-59F9AC5C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2DA8C-A7CC-4C71-AE30-C4B30733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BA492-0A1B-4003-90F9-7052FFBE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9947D-97D5-418A-9294-CB06E357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6516D-2906-4833-8C31-E1784776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E6E36E-C040-4E58-BD3F-023968C4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C6FE43-80BF-4E4A-BF85-945D7F02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98D86B-A199-469C-959D-BEDF60C4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243AF7-E170-46E6-A1B7-2633776B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325F4-106E-409F-8CEC-D1319CE4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038FB4-18F0-48B0-8171-647B480D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57D3E-857A-45BC-BBDC-6855CE26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E0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E0B3"/>
                </a:solidFill>
                <a:latin typeface="Aptos"/>
                <a:ea typeface="Aptos"/>
                <a:cs typeface="Aptos"/>
              </a:rPr>
              <a:t>INCIDENT QUESTION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C2E3A5-284D-4146-B196-828C78FA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7A84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484B3-F1AA-40B7-B990-A2279293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最新バックアップだけを見ると，</a:t>
            </a:r>
          </a:p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復旧先を間違える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277F60-0DBB-44AA-AC34-3DE649D0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感染後に取ったバックアップは，新しくても復旧点ではない。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315E46-D97F-492C-8980-46E18432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096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FFFFFF">
                    <a:alpha val="7843"/>
                  </a:srgbClr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>
                    <a:alpha val="7843"/>
                  </a:srgbClr>
                </a:solidFill>
                <a:latin typeface="Aptos Display"/>
                <a:ea typeface="Aptos Display"/>
                <a:cs typeface="Aptos Display"/>
              </a:rPr>
              <a:t>LATEST ≠ SAFE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324AD2-5D31-434A-A8A6-04D8E3D8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287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8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353804-6D0A-48DC-9C40-29CD693F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90950"/>
            <a:ext cx="504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1A8E2B-FF6B-43AB-A361-8981F80A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43500"/>
            <a:ext cx="44767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バックアップ時点（古い → 新しい）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2364D9-92D5-4AFC-82E9-EBD52382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657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7971C0-E771-4BA4-BF98-9AAE62A3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0576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清浄候補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7DAD1D-8A99-46D2-99A5-BA76D968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657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AA739D-FC67-4E5B-B9C8-BF316865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0576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清浄候補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35BB4-43BD-4872-AAF1-1750A444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57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67BAF4-65D3-48CA-8A6D-CFB47BA5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0576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感染後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BC990D-4416-48F8-8FC0-B15203BC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657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A0F09F-88CA-4659-AE98-2203763E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0576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最新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1A9C88-3D55-4D25-96CB-5150E8CD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8610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201E5D-7B05-4CD4-9764-3A135EDC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3372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推定侵入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90C6C8-3E14-4EAE-B184-1D316965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90900"/>
            <a:ext cx="285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EDCA23-DA45-4308-B9D2-EEB725BF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F24908-FB91-47F6-AB0E-01F27C5A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857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復旧で必要なのは「最新」ではなく</a:t>
            </a:r>
          </a:p>
          <a:p xmlns:a="http://schemas.openxmlformats.org/drawingml/2006/main">
            <a:pPr algn="l">
              <a:def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感染前の清浄点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D5266D-FF49-46D3-B0DD-4E4E81DA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71900"/>
            <a:ext cx="2971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この先の式は，清浄点を</a:t>
            </a:r>
          </a:p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どこまで古く残すかを決める道具。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53BDF2-E410-450A-87E2-1DA5A03E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6F7A84"/>
                </a:solidFill>
                <a:latin typeface="Aptos"/>
                <a:ea typeface="Aptos"/>
                <a:cs typeface="Aptos"/>
              </a:rPr>
              <a:t>Provenance note: 01_introduction.tex; 02_model_formulation.tex.</a:t>
            </a:r>
          </a:p>
        </p:txBody>
      </p:sp>
    </p:spTree>
    <p:extLst>
      <p:ext uri="{BB962C8B-B14F-4D97-AF65-F5344CB8AC3E}">
        <p14:creationId xmlns:p14="http://schemas.microsoft.com/office/powerpoint/2010/main" val="5458727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F0EDC-8F6B-431A-9D69-58713555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1B9DA-1C08-493F-B397-4FAAA607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2C1BC-7744-4AEE-B36A-A72BCA31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729D30-A37E-495D-B374-DF7918DE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D2C7E-0CA5-4196-9EC0-AC75EC63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16B8BD-0416-4956-96BE-AF684DB7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4CB7B-4130-49B3-88CD-9A2B9479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C1616-0A41-47B6-87B0-5757B273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72D31-767A-4BF0-9078-A14C855D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ED94E9-021B-44B1-96D5-FFB0F42B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163858-D968-44EF-8CB6-DA9ADEF7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A576D9-E71A-43F6-BF23-422AC05B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2B26E-E2CF-429A-B4C9-69030B8C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158836-1498-4A13-AADD-BE8E1168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EF4F9-6CCF-46CB-B2E3-4A878B3E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4E8FF8-354E-440B-A91F-AA0CA6BD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E8BB4C-A046-4E14-962F-29C58588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A42DCA-8A23-44E6-A706-11EBFB41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156DBD-0B54-4DF0-A1B6-90645E2A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F7B3AF-3CB0-4FB8-BD41-94474013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E0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E0B3"/>
                </a:solidFill>
                <a:latin typeface="Aptos"/>
                <a:ea typeface="Aptos"/>
                <a:cs typeface="Aptos"/>
              </a:rPr>
              <a:t>EVALUATION SHIFT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220119-DE95-4692-BDDA-1C0E0527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7A8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F532EC-FABA-48DA-9B68-460280EB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良いアラートは，</a:t>
            </a:r>
          </a:p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清浄復旧ホライズン内で鳴る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90D66D-E0A1-4F0A-AE83-3029DEAD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検知精度だけでなく，検知時点で戻れる清浄履歴が残っているかを見る。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1976B-413B-4703-A5A1-3F569D99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7700"/>
            <a:ext cx="2762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4350" b="1">
                <a:solidFill>
                  <a:srgbClr val="FFFFFF">
                    <a:alpha val="7843"/>
                  </a:srgbClr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>
                    <a:alpha val="7843"/>
                  </a:srgbClr>
                </a:solidFill>
                <a:latin typeface="Aptos Display"/>
                <a:ea typeface="Aptos Display"/>
                <a:cs typeface="Aptos Display"/>
              </a:rPr>
              <a:t>ALERT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790D9B-B161-4A2C-AFB3-644C7F33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100965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8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B9A47C-D4EC-48FC-B982-E80BA1F4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67150"/>
            <a:ext cx="838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949562-67FB-413A-B89C-3928AA8C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81600"/>
            <a:ext cx="48577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感染後に経過した時間（短い → 長い）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FFA9D4-D651-4D0A-8C27-B8B30CDC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909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4B05DA-24F3-4E60-AB7D-F593EF8F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38525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感染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F06773-B593-4C52-9037-0DBB6AAE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24AB20-6A5C-4869-A298-781B2057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38525"/>
            <a:ext cx="704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アラート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707B28-9D00-4F78-8E1A-31134BE1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909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5F9CE4-711D-4846-81A1-CF0B4AF0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清浄履歴が切れる境界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BF6AA6-63FE-41BE-8537-9290D3AD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76650"/>
            <a:ext cx="285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4446CF-9BD9-49A8-A9C6-3F849E6E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76650"/>
            <a:ext cx="285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BB3B44-0DDE-47D3-A6DC-B22C12A8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85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C589A1-2DFC-41C9-A12D-C4058C3B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6534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>
              <a:alpha val="2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6A1816-4072-4AA8-A1F4-C84B8AD0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aₙ(Δ)=nΔ : 清浄な復旧点へ戻れる期間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2B2FD0-256F-4C55-BCCC-B75A04ED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638800"/>
            <a:ext cx="7381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読むポイント: アラートがこの緑の範囲に入っていれば，まだ清浄点に戻れる。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06C2A6C-B0DD-4743-989D-92C7513E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6F7A84"/>
                </a:solidFill>
                <a:latin typeface="Aptos"/>
                <a:ea typeface="Aptos"/>
                <a:cs typeface="Aptos"/>
              </a:rPr>
              <a:t>Provenance note: 02_model_formulation.tex; 08_conclusion.tex.</a:t>
            </a:r>
          </a:p>
        </p:txBody>
      </p:sp>
    </p:spTree>
    <p:extLst>
      <p:ext uri="{BB962C8B-B14F-4D97-AF65-F5344CB8AC3E}">
        <p14:creationId xmlns:p14="http://schemas.microsoft.com/office/powerpoint/2010/main" val="64914584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2E818A-AEC5-4023-B0C0-168C7E5E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7CEDA4-38F4-4F1B-885C-0F175916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39D49-4C28-46AF-9B9C-DF5EC53F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BE6C8-5910-4BE5-AB65-41A704A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F6F04B-4EFF-4B98-936C-2A1AAF14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0CC23-B58D-4E0C-879B-C54FA004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5CD8B-37B3-4631-84E0-FA0553BF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31FFA-FB26-4E19-B0AD-8C33B9AF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E23E4-78D8-4086-B11D-806D6BA8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BC283-DC2F-498F-8ED0-A3DAAC5C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C04F7-93B1-42A0-B063-E5CAE5A7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7191CD-6A77-43C4-9FFC-A8868126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D7729-9E3D-4E46-8DB3-D3FA064F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CAB56D-DFCA-4783-9906-378ADCF2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F27D36-3169-4EF6-8CA0-1B6480AC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5D3118-704B-409B-902F-8BEE8EF3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61692-FF44-4BEB-ADC1-CCDBF98F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13E4F7-BCB5-4615-B7B5-26ADF91C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00F67-930A-48F8-BC97-44D9A6D0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DB48C0-E902-4A94-AB9A-D42712DD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E0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E0B3"/>
                </a:solidFill>
                <a:latin typeface="Aptos"/>
                <a:ea typeface="Aptos"/>
                <a:cs typeface="Aptos"/>
              </a:rPr>
              <a:t>TAIL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7390CC-9247-4AD3-86B2-CF4E12A1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7A8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2AEF6E-E9B4-4BEF-91FB-AB59567E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重尾潜伏では，</a:t>
            </a:r>
          </a:p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少数の長期感染が保持窓を破る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E82027-747E-465F-9729-56494EF5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平均的な潜伏ではなく，右端の長い潜伏がバックアップ設計を壊す。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DBF433-600F-4683-8663-F7AECE97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6750"/>
            <a:ext cx="2190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4350" b="1">
                <a:solidFill>
                  <a:srgbClr val="FFFFFF">
                    <a:alpha val="7843"/>
                  </a:srgbClr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>
                    <a:alpha val="7843"/>
                  </a:srgbClr>
                </a:solidFill>
                <a:latin typeface="Aptos Display"/>
                <a:ea typeface="Aptos Display"/>
                <a:cs typeface="Aptos Display"/>
              </a:rPr>
              <a:t>TAIL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281520-4EE6-4E55-BAF7-79D19E31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8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2C8E4B-43CA-4CE2-BCCA-BC291E18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8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2AC6A5-EDA0-4EDD-BFBD-7548178F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薄い尾の見え方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77FC2D-DDAB-49CB-A859-A157DE47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1940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重尾の見え方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A5B455-7452-48EE-8EFA-1B722569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24425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縦軸: 起きやすさ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D06AB6-4E5C-4A0F-9535-A26BA502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24425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潜伏期間（短い → 長い）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1CA55E-A546-40FA-9A1E-3FE2DB2B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24425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縦軸: 起きやすさ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8ED4EA-E3FC-4396-AFD1-98E4841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24425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横軸: 潜伏期間（短い → 長い）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FEFAC9-750B-4EC0-A07C-F0DEECDD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FE2188-A724-487B-8AAB-776C09F9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00400"/>
            <a:ext cx="190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048881-1EC6-469E-8479-8D2D87B7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8BFB49-0B4B-4B22-986F-8EC61361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00400"/>
            <a:ext cx="190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2C7F79-EEE9-4518-A0D0-AFEBF853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57600"/>
            <a:ext cx="285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84F787-6BC5-4A1D-B89A-C524969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886200"/>
            <a:ext cx="28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F95ED3-13A7-474C-856A-662937FB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33850"/>
            <a:ext cx="285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636E85-1AF5-4DC9-A8DC-09F71A0C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28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05A5EC-11CE-4222-8D35-C8ACDAF0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52950"/>
            <a:ext cx="28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69CAA3-7424-4D9B-915E-76E371DF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667250"/>
            <a:ext cx="285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3A6740-BF15-4B88-9C45-A07CF6B3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57600"/>
            <a:ext cx="2286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268877-5AF2-4D24-81F8-EED7BAB8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943350"/>
            <a:ext cx="228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ED9407-E15F-49D2-B6A6-381AB51A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71950"/>
            <a:ext cx="228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F0B794-D196-47BF-8B71-65DA81EA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305300"/>
            <a:ext cx="22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37AC96-E08F-4DE1-B8ED-B7FE16D7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0055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39324C-B044-4D90-9E84-60DE8BB1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476750"/>
            <a:ext cx="22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1B844F-4F93-4F80-AFAD-A7A85C45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533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BC625E-F1BD-4651-A59E-6352B5B2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562475"/>
            <a:ext cx="2286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A6638B-69AE-4461-91FE-B86A9834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581525"/>
            <a:ext cx="2286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F0B577-8CCD-414C-B956-2D4DE602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57550"/>
            <a:ext cx="285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529CBCC-B1FA-4834-916F-A72483E9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257550"/>
            <a:ext cx="285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B66299-0AAE-43A1-9AB2-5F93ECDE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19450"/>
            <a:ext cx="762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3AF89B9-32D2-4383-BD41-9CC19EA5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19450"/>
            <a:ext cx="762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8DD02B-9C9E-46F9-86C2-C0940695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810250"/>
            <a:ext cx="6524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ここで見るのは棒の高さではなく，右端が保持窓を越えるか。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F15906C-76AB-4760-AA7E-20349D00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6F7A84"/>
                </a:solidFill>
                <a:latin typeface="Aptos"/>
                <a:ea typeface="Aptos"/>
                <a:cs typeface="Aptos"/>
              </a:rPr>
              <a:t>Provenance note: 01_introduction.tex; 04_tauber_transition.tex.</a:t>
            </a:r>
          </a:p>
        </p:txBody>
      </p:sp>
    </p:spTree>
    <p:extLst>
      <p:ext uri="{BB962C8B-B14F-4D97-AF65-F5344CB8AC3E}">
        <p14:creationId xmlns:p14="http://schemas.microsoft.com/office/powerpoint/2010/main" val="173684166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515330-5BE5-463F-A95C-058A2D06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598A3-8A66-42CD-81A1-B3C56CE1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0693B-4346-4DE1-A0B3-F611AD5A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43BD1-DF71-4EA5-85C4-18515709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95C98-1456-442C-A900-B54C0E7B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07C25-7058-407F-882E-BC3D2062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D202A8-B21B-4309-B012-B354B8E4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F7327-ABC6-417F-98C5-1FBD6CF8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CF34D-5115-4076-B0D1-9E729941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BE8A7-D6A1-4A44-A655-3411B7A9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4666F6-AD45-4E6D-94D0-C134FB4C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1531C7-EE42-492D-B60E-E8B89994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75B1A-35F2-4AC5-9AD9-6AFB89C4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823BC4-E3C9-4CAC-8476-F1FC3823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4AF0E-CD7E-4919-995D-56D9F41B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1D614A-2F7C-40C4-AB21-4B843229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1F368-AE6A-4E29-9AF0-F5174DFB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B0E30B-D275-4B29-9ED7-47FD4CFC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8DA49F-B943-4259-AAE1-F3C22F5C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76196A-F674-4522-80FF-67714D9D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E0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E0B3"/>
                </a:solidFill>
                <a:latin typeface="Aptos"/>
                <a:ea typeface="Aptos"/>
                <a:cs typeface="Aptos"/>
              </a:rPr>
              <a:t>LOSS ACCOUNTING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0B5EA7-3437-467B-92D4-5614DDC7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7A8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5F4679-9772-4A3A-A631-74BE83B1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モデルは復旧失敗を，</a:t>
            </a:r>
          </a:p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検知失敗と保持超過に分けて数える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23E2C-393C-43AF-90B9-83FEDFC8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式を読む前に，何の損失を比較しているかを分ける。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E6CD71-851B-4D72-8A20-146011DF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8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D5553A-B50C-4F24-B083-8DD8A4E9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812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31F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8ADFFB-BBB0-4F35-8F49-226E72DD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338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A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C6C48D-5A3D-4D60-826A-148EF451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3812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31F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F58462-810E-4E7C-A220-AED8B7C9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1338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A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0D1CA5-FE9B-4E6A-A05F-D846BBDA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05150"/>
            <a:ext cx="1619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感染が起きる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07EF18-D2F2-4D25-9FC2-E673994D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8605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検知できた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F41C9E-2B5A-4DF3-B92F-3AE0DD92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76575"/>
            <a:ext cx="16192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早期封じ込め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3C7816-45E4-45CB-BE12-03F1A11B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438650"/>
            <a:ext cx="171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検知できない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698148-AF9E-49A4-AEB8-3F66E484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29175"/>
            <a:ext cx="1809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症状化後に復旧判断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6E363D-A7BD-4045-9A63-CE9537C8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8605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清浄点が残る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083283-1798-4E60-9F38-C64EA1CD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76575"/>
            <a:ext cx="17145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復旧費 + 確認時間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8031E0-9499-455C-A49F-CD2D1703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362450"/>
            <a:ext cx="1619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清浄点がない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0EB931-3561-4826-B5DC-FB4B0BDA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7815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全損 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CC5568-6108-4A0E-9459-7B79A24E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76600"/>
            <a:ext cx="1638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720BDA-6372-498B-BFA0-98722115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48150"/>
            <a:ext cx="1638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933FBC-BA48-4E4A-A539-3846CA4D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1447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39335D-0BE4-474C-9821-7E7DB74C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67250"/>
            <a:ext cx="1447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A3C9FF-7123-4E26-AAAD-DF0D9626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76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699ECD-4982-4790-B9D8-045FDABF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242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式が比べる場所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139D13-45E6-4B8D-BAC6-A97E884C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91200"/>
            <a:ext cx="7620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全損を避ける価値と，古い清浄点へ戻る負荷の釣り合いを見る。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86E53A-515E-4B1B-8333-BB6F03E6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6F7A84"/>
                </a:solidFill>
                <a:latin typeface="Aptos"/>
                <a:ea typeface="Aptos"/>
                <a:cs typeface="Aptos"/>
              </a:rPr>
              <a:t>Provenance note: 02_model_formulation.tex; 05_backup_optimization.tex.</a:t>
            </a:r>
          </a:p>
        </p:txBody>
      </p:sp>
    </p:spTree>
    <p:extLst>
      <p:ext uri="{BB962C8B-B14F-4D97-AF65-F5344CB8AC3E}">
        <p14:creationId xmlns:p14="http://schemas.microsoft.com/office/powerpoint/2010/main" val="9442524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75F1EB-83E7-426E-8683-12512930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A54D2-466C-491C-898E-4380CE7A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36076-8FB0-4383-8A0B-1273CD46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10202-CA5D-42D4-B063-25AC16E5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D2EDA-E345-4AD1-BED0-87071699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78177-4594-4D65-8314-8E6F259C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57A650-32CF-40A9-BF39-D31ADE4E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7795B-1F61-46B2-AC60-921D6D11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4E5C9-8C23-4C32-8100-5CB269CE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9F67F-EE8D-4CBE-A899-A0E9A17B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1F020A-D2D9-4285-8473-75BAEBCD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8F1416-F3E2-49A7-8D91-55EC57E3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BB184E-EA0B-4B8E-A027-843ECFFE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92098-8C08-4F9D-B25A-1B7DD000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1BAD35-96CC-48F5-8471-B3BB0D6B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95FC8F-884B-4A78-9015-63AC65CE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4DADE6-5F44-4B19-B356-13633F57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2361C-B8B6-497A-BF81-4CE40E70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B7E188-F765-4593-874F-9FF24B00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33A5B6-E6FA-46E9-BCCB-A7A4DBD7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E0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E0B3"/>
                </a:solidFill>
                <a:latin typeface="Aptos"/>
                <a:ea typeface="Aptos"/>
                <a:cs typeface="Aptos"/>
              </a:rPr>
              <a:t>FORMULA READING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054492-5FD7-444B-B159-A8BBB326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7A8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2829B8-27B8-43D0-8673-24C992DE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式は，計算ではなく</a:t>
            </a:r>
          </a:p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“何を残すべきか”として読む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9EF22E-0EA0-4653-9539-5758FB57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最初に見るのはバックアップ間隔 Δ* ではなく，清浄履歴の長さ a*。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67A5D9-0A84-479C-903E-4CB33ECB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0782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9525">
            <a:solidFill>
              <a:srgbClr val="F8F2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F8D77F-325C-484C-85A3-3A5C3C51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0131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01318"/>
                </a:solidFill>
                <a:latin typeface="Aptos Display"/>
                <a:ea typeface="Aptos Display"/>
                <a:cs typeface="Aptos Display"/>
              </a:rPr>
              <a:t>a* = nΔ* =  [ L − (d₁τ_R + d₀) ]  /  [ d₁κ_s 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DE8DAF-DE81-4633-98D0-204C1EB4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276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20E698-57EC-4543-9F6D-53898B2A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14575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まず a* を読む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DDD9D6-DE74-4823-A2D7-32672301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051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a* = 清浄な復旧点を何日前まで残すべきか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7B47C3-FA48-42AC-87D7-6FE20A0C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3105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56E0EB-F97C-4F86-A6EF-7491C386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2381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34E0B3"/>
                </a:solidFill>
                <a:latin typeface="Hiragino Sans"/>
                <a:ea typeface="Hiragino Sans"/>
                <a:cs typeface="Hiragino Sans"/>
              </a:rPr>
              <a:t>1. 分子を見る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AF7FF6-F16B-4516-92BB-FFAEC9C5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全損を避ける価値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62FB37-8275-43ED-9DFE-6D3C36F2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29150"/>
            <a:ext cx="2686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L は全損した時の損失。</a:t>
            </a:r>
          </a:p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d₁τ_R+d₀ は通常復旧でも払う損失。</a:t>
            </a:r>
          </a:p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差が大きいほど，古い清浄点を残す価値が上がる。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2B1DDB-B880-44A2-9585-DD73956D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95700"/>
            <a:ext cx="3105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5AC15C-18E5-410D-8AA3-21249537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67150"/>
            <a:ext cx="2381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4D4A"/>
                </a:solidFill>
                <a:latin typeface="Hiragino Sans"/>
                <a:ea typeface="Hiragino Sans"/>
                <a:cs typeface="Hiragino Sans"/>
              </a:rPr>
              <a:t>2. 分母を見る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2DE055-649E-4CFB-BAC1-BE891C26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719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古く戻るほど増える負荷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091AC8-53D0-4299-B472-D97CB914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29150"/>
            <a:ext cx="2686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d₁ は停止1日あたり損失。</a:t>
            </a:r>
          </a:p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κ_s は古い復旧点ほど確認時間が増える係数。</a:t>
            </a:r>
          </a:p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大きいほど，長く戻る設計は重くなる。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6F02E2-870C-4062-B147-C58196FB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95700"/>
            <a:ext cx="3105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9525">
            <a:solidFill>
              <a:srgbClr val="7AA7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385488-B17F-43D4-A30E-9B451A64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67150"/>
            <a:ext cx="2381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A7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AA7FF"/>
                </a:solidFill>
                <a:latin typeface="Hiragino Sans"/>
                <a:ea typeface="Hiragino Sans"/>
                <a:cs typeface="Hiragino Sans"/>
              </a:rPr>
              <a:t>3. 最後に Δ* へ戻す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B1455F-7F9F-4C9D-B06F-07E4B381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719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世代数 n で間隔に割る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5A8F98-3DDC-4C46-8A37-9D080516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29150"/>
            <a:ext cx="2686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n は保持するバックアップ世代数。</a:t>
            </a:r>
          </a:p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Δ* = a*/n。</a:t>
            </a:r>
          </a:p>
          <a:p xmlns:a="http://schemas.openxmlformats.org/drawingml/2006/main">
            <a:pPr algn="l">
              <a:def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世代数を増やせるなら，同じ清浄履歴を短い間隔で実現できる。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682FFD-DBCF-4771-90B4-5C58969B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81650"/>
            <a:ext cx="918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55E2CE-B541-40EF-B9D7-5CFF9FDB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7531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読み方: 「全損を避ける価値」が「古く戻る負荷」をどこまで上回るか。その釣り合いが a*。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0C49D2-4DAF-4D3D-8554-A8349286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191250"/>
            <a:ext cx="7334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条件: Λ=L−(d₁τ_R+d₀)&gt;0, κ_s&gt;0, Δmin&lt;Δ*&lt;Δmax の内点解として読む。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93D13D-A13A-4BF6-A59E-EE7CDC8B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6F7A84"/>
                </a:solidFill>
                <a:latin typeface="Aptos"/>
                <a:ea typeface="Aptos"/>
                <a:cs typeface="Aptos"/>
              </a:rPr>
              <a:t>Provenance note: 05_backup_optimization.tex, theorem and practical interpretation remark.</a:t>
            </a:r>
          </a:p>
        </p:txBody>
      </p:sp>
    </p:spTree>
    <p:extLst>
      <p:ext uri="{BB962C8B-B14F-4D97-AF65-F5344CB8AC3E}">
        <p14:creationId xmlns:p14="http://schemas.microsoft.com/office/powerpoint/2010/main" val="17102838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6E5252-121A-4DEE-96A1-275D37B6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2AA3B-ACEC-4A0A-9B29-7E38B96B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588B9-EA62-4747-970F-7016FBBC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F3430E-E2E7-42F9-9CC1-DAA664F7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DF42F-87B1-4DBA-8EF3-E1A5BA68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06691-9004-4E40-96CC-E978CA05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D3A93-C044-4FB1-9174-5E82A79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0AF49-1818-4FE6-9847-9D9CAEC3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E3236A-FF01-4436-8E61-9902E140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90E9B2-9967-4B24-9FE0-562F8E67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025287-C6BA-435D-B2A8-14E19E1C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1857C2-9D15-4800-9D9D-B503CE80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57601A-0BD5-42FA-B84F-44C5F257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6FEBA-5022-4132-8A69-0BDC81C7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82419-87E2-476E-B84F-6FB7BE60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8822B-053A-4994-8FFD-E7B21B80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5597E-6CF5-4C0C-A6E3-D9FF00E1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926240-C521-494D-90E2-7A648938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989700-004C-4200-A280-3742DC06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6098BF-E0AD-45A8-A58D-1916199E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E0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E0B3"/>
                </a:solidFill>
                <a:latin typeface="Aptos"/>
                <a:ea typeface="Aptos"/>
                <a:cs typeface="Aptos"/>
              </a:rPr>
              <a:t>DESIGN TARGET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F09892-6CE7-41BC-A2D4-6F3CCF24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7A84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2C1C3E-2194-4F52-AA4E-4A4BD411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まず決めるのは，</a:t>
            </a:r>
          </a:p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間隔ではなく清浄履歴の長さ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A146A-E173-4F1E-95B3-43F6B92D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a* を決めてから，n で割って Δ* に落とす。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8A450F-7281-4DD8-AB2E-D38BC146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8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8085A5-0892-4451-9BEC-8ECA8BDC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rPr>
              <a:t>Δ* = a* / 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7C88CD-B103-4F23-A5B2-F8F56A21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8615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a* は「戻れるべき清浄履歴」。</a:t>
            </a:r>
          </a:p>
          <a:p xmlns:a="http://schemas.openxmlformats.org/drawingml/2006/main">
            <a:pPr algn="l">
              <a:defRPr sz="120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Δ* はそれを何世代で刻むかの結果。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8414E4-BE5E-4C4A-A1AC-92B68142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469BA7-6074-4645-93C7-6BD98A72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19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L が大きい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6C9969-EB49-4239-8762-0A5DA10C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00325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清浄履歴 a* を長く残す価値が上がる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514F86-E8AC-4C33-B09F-9B6C127E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95625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D43CD0-CB21-4640-9CD5-C85E89B9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復旧時間 τ_R が長い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FE0C01-9C31-4C4A-B370-B89A507C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24200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通常復旧も高くつくので，保持だけでなく復旧短縮も要る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2A4FD8-3035-4A23-A9CE-00D06B49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195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9525">
            <a:solidFill>
              <a:srgbClr val="FF4D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1D5AAE-B238-47E9-ABEB-2246D109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671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κ_s が大きい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C403FF-9D03-426B-ACFC-094DED5F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48075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古い復旧点ほど確認負荷が重く，a* は伸ばしにくい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CA832C-9145-4D2F-AE7E-A0E310DB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43375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7FF"/>
          </a:solidFill>
          <a:ln xmlns:a="http://schemas.openxmlformats.org/drawingml/2006/main" w="9525">
            <a:solidFill>
              <a:srgbClr val="7AA7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DE4447-67DA-4677-AE70-ABB314FE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9100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n を増やせる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3E693D-CB37-431C-8F11-378C660F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71950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同じ a* を，より短い Δ* で刻める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9620D8-790A-44E0-903B-C95F4C7E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48300"/>
            <a:ext cx="914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9525">
            <a:solidFill>
              <a:srgbClr val="F8F2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93A302-816F-487F-981A-CFC9D43D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66775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結論: この式は「バックアップを何分ごとに取るか」より先に，何日前まで清浄に戻れるべきかを聞いている。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D4F2DF-1006-40E0-97C9-BEB8520C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6F7A84"/>
                </a:solidFill>
                <a:latin typeface="Aptos"/>
                <a:ea typeface="Aptos"/>
                <a:cs typeface="Aptos"/>
              </a:rPr>
              <a:t>Provenance note: 05_backup_optimization.tex; 08_conclusion.tex.</a:t>
            </a:r>
          </a:p>
        </p:txBody>
      </p:sp>
    </p:spTree>
    <p:extLst>
      <p:ext uri="{BB962C8B-B14F-4D97-AF65-F5344CB8AC3E}">
        <p14:creationId xmlns:p14="http://schemas.microsoft.com/office/powerpoint/2010/main" val="10294729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A506D4-A118-46A6-8690-DFB3D00A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00A41-67B0-448E-8165-A15F5FDA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1AD99-DDC2-48B9-BACB-CAE88D9F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67596F-F2C1-46AE-A2AD-ADAAEB82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79D7B-3241-479D-A648-BADBB647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8078A-3E65-4B49-9546-F6E7A2A7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8D661-3B4B-489D-9E22-D994519C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C13A8-1467-4DB9-97A0-89050001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B55404-CE5D-4F08-BFF5-33DD3F22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143138-68DC-4654-BB79-B8BE6688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C0EFCB-A2BE-4035-89DC-72EA189F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6D9A1F-D9C4-486D-9626-8312043A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06990C-D22D-44DA-8797-43E0658E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4C9BD5-5399-46A1-AE72-1F58BA5A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BBB329-449D-4EB9-992F-920C714A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4E395-0A9A-4F1C-940D-0DA85745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CCCCB2-4791-46E7-B695-3CD5EB95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013675-5813-4FCB-9D19-0BC5862C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2C39AC-57F6-4884-B8A0-8C48AEEF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0C3A7B-8308-4ADB-BA8C-12765B9F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4E0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E0B3"/>
                </a:solidFill>
                <a:latin typeface="Aptos"/>
                <a:ea typeface="Aptos"/>
                <a:cs typeface="Aptos"/>
              </a:rPr>
              <a:t>OPERATING 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0CE3E6-7543-4C84-A877-AF76C0C8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7A84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A948A2-702C-4CDB-9112-49CFBB08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式は，現場で使う</a:t>
            </a:r>
          </a:p>
          <a:p xmlns:a="http://schemas.openxmlformats.org/drawingml/2006/main">
            <a:pPr algn="l">
              <a:def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2775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判断手順になる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970E9-A051-420E-B2FD-BF362355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検知遅れ・復旧時間・追加保持を同じ表で更新する。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CD813-A179-48F3-9787-615F4595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FE1FA4-F247-44B5-BAF3-76B2C194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AB4253-0997-4328-99E7-2CE13665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検知遅れを測る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082EA1-DB84-4BA0-96A1-446CFD4B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T_d, β, η を更新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2A8DD0-2442-44B0-B8AF-A9B936B4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861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88FE4B-25C0-4A76-9092-0709D68B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38500"/>
            <a:ext cx="342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40EFD5-09F7-4544-A5CD-9C794D62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10BA3D-E8F1-4CB4-8541-819EE7B9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E0B3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34E0B3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55AF58-36D8-4180-805E-79FC862B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清浄履歴を見る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8937F3-9928-432F-A189-39D0C407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a*=nΔ が足りるか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2372FC-8614-4427-9A8E-942D05CD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4861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563A47-45D1-4E25-BF59-4D103601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38500"/>
            <a:ext cx="342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4626D6-1742-41F1-BD1F-55366024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9525">
            <a:solidFill>
              <a:srgbClr val="2A323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D0993-3EA3-4C83-A27C-9213477D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4BC8D1-8848-449F-806E-2E50C9EC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復旧時間を測る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6C8C16-E9A2-4803-B58C-8C80CCC5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τ_R, d₁, d₀ を更新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5EF2EA-8347-48E3-8E9F-DBE3CE3C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861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8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536B92-7034-4470-9C84-00D1C91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38500"/>
            <a:ext cx="342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F7A84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6F7A84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7D3497-DCF3-4133-853B-B97A2E54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20"/>
          </a:solidFill>
          <a:ln xmlns:a="http://schemas.openxmlformats.org/drawingml/2006/main" w="9525">
            <a:solidFill>
              <a:srgbClr val="7AA7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346D74-9BCD-4E95-93FF-D850ED0D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8F2E8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EBFF03-3BEE-4A3B-961B-CC88BA94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8F2E8"/>
                </a:solidFill>
                <a:latin typeface="Hiragino Sans"/>
                <a:ea typeface="Hiragino Sans"/>
                <a:cs typeface="Hiragino Sans"/>
              </a:rPr>
              <a:t>保持を決める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245516-7635-4018-84B5-F461B443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n, Δ, 追加世代を評価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DC47A3-DAE3-4354-B844-2DDAEFAA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9982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2E8"/>
          </a:solidFill>
          <a:ln xmlns:a="http://schemas.openxmlformats.org/drawingml/2006/main" w="9525">
            <a:solidFill>
              <a:srgbClr val="F8F2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D5EEA4-FF31-4D0B-B770-04431609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9334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判断は単純: 保存費用 + 復旧できない損失を比べて，追加で何世代残すかを決める。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79FBF7-D23E-4544-9D9C-23643DD0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734050"/>
            <a:ext cx="670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A8B1BA"/>
                </a:solidFill>
                <a:latin typeface="Hiragino Sans"/>
                <a:ea typeface="Hiragino Sans"/>
                <a:cs typeface="Hiragino Sans"/>
              </a:rPr>
              <a:t>ここでも見るのは式そのものではなく「費用を増やす価値があるか」。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E2B415-A314-4F52-B18F-0E396F71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954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E0B3"/>
          </a:solidFill>
          <a:ln xmlns:a="http://schemas.openxmlformats.org/drawingml/2006/main" w="9525">
            <a:solidFill>
              <a:srgbClr val="34E0B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3BFF73-7956-4DD7-8908-0316A3E2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430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101318"/>
                </a:solidFill>
                <a:latin typeface="Hiragino Sans"/>
                <a:ea typeface="Hiragino Sans"/>
                <a:cs typeface="Hiragino Sans"/>
              </a:rPr>
              <a:t>判断手順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EEDFEF-8D81-4A1F-9D75-D486E61A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6F7A84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6F7A84"/>
                </a:solidFill>
                <a:latin typeface="Aptos"/>
                <a:ea typeface="Aptos"/>
                <a:cs typeface="Aptos"/>
              </a:rPr>
              <a:t>Provenance note: 05_backup_optimization.tex; 06_dynamic_retention.tex; 07_numerical_examples.tex; docs/evidence/heavy_tail_backup_source_note.md.</a:t>
            </a:r>
          </a:p>
        </p:txBody>
      </p:sp>
    </p:spTree>
    <p:extLst>
      <p:ext uri="{BB962C8B-B14F-4D97-AF65-F5344CB8AC3E}">
        <p14:creationId xmlns:p14="http://schemas.microsoft.com/office/powerpoint/2010/main" val="2504139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2026-05-16T22:54:29.4990000Z</dcterms:created>
  <dcterms:modified xsi:type="dcterms:W3CDTF">2026-05-16T22:54:29.4990000Z</dcterms:modified>
</coreProperties>
</file>