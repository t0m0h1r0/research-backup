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548bc7bd4464c" /><Relationship Type="http://schemas.openxmlformats.org/officeDocument/2006/relationships/extended-properties" Target="/docProps/app.xml" Id="R70d00a176dde4054" /><Relationship Type="http://schemas.openxmlformats.org/officeDocument/2006/relationships/officeDocument" Target="/ppt/presentation.xml" Id="R4d45c271a45e48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a61b07e084d45"/>
  </p:sldMasterIdLst>
  <p:notesMasterIdLst>
    <p:notesMasterId xmlns:r="http://schemas.openxmlformats.org/officeDocument/2006/relationships" r:id="R05808b97761f4784"/>
  </p:notesMasterIdLst>
  <p:sldIdLst>
    <p:sldId xmlns:r="http://schemas.openxmlformats.org/officeDocument/2006/relationships" id="256" r:id="R2c83297ec2e64c1a"/>
    <p:sldId xmlns:r="http://schemas.openxmlformats.org/officeDocument/2006/relationships" id="257" r:id="Re5baeaf1217e4f95"/>
    <p:sldId xmlns:r="http://schemas.openxmlformats.org/officeDocument/2006/relationships" id="258" r:id="R3206cb14d8bc49cb"/>
    <p:sldId xmlns:r="http://schemas.openxmlformats.org/officeDocument/2006/relationships" id="259" r:id="Ra3ebb68e00524650"/>
    <p:sldId xmlns:r="http://schemas.openxmlformats.org/officeDocument/2006/relationships" id="260" r:id="Rcc1ff1518b8841c7"/>
    <p:sldId xmlns:r="http://schemas.openxmlformats.org/officeDocument/2006/relationships" id="261" r:id="R5e560417c1fe4a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a61b07e084d45" /><Relationship Type="http://schemas.openxmlformats.org/officeDocument/2006/relationships/theme" Target="/ppt/theme/theme1.xml" Id="Rc0896a44297a423b" /><Relationship Type="http://schemas.openxmlformats.org/officeDocument/2006/relationships/notesMaster" Target="/ppt/notesMasters/notesMaster1.xml" Id="R05808b97761f4784" /><Relationship Type="http://schemas.openxmlformats.org/officeDocument/2006/relationships/presProps" Target="/ppt/presProps.xml" Id="R371b8cbeb063452c" /><Relationship Type="http://schemas.openxmlformats.org/officeDocument/2006/relationships/viewProps" Target="/ppt/viewProps.xml" Id="R285db23bd45a423f" /><Relationship Type="http://schemas.openxmlformats.org/officeDocument/2006/relationships/tableStyles" Target="/ppt/tableStyles.xml" Id="R8668385ec26d4055" /><Relationship Type="http://schemas.openxmlformats.org/officeDocument/2006/relationships/slide" Target="/ppt/slides/slide1.xml" Id="R2c83297ec2e64c1a" /><Relationship Type="http://schemas.openxmlformats.org/officeDocument/2006/relationships/slide" Target="/ppt/slides/slide2.xml" Id="Re5baeaf1217e4f95" /><Relationship Type="http://schemas.openxmlformats.org/officeDocument/2006/relationships/slide" Target="/ppt/slides/slide3.xml" Id="R3206cb14d8bc49cb" /><Relationship Type="http://schemas.openxmlformats.org/officeDocument/2006/relationships/slide" Target="/ppt/slides/slide4.xml" Id="Ra3ebb68e00524650" /><Relationship Type="http://schemas.openxmlformats.org/officeDocument/2006/relationships/slide" Target="/ppt/slides/slide5.xml" Id="Rcc1ff1518b8841c7" /><Relationship Type="http://schemas.openxmlformats.org/officeDocument/2006/relationships/slide" Target="/ppt/slides/slide6.xml" Id="R5e560417c1fe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17ab5e526444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59da9760848a6" /><Relationship Type="http://schemas.openxmlformats.org/officeDocument/2006/relationships/notesMaster" Target="/ppt/notesMasters/notesMaster1.xml" Id="Rfbe28760622542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6a3210cec4a77" /><Relationship Type="http://schemas.openxmlformats.org/officeDocument/2006/relationships/notesMaster" Target="/ppt/notesMasters/notesMaster1.xml" Id="Rc943f7484eea4b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581447658d4f0a" /><Relationship Type="http://schemas.openxmlformats.org/officeDocument/2006/relationships/notesMaster" Target="/ppt/notesMasters/notesMaster1.xml" Id="R3d63048aa8454c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f5a4a916c84108" /><Relationship Type="http://schemas.openxmlformats.org/officeDocument/2006/relationships/notesMaster" Target="/ppt/notesMasters/notesMaster1.xml" Id="R48f7ba3ab569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b9aa64ad3424e" /><Relationship Type="http://schemas.openxmlformats.org/officeDocument/2006/relationships/notesMaster" Target="/ppt/notesMasters/notesMaster1.xml" Id="Re3d8c27d7ef241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0e836de6124f1a" /><Relationship Type="http://schemas.openxmlformats.org/officeDocument/2006/relationships/notesMaster" Target="/ppt/notesMasters/notesMaster1.xml" Id="R36849a9024f7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839c7295143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9c2107ae7c9409c" /><Relationship Type="http://schemas.openxmlformats.org/officeDocument/2006/relationships/slideLayout" Target="/ppt/slideLayouts/slideLayout2.xml" Id="R7cde2412736c43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e2412736c43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10873e13a4450b" /><Relationship Type="http://schemas.openxmlformats.org/officeDocument/2006/relationships/notesSlide" Target="/ppt/notesSlides/notesSlide1.xml" Id="Rce1f7c4b921a4a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bdb0d39554eee" /><Relationship Type="http://schemas.openxmlformats.org/officeDocument/2006/relationships/notesSlide" Target="/ppt/notesSlides/notesSlide2.xml" Id="Rb7e9bc145db2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bdc7e59ce4a87" /><Relationship Type="http://schemas.openxmlformats.org/officeDocument/2006/relationships/notesSlide" Target="/ppt/notesSlides/notesSlide3.xml" Id="R1d7606a0222d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ccda0ff964747" /><Relationship Type="http://schemas.openxmlformats.org/officeDocument/2006/relationships/notesSlide" Target="/ppt/notesSlides/notesSlide4.xml" Id="R44a631bdeff9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00138286a42eb" /><Relationship Type="http://schemas.openxmlformats.org/officeDocument/2006/relationships/notesSlide" Target="/ppt/notesSlides/notesSlide5.xml" Id="Reb1933f29b4e46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2a8adaeeb4022" /><Relationship Type="http://schemas.openxmlformats.org/officeDocument/2006/relationships/notesSlide" Target="/ppt/notesSlides/notesSlide6.xml" Id="R3d43cbb7bb7949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A49E9-3C1E-46E4-A555-72457A1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19001-F6E2-48D8-B671-94C7348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4C5C1-72A5-488D-8691-8216F253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A638D-F8D1-4CD7-BE9F-35A99E8D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57CC8-4C13-44D9-B07C-001209DB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B1160-B31D-41DC-8DB6-AF105290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84349-9909-45A0-B1F3-8547EAF2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587D8-9E38-4714-9D21-C26BE2B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DC9C5-9E7B-416F-8088-6907342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E54EC-55C2-4DDF-BAD7-CF887AE7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7156C-893E-400C-BEF8-FD6BACD6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7A5E0-49AA-4842-8A9D-2BE7F788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716CD-EC0B-433F-A791-60B0B4E5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F1E78-2EA4-44CE-BCE8-6B806E0E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6EDCF-7361-46BA-BF6F-5B30776E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71D9B-20A7-49E6-8009-B63EDB8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22A46-0DE7-4CF2-882F-50C0744A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43438-EF61-49F5-AEC4-10DC75AB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D224C-6D72-48A4-A2BB-28EDD7D3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5851F-4E38-49AA-B426-F9A5838B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2C04F-844F-4D06-8A34-3D87503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C608A-2BDF-4D44-A6FB-4F80F9D7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7D38F-9776-4DDF-9C68-F25393D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4470D-922B-4F38-BACF-0554B5CD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F228C-7A76-4389-99BE-6ECB9A5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4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17503-EF7D-445B-9E4E-F3B74C8D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ED849-2346-476F-A27F-0F5889A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38827-97C6-40D4-ACAA-8971E23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5AECE2-9107-48C6-9672-7AA6AD7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47281-A00E-474C-854B-6C504C09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31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EE067B35-BC18-4295-BBF8-DD32252E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1D4E8926-D7BB-4D21-8E37-51A970D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INCIDENT DAY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DEFAA-52B0-4267-9659-83543D48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192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LATEST ≠ SAFE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1342FC-1D23-4108-A850-41EBF676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最新が、いちばん危ない復元先になる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0D14DB-AD2C-4052-94DF-CB0F3E0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侵入後のバックアップは新しくても清浄とは限らない。復旧判断の問いを、鮮度から清浄性へひっくり返す。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FF34BF-C0EB-4A56-9A69-4E0DA43C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4954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A0231A-1BB9-4216-8C8D-2C9B845B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171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B7C34-5485-4172-BF14-A259AEF5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581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4B068-F8F3-478D-934C-EFCE8EE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958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9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C9CDE6-A785-473A-9F1F-BB5E36B3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669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739326-BB8C-4141-9339-0DE6C9AD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669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99F637-A4B4-4FEC-8929-CA517408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26D1C4-11F9-43FF-B022-6A3C54C9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推定侵入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52A9C6-0965-4FE9-A986-17C5B520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98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1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A92A1A-2EF2-476E-B501-86043D26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発症・検知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2B2815-5B17-4150-9DE6-A520DEAE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308133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E36364-48F8-4372-8177-843C58D7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12日前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9FDE9B-5CCA-4A55-B0BA-6ACCF6F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CE872D-4A8D-4BA1-A259-35F1941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清浄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428B2C-EFA2-475A-B968-6B1C6DF9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47625">
            <a:solidFill>
              <a:srgbClr val="34E0B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E20ADA-71AF-4C58-BDF6-C35B612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0CBEF6-48E0-4B91-B5CA-01762CA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10日前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2AE315-DE7F-4ED1-BA04-6E0A6CC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38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E6C450-B5C4-41FB-B27D-8764672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67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清浄候補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079EAF-0A4C-4680-8CC8-D81FCD41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08133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8D898A-54C3-4EF8-ADE8-68D23A0C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7日前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E4E8CA-4489-46AF-BAD6-879034EF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38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7E60F1-1303-4525-9987-5E03FB5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67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侵入直前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7EE3D7-0E23-4125-B34C-8B4CC266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308133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5989A9-A87A-4426-A3DF-9CE1969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3日前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4AFD8D-943E-4003-B9DF-3302036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8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D39796-FF52-4953-9124-23AD4AB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67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汚染疑い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382044-F581-4783-AF94-B75D64BF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308133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665714-777E-47D4-96FD-894B2110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昨日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38E8F4-F4E2-4460-9FA8-2D824113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38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CFF285-84E5-4DA7-96CF-F0A75BB6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汚染疑い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8E744A-C7A6-4B1F-ADBF-5A20EC80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47625">
            <a:solidFill>
              <a:srgbClr val="FF4D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F5A3CC-6ACF-4780-A37D-98CB3EE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DF668F-7771-43D8-8EB9-C39F351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今日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3DDDA5-4F8F-49CA-A718-60A1D54B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983AAB-B067-4BD7-9BB8-FD0554F4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67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最新だが危険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97A89F-CDEF-4AA2-A70D-A653743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見た目が正常でも、侵入後なら要注意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955FE9-0AD5-461F-B944-342DAE2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91150"/>
            <a:ext cx="6743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BC4155-5D88-415C-805E-E00A5249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05450"/>
            <a:ext cx="6400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復旧先を選ぶ基準は「新しい」ではなく</a:t>
            </a:r>
          </a:p>
          <a:p xmlns:a="http://schemas.openxmlformats.org/drawingml/2006/main">
            <a:pPr algn="ctr">
              <a:defRPr sz="16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「侵入前まで戻れる」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B39790-93A2-45AE-9B1D-E2D30BF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rPr>
              <a:t>Provenance note: 01_introduction.tex; 02_model_formulation.tex. Model boundary: post-intrusion backups may be contaminated.</a:t>
            </a:r>
          </a:p>
        </p:txBody>
      </p:sp>
    </p:spTree>
    <p:extLst>
      <p:ext uri="{BB962C8B-B14F-4D97-AF65-F5344CB8AC3E}">
        <p14:creationId xmlns:p14="http://schemas.microsoft.com/office/powerpoint/2010/main" val="11689261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B22161-B7CB-4AAD-8551-0639A94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494C7-7948-4948-8DA3-7343664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983F5-2F9A-49A7-8EFE-D470F150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A3B79-CBEF-4D67-A24A-0093338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DBDE1-8D7E-400B-A772-4B9DB630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DA88A-7D41-4720-8CCF-CA960AD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6AC48-085D-466F-A6F6-8BA639A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2CED5-76AE-4BC9-8A18-B657FC1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DA2C7-D57A-4D0B-9BCC-B2D8ADE7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AE58-E3AF-4DDE-B296-A34D2F9E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C2F77-7057-4A44-AE0D-D917B9D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97BB5-C418-4178-AF95-1BF40629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3275B-856F-445C-806F-B5642D74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B2015-7DF4-4FB1-ACA9-561573D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5440D-EFEE-4AC4-8BC0-68AF641E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47D92-95BF-45CD-9880-8A533B21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444F1-9323-4A5E-992E-12E0FB8C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410BA-9185-4EFA-8D41-C9ADB3E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139B3-7D56-49AD-A196-BA484970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EFFEB-2D58-46A4-87C2-E907453B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D1E0A-2D8C-4EAB-85BF-F4FC1A5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1B452-B9C5-46E8-A981-898D800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A6172-473A-41C7-8B16-8145BC19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1C64E-0F8F-4F38-ACB6-F107ECFE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34083-E737-4C2D-AE92-326812C2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4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AF36A-2FB7-46FD-A8B5-E27DBE02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C155F-A83C-4B5A-8025-6D53D625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40B68-C4C8-44AE-9E49-A5CC2221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BAE43-9ECA-425B-BBC7-CDA06D8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236C1-AFC7-4895-9642-2F8E6C9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3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231FD350-087D-4784-84C8-03D0B7F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E5ABC54A-9224-4903-88B6-34A8EE22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EVALUATION SHIFT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CBE20-111B-4353-A4A3-FBC0D299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検知性能は、復旧可能性に翻訳して初めて意味を持つ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E8ECEA-129C-4A7D-B09C-734FFD15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良いアラートとは、清浄世代が消える前に鳴るアラートである。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1723FC-651E-4A6C-8069-DF04313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11430">
            <a:solidFill>
              <a:srgbClr val="4652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810E4C-A9F6-4F1D-B967-421CFDDC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rPr>
              <a:t>ALERT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FDAC8C-2169-4527-9558-E817261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BEFORE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51EBC-B74F-4D30-BB86-FE443CC9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CLEAN HISTORY EXPIRES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31F892-B935-4E15-A057-1E763D4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aₙ(Δ) = nΔ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1FCCF8-5C66-4346-86DF-6703E5ED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9E3A0A-3DA2-4C7E-A92E-CE5B791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D870E8-AD1E-4400-97C2-DD6EB02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67200"/>
            <a:ext cx="901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2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F1A61B-15C7-4AA3-8393-43B9841F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E8706D-C267-4B4E-AEBD-07EA8F6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67E6BF-5861-4F17-9CC3-2A2F6920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5CA83F-D455-4199-A635-6BF4B87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14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47625">
            <a:solidFill>
              <a:srgbClr val="6EA8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70C57-F437-416A-98E3-F80BCDAA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909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EF319B-1EF0-4D5C-BFBF-49A543F4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95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rPr>
              <a:t>検知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187F6-48E8-428C-8C36-8C686455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この内側なら復旧可能として扱う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F8EE1F-4B04-4D3C-9505-1ABFBC03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超えると清浄復旧に失敗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98F635-20D3-49B4-8C9F-98BE89A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054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AE4EE0-4DC3-4BDF-84F5-C9A3A4C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339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rPr>
              <a:t>n = 保持世代数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305AF1-7405-4CA3-9E9D-EC6BAEC8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054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CC2EB3-1671-46F5-8260-2C04F76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3397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Δ = 間隔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70E83E-13CC-4DBE-92DC-90A1B5C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D5D269-3C12-4E34-BE75-F4F6964D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339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aₙ = 清浄復旧ホライズン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FD9477-A6D7-424B-87D8-B459230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1025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5D7481-E005-4ACD-A0C8-174F13CB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24550"/>
            <a:ext cx="716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検知の評価軸を「当たったか」から「戻れたか」へ変える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BE71B3-5B51-450F-B00A-C71AD97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rPr>
              <a:t>Provenance note: 02_model_formulation.tex; 08_conclusion.tex. Recoverability is modeled through infection age and clean-backup horizon.</a:t>
            </a:r>
          </a:p>
        </p:txBody>
      </p:sp>
    </p:spTree>
    <p:extLst>
      <p:ext uri="{BB962C8B-B14F-4D97-AF65-F5344CB8AC3E}">
        <p14:creationId xmlns:p14="http://schemas.microsoft.com/office/powerpoint/2010/main" val="1772184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50640-1FCC-4279-84E8-48082213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0FD54-9E8E-4923-87C3-566735B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A64F6-F56B-44AE-93BD-B7E6DF9F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62572-212A-421A-8B75-6839D23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05CFD-2B54-4539-AC4F-C9C88E36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EBF06-8A40-4C24-8856-84F0E7A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64E7A-218B-4C29-B9AB-D62757A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BE844-A851-4C37-9172-045D71C9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2C715-CC80-4E84-8011-803A9E3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D64AE-7EFC-4B5C-85E9-123F387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8D20C-659C-4F15-8D8B-40B27D28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B8114-E847-4CBB-B46D-844221FF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551B9-415A-407B-BD24-010D4CA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E4705-52C5-40BE-956C-D554FF0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7C329-35E6-4EB8-94AC-AACC5736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D6853-94B1-4A43-8CE5-7D799ACF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DF52D-7E02-41E3-9FE3-BF1951F1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0817D-3E37-4D1D-B576-0ED99B97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6026D-E5F7-4BDA-BD05-E928C22D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034DF-055C-4396-9081-A326F63D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2206D-AC16-4FEC-86E5-03CE455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9755F-C102-45C7-8887-F44FAA53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56FDE-5D5D-485E-A7F9-049888EE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12D30-4B47-4244-80CB-79ABCBFB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07929-E48A-4457-9DC2-1209E9C0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4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C87BC-3497-4EB6-BB1D-17D42B9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0C48C-A68A-4EFB-AC45-393707E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30FCE-5368-4FAA-89DE-D34FA145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F2AB5C-9E56-4EB0-8B5D-D8A4D747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8B8BB-B1D4-44B2-BB19-418FC39F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31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748D203B-099A-4467-877E-E72D43D9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B4CAE6A9-3822-4EAD-A350-C8ECF8FC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TAIL 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619BE6-EDBF-4E92-A9F4-5590CC4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短い典型例に騙されると、尾が保持窓を破る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B90B0-BAD9-4BFE-934F-90D8E723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Pareto 型の潜伏モデルに限った説明。実測分布ではなく、保持境界が必要になる理由を見せる。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5A070-0381-4435-916B-92B2D0FE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291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11430">
            <a:solidFill>
              <a:srgbClr val="4250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4F3370-C717-464B-BD7E-20DC2EE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46291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11430">
            <a:solidFill>
              <a:srgbClr val="5E1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A85C8-C889-4877-8777-24AA5EE4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典型例だけを見る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1E42E4-184A-4398-8F6B-4F3026E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尾まで見る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5E1A8-B78F-449F-B9E6-DB97C967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1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2F2112-0314-4A93-BB65-21F45CE0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1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65FACF-3B6E-4F6D-838C-E84C175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86200"/>
            <a:ext cx="28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576A6A-A6AE-498C-8333-1464726C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62350"/>
            <a:ext cx="28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ED658-2B11-43A6-BA4F-3A45B2E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285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2A815F-F0B1-4D98-A807-96251AF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28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48C70B-387E-49F9-9683-2492477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0000"/>
            <a:ext cx="28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BD5A2A-99ED-42DD-98CF-E2CE1321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24300"/>
            <a:ext cx="228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390A7F-5289-4266-9061-41309AB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28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41B24C-54C8-4BFA-99F9-58F1165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228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834324-0C66-4FBE-B545-5348FC77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28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6B9B11-E65C-4D80-85C0-854BBBB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286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E20883-3826-48DD-A383-10CC9353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2286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EC21AA-9244-4C0E-BEEB-EA2F495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228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289686-8D98-4A4D-8A70-27D6D31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19500"/>
            <a:ext cx="228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E23EBB-EE86-4406-8312-DBDD4377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2905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26485F-E31D-4EAE-B88B-6F02956B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0"/>
            <a:ext cx="685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A"/>
          </a:solidFill>
          <a:ln xmlns:a="http://schemas.openxmlformats.org/drawingml/2006/main" w="19050">
            <a:solidFill>
              <a:srgbClr val="FF4D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F13F01-43C1-426B-BAA7-F4BEC12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47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1E451D-9E9B-4EE4-A5C4-6F31D794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47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412320-2E0E-409E-81D9-E98B07AA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F48B1D-DBFF-43D9-BC53-06590B53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765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保持窓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46D810-EA4E-4C78-8AEB-8F359B8D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4DCFE1-E7EC-4AF0-A32D-A601C7C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765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保持窓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42A468-AB35-4AA7-AB50-80E7827B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rPr>
              <a:t>十分に見える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F0BE29-CB00-4221-99C4-8A7D8E82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清浄性が押し出される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6AF713-B6CD-45BC-99BC-04BB58F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RARE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150CE7-95F4-434E-98E7-2F15488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006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LONG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9588E9-23F4-40FF-8F2B-80427C06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5FFB59-82DA-470D-9EF9-03497C62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34050"/>
            <a:ext cx="689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典型例が短く見えても、少数の長期潜伏が保持窓を超える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2877EA-BAC9-4A8D-A402-BD87113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rPr>
              <a:t>Provenance note: 01_introduction.tex; 04_tauber_transition.tex. Pareto dwell time is a model assumption, not an empirical claim.</a:t>
            </a:r>
          </a:p>
        </p:txBody>
      </p:sp>
    </p:spTree>
    <p:extLst>
      <p:ext uri="{BB962C8B-B14F-4D97-AF65-F5344CB8AC3E}">
        <p14:creationId xmlns:p14="http://schemas.microsoft.com/office/powerpoint/2010/main" val="13806165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08276-26A8-4897-B443-FFBF8BD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074FE-8089-4A2E-9154-30F20EE7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ECB30-9319-48EC-9C2E-3577DFB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426B8-C709-4A82-A6D4-D58F8935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09B3E-BA86-4DED-AFC1-BBD86A9B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F782D-AC01-4994-970A-716694F0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4E525-B071-47CF-A8DC-59A24B7E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FCCAC-1440-46C8-8BE9-A05FB9E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4336E-26CF-41BA-93C9-FE217AC7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949DF-25EC-472C-90A8-5E3F15C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DBC9F-2B7D-4859-B369-60A9309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3E3F8-0DB5-46B8-8827-854AC68B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8E61D-C774-44B1-B050-19E94CB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3BC86-CEB0-4717-8B52-6AB5D0C7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536DC-43BF-48D4-A19C-AC942CE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67680-E5ED-4F88-B7B3-20306258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CDF4E-A65A-46F4-9FBA-FB8E4073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B4357-1E7D-4411-9FBB-795F748E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F60AD-439F-4237-BFF1-4B5899FB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B9886-22D0-4B24-A989-E432231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E82B7-2A9C-4C16-B8B8-AD31A58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3AFA0-5D1A-4F4F-9868-3C309590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4FCC0-EB1E-443D-8BB3-113F4EC4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3E4D8-E154-40C8-B159-481F6DF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59E2F-B84E-4422-A25B-5D04415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4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3F4C7-3E6B-4EEF-A42C-BC1E03F8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7C388-1AF8-4E9D-8BFC-568586BE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88A9C-6C48-4D5E-AC6D-B988E8D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212D3-8ECD-4717-A9BC-CDDC8A9D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49C6C-3249-49F1-87E4-12551F56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31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40C3BD4-65D5-4585-8903-76C24ED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90E85D8B-B15A-4BAE-B737-FD7A8312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LOSS ACCOUNTING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89BB4-87D3-44FF-9081-D9607A5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復旧失敗は、ひとつの失敗ではない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242392-1226-42CD-9DDF-EDC47481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モデルは検知失敗と保持超過を分けて数える。ここが、検知評価を復旧可能性へ接続する継ぎ目になる。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EECDC-14C4-4C6E-98D4-6DB87EA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775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11430">
            <a:solidFill>
              <a:srgbClr val="4652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6C344-E10C-44DD-941D-A01A5A0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Q_full(Δ)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748B2A-E980-4D70-96F2-FB2F70D7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14288">
            <a:solidFill>
              <a:srgbClr val="5662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9A78B6-123A-4D41-A871-295D9A33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潜伏感染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4247BB-446A-4D62-B393-2F1E2F3C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T_d と T_det の競争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87043D-436D-4016-85A8-3F513814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114D81-3465-49CC-AC64-54557652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2152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7"/>
          </a:solidFill>
          <a:ln xmlns:a="http://schemas.openxmlformats.org/drawingml/2006/main" w="14288">
            <a:solidFill>
              <a:srgbClr val="6EA8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2CC85D-DB72-4346-BC08-4E853EB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52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rPr>
              <a:t>早期検知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E1F817-FA23-45F7-A53D-F969F56B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T_det &lt; T_d</a:t>
            </a:r>
          </a:p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Δに依存しない費用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4AA088-9A4C-4BC3-80A9-EA4328C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52900"/>
            <a:ext cx="2152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14288">
            <a:solidFill>
              <a:srgbClr val="F2B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FCBB79-6307-4394-95E7-1736F86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86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早期検知失敗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005E40-38DB-4FF5-A18A-17745A80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重み: Lβ</a:t>
            </a:r>
          </a:p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ここから保持設計が効く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B4D8EC-7D4C-4330-B563-63931DE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3068D1-BF55-4C6A-871F-4E86DEA7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14288">
            <a:solidFill>
              <a:srgbClr val="34E0B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1ED90D-10A4-42AE-851B-DEB2218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保持期間内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D7818B-EC36-4B3F-BCD7-C269763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719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Lβ - Hβ</a:t>
            </a:r>
          </a:p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復旧費 + スキャン停止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137BA6-4D43-49BD-B7EC-C4D54290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14288">
            <a:solidFill>
              <a:srgbClr val="FF4D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34F543-50B7-4977-AF77-E1BEC24B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672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保持超過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5CD4DD-79A0-4D88-9A7B-89A6B5D7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92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Hβ</a:t>
            </a:r>
          </a:p>
          <a:p xmlns:a="http://schemas.openxmlformats.org/drawingml/2006/main">
            <a:pPr algn="l">
              <a:def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清浄復旧失敗 / 全損扱い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9C47E9-4CCD-4FCA-80F1-DBA5C47C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11430">
            <a:solidFill>
              <a:srgbClr val="FF4D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31E172-E937-4FAD-9ECA-2EFF2F06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384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Hβ: 保持超過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97348C-C0AC-4734-B8F1-57FAD0D1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11430">
            <a:solidFill>
              <a:srgbClr val="34E0B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5B1139-DB8F-4AC1-985F-28B446DC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Mβ: 切断モーメント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33C686-0BE2-4805-8892-7624DD69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11430">
            <a:solidFill>
              <a:srgbClr val="F2B84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72AF42-AC0F-40EC-81B7-15526D49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433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Lβ-Hβ: 復旧分岐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7B18EC-6F31-4AE5-B891-9A66A9A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保持を少し延ばす便益と</a:t>
            </a:r>
          </a:p>
          <a:p xmlns:a="http://schemas.openxmlformats.org/drawingml/2006/main">
            <a:pPr algn="ctr">
              <a:def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スキャン停止時間の費用が</a:t>
            </a:r>
          </a:p>
          <a:p xmlns:a="http://schemas.openxmlformats.org/drawingml/2006/main">
            <a:pPr algn="ctr">
              <a:def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釣り合う点が設計式になる。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F83E35-3D9B-4D8D-891E-97E6B0F8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0"/>
            <a:ext cx="8229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CF4739-45D6-41E2-93EE-B09BB52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19800"/>
            <a:ext cx="788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検知評価を「復旧できたか」に変えるため、保持超過の分岐を表へ出す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6456AB-6F0C-457E-ABED-CE7A5DC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rPr>
              <a:t>Provenance note: 02_model_formulation.tex; 05_backup_optimization.tex. Early-detection costs are separated from Delta-dependent residual loss.</a:t>
            </a:r>
          </a:p>
        </p:txBody>
      </p:sp>
    </p:spTree>
    <p:extLst>
      <p:ext uri="{BB962C8B-B14F-4D97-AF65-F5344CB8AC3E}">
        <p14:creationId xmlns:p14="http://schemas.microsoft.com/office/powerpoint/2010/main" val="1894885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D77D7-A2C9-419E-87B9-8A3D8A7A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62C08-70D7-499C-8F6D-AEBA9E49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FEEAA-F6FF-4D62-B7F1-B0234997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77846-F206-4906-9328-95BC19A2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CAE29-49B3-4C05-BB4B-B26FD24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16162-2B03-4A49-883E-0DDC2FB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C6D97-BF5F-4AD1-A164-5AC832B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204FF-88CF-4410-9293-FF50812E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84A06-9E3B-4E73-BD73-C9797532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7BDC6-D8E8-4DA5-ACB5-D8735DF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5D1E1-A2CA-4E7A-A1DA-504CDF78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54FD4-5B9F-45B5-9217-50FDB28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990CF-66A3-4463-9761-78BC0369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7D7D-4E98-4558-AE8E-108C805F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4AB2F-CDE8-4373-B6B6-A432DC33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F5E2C-F70D-4569-93C2-A2EA49A2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E49C5-5015-421C-96F8-9724DA62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3A672-4A16-4CDB-B772-BDA7B865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9A873-3254-4F27-A8C8-E74B074B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BB9E0-C9C9-4626-AC29-91CF4A4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1F2CA-A487-4BD8-B13E-D719C1F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139C3-3A24-476C-946D-C3726371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354EE-E888-4DD8-8C74-92AF579B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A640A-2708-498F-8E14-D2AC5B2B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C4FD3-0381-4751-9313-33D42BB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4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B1C6A-1625-470F-85D7-B63FE38C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7ED94-7419-4EBF-AC45-FCBE5D9E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29C4B-A56B-4108-B357-543C34E8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DAA99-B895-4400-972F-8BB65344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C6F0D-D464-4024-9B07-C239FCC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1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B47B30E-EFE1-4340-97BF-AD076D75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7814FFBA-567F-4343-909F-AF09F37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DESIGN 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CEA11A-C07C-49FD-9EF0-DF83F719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まず決めるのは、間隔ではなく戻れる日数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C7DA2-E9AC-4356-A71D-3D23ABD2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清浄復旧ホライズン a* を先に決め、あとから保持世代数 n とバックアップ間隔 Δ に分解する。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0930C8-946D-45D3-8325-CEC467E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a* FIRST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F1660-044D-47DD-8493-D1B395F7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06299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11430">
            <a:solidFill>
              <a:srgbClr val="4652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B77E18-D7AE-454C-8810-7036032B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697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Δ* = [L − (d₁τ_R + d₀)] / (d₁κ_s n)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443E58-95A3-4EB4-9FE6-A5960E40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a* = nΔ* = [L − (d₁τ_R + d₀)] / (d₁κ_s)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1F5158-CD35-41F8-81E7-DFC2C8E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2E8937-C01A-480B-9CC0-F4E8447A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6722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Δ*: バックアップ間隔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391614-2617-4B61-BE3E-BD12F55F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D1BA4F-8511-482E-B030-54249CD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a*: 残すべき清浄期間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542EF-7EF7-474E-8636-8BC787D2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72050"/>
            <a:ext cx="596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66097E-C4BD-4C33-80BC-C4D98A76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86350"/>
            <a:ext cx="561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世代数を増やせるなら、同じ a* をより短い Δ で実装できる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31ACBD-6E79-4818-9968-7C3219E0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1145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11430">
            <a:solidFill>
              <a:srgbClr val="53606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24C518-A8C1-490B-801F-CF0B8D5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READING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A607C1-C31C-43A1-9A25-EDC348C2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027F88-C4F6-4A5C-98DF-E88F727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L → 全損時損失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53249A-23D7-4E8C-A3E2-9558642B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BB08D5-45E0-49A7-A990-A7561688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d₁τ_R+d₀ → 通常復旧損失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0394F3-5829-449E-864E-937762F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9AAADC-4878-4F16-8D34-08DC70E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909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κ_s → 戻るほど増える負荷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142738-2E50-42DA-BB18-44736886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4B3D19-C504-4033-BF2C-B53AD20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529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81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n → 保持世代数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CBD12C-BDCA-42B6-B7E7-CBDE69E5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674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13335">
            <a:solidFill>
              <a:srgbClr val="FF4D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788459-42F6-4DDC-AEF8-5515028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62650"/>
            <a:ext cx="944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条件: L &gt; d₁τ_R + d₀、κ_s&gt;0、Δ*が許容区間内。外れる場合は端点評価と保持設計の見直し。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6B9EE8-E402-4DF6-974E-3F20713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rPr>
              <a:t>Provenance note: 05_backup_optimization.tex; 08_conclusion.tex. Formula is conditional on the stated interior/admissible design assumptions.</a:t>
            </a:r>
          </a:p>
        </p:txBody>
      </p:sp>
    </p:spTree>
    <p:extLst>
      <p:ext uri="{BB962C8B-B14F-4D97-AF65-F5344CB8AC3E}">
        <p14:creationId xmlns:p14="http://schemas.microsoft.com/office/powerpoint/2010/main" val="1578046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DC29A-D68D-49CE-B90E-76914ECD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F8DA9-15AC-4E27-B263-5AAC1031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2316B-6863-4F29-9E82-313109FA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EF12C-4D61-492C-B0EA-F62D3110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8667A-8DA5-4F45-8663-E916FA7D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CE939-8264-43CB-92E4-CD003D5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CE983-2AE2-4C8F-861F-6E52E73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01DE7-D46F-4327-BE4B-667750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C2E3F-E054-495B-AB2D-E70F8388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92C35-8400-4B1D-ACDD-C652A1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9388D-2188-4E65-AF62-DF9EBD8B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46313-0C15-4106-8D96-C57FDD5F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5FB33-50C9-4C69-A382-B3499584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58772-AD5D-4BD6-8392-0A99A026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019EA-B0C5-461C-B79E-21F43B2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02F79-F4E8-4BEB-8599-4773197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0A669-3198-4591-8149-3A22923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E06C0-AF46-4246-A219-4F20051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40C0D-B71A-4686-9322-ADC50607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CE47B-7362-4B2C-A5D6-BB779856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97B5A-43B7-48EE-AA79-460B4E0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3A411-E9C9-4A34-AB2D-8D6A8651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5C424-9A04-41BD-9A3D-8B94BD32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73655-D5BA-4A32-81EB-9023FA56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B823F-1E77-4763-866C-9C83D905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4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4FABB-24A4-4E30-A0EC-825F0E64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F3DA0-2104-4CAF-9BF3-5A39DF3C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3F415-4D72-4719-9550-DA47442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64C82-9FDA-4817-8973-FED91594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96B7DE-FEEA-4E88-845D-664B7FA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31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FE927438-3ADA-44EB-9254-20CDAB08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0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9E341861-32ED-4F12-9C24-F9A99CE9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OPERATING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3D4B5-BA96-447A-9ABF-08D3C152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式は、現場で回すランブックになる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CF93F9-FD11-4EC5-AC29-B8E8E4C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固定値の推奨ではなく、損失・復旧・検知遅れを更新し続ける手順として使う。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496D2B-0F73-45DF-87BE-560BB65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95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RUNBOOK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0CC2D8-D475-446C-B3D7-F02CE72D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20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4A56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CF7A2-CE99-4F93-8027-29AB0EB8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CC1C0B-614D-453B-B6A2-CD7FE90C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030732-D87F-4CF0-B2DA-04827AAD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損失を置く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415C05-5A2C-455A-85C0-B9A8B5D8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L、d₁、d₀を見積もる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F7AF9F-22E1-4BC0-82BC-0705B58A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384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3B66F9-2B67-4AF6-B9CD-6375531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220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4A566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8A73B6-0666-4136-8704-26C94717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2B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7D73F5-78B1-48ED-9633-66AFBEE3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2B84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3E488F-06CA-4F54-ADAC-4194B21A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復旧を測る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CF3122-80F0-4F51-B769-76474DE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τ_R と κ_s を置く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2640BA-3EAE-410B-9CE0-FEF770E3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3AA12D-ACE2-4F28-A768-2A2C252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20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4A566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036AA6-F8DC-4550-B7CC-5C89C67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33B270-ABDC-43B4-9A0E-3588DED3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A8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2A0F8F-1E5B-4B95-8643-CB5547F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遅れを見る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FE09EE-E5F8-441E-A154-A4440D5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感染後経過が a* 内か見る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446875-3C33-4372-B8B3-90C6B8BC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CBA1FF-CD3D-4991-89D3-AE3D8187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220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4A566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BE3DF1-64FC-4663-A705-B3DF8C7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81E372-5F6E-4AE0-B24A-E0257389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955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4E0B3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AC502A-050D-40AF-BC57-C4CD424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574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保持を決める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F87997-9EC5-4DD9-AE87-7E2E78D8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8F2E8"/>
                </a:solidFill>
                <a:latin typeface="Hiragino Sans"/>
                <a:ea typeface="Hiragino Sans"/>
                <a:cs typeface="Hiragino Sans"/>
              </a:rPr>
              <a:t>n、Δ、追加世代を評価する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890CDD-C44A-4D24-83EE-4BD2E29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1017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33D1AC-0613-4DE8-B2A6-F6180B3A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982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0"/>
                </a:solidFill>
                <a:latin typeface="Hiragino Sans"/>
                <a:ea typeface="Hiragino Sans"/>
                <a:cs typeface="Hiragino Sans"/>
              </a:rPr>
              <a:t>実務値は自組織で再計算する。数値例はスケール確認であり、パラメータは実証推定値ではない。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958734-BA6F-496D-AA71-4BD46565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149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7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3A8F5D-1C7E-49CB-BC56-F70915B5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435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888FF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A888FF"/>
                </a:solidFill>
                <a:latin typeface="Hiragino Sans"/>
                <a:ea typeface="Hiragino Sans"/>
                <a:cs typeface="Hiragino Sans"/>
              </a:rPr>
              <a:t>追加保持費用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32D9AE-2A99-403E-BD18-28982E3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C807B4-42B5-4024-898A-8E9252FB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149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8CB645-B239-4D93-A71F-D40476D1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43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FF4D4A"/>
                </a:solidFill>
                <a:latin typeface="Hiragino Sans"/>
                <a:ea typeface="Hiragino Sans"/>
                <a:cs typeface="Hiragino Sans"/>
              </a:rPr>
              <a:t>復旧不能ペナルティ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B980F3-FBEB-4E3D-BA13-348C2B9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を置いて、追加保持世代を評価する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CFA9A5-BF99-46AA-AD62-5F88BAA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86450"/>
            <a:ext cx="758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A8B1BA"/>
                </a:solidFill>
                <a:latin typeface="Hiragino Sans"/>
                <a:ea typeface="Hiragino Sans"/>
                <a:cs typeface="Hiragino Sans"/>
              </a:rPr>
              <a:t>追加保持は「保存費用」と「清浄復旧に失敗する損失」を並べる小さな整数評価にする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EBD8B4-984E-4E04-ABBC-6356296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6F7A84"/>
                </a:solidFill>
                <a:latin typeface="Hiragino Sans"/>
                <a:ea typeface="Hiragino Sans"/>
                <a:cs typeface="Hiragino Sans"/>
              </a:rPr>
              <a:t>Provenance note: 05_backup_optimization.tex; 06_dynamic_retention.tex; 07_numerical_examples.tex; docs/evidence/heavy_tail_backup_source_note.md.</a:t>
            </a:r>
          </a:p>
        </p:txBody>
      </p:sp>
    </p:spTree>
    <p:extLst>
      <p:ext uri="{BB962C8B-B14F-4D97-AF65-F5344CB8AC3E}">
        <p14:creationId xmlns:p14="http://schemas.microsoft.com/office/powerpoint/2010/main" val="1273613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2026-05-16T22:24:14.2720000Z</dcterms:created>
  <dcterms:modified xsi:type="dcterms:W3CDTF">2026-05-16T22:24:14.2720000Z</dcterms:modified>
</coreProperties>
</file>