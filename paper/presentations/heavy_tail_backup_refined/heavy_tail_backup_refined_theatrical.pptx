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a8091623594758" /><Relationship Type="http://schemas.openxmlformats.org/officeDocument/2006/relationships/extended-properties" Target="/docProps/app.xml" Id="R392637583b184d3d" /><Relationship Type="http://schemas.openxmlformats.org/officeDocument/2006/relationships/officeDocument" Target="/ppt/presentation.xml" Id="R1900e87c2bd449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a8bae5d1ac4b93"/>
  </p:sldMasterIdLst>
  <p:notesMasterIdLst>
    <p:notesMasterId xmlns:r="http://schemas.openxmlformats.org/officeDocument/2006/relationships" r:id="R1e2af0caf4624207"/>
  </p:notesMasterIdLst>
  <p:sldIdLst>
    <p:sldId xmlns:r="http://schemas.openxmlformats.org/officeDocument/2006/relationships" id="256" r:id="Rbc76b604d6044e86"/>
    <p:sldId xmlns:r="http://schemas.openxmlformats.org/officeDocument/2006/relationships" id="257" r:id="Rb502a883aa4a4416"/>
    <p:sldId xmlns:r="http://schemas.openxmlformats.org/officeDocument/2006/relationships" id="258" r:id="R7082ba4f80654bd6"/>
    <p:sldId xmlns:r="http://schemas.openxmlformats.org/officeDocument/2006/relationships" id="259" r:id="R89bd5cd81f7e42bd"/>
    <p:sldId xmlns:r="http://schemas.openxmlformats.org/officeDocument/2006/relationships" id="260" r:id="R683074f7bfdd44d8"/>
    <p:sldId xmlns:r="http://schemas.openxmlformats.org/officeDocument/2006/relationships" id="261" r:id="Rd663361ae82f463e"/>
    <p:sldId xmlns:r="http://schemas.openxmlformats.org/officeDocument/2006/relationships" id="262" r:id="R072082e7c17a4a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a8bae5d1ac4b93" /><Relationship Type="http://schemas.openxmlformats.org/officeDocument/2006/relationships/theme" Target="/ppt/theme/theme1.xml" Id="Redaa12cf4dd44a38" /><Relationship Type="http://schemas.openxmlformats.org/officeDocument/2006/relationships/notesMaster" Target="/ppt/notesMasters/notesMaster1.xml" Id="R1e2af0caf4624207" /><Relationship Type="http://schemas.openxmlformats.org/officeDocument/2006/relationships/presProps" Target="/ppt/presProps.xml" Id="R5ff8f4ef56794d7b" /><Relationship Type="http://schemas.openxmlformats.org/officeDocument/2006/relationships/viewProps" Target="/ppt/viewProps.xml" Id="Rde91c6aeb4e6484c" /><Relationship Type="http://schemas.openxmlformats.org/officeDocument/2006/relationships/tableStyles" Target="/ppt/tableStyles.xml" Id="R605c7d3d5b6d4304" /><Relationship Type="http://schemas.openxmlformats.org/officeDocument/2006/relationships/slide" Target="/ppt/slides/slide1.xml" Id="Rbc76b604d6044e86" /><Relationship Type="http://schemas.openxmlformats.org/officeDocument/2006/relationships/slide" Target="/ppt/slides/slide2.xml" Id="Rb502a883aa4a4416" /><Relationship Type="http://schemas.openxmlformats.org/officeDocument/2006/relationships/slide" Target="/ppt/slides/slide3.xml" Id="R7082ba4f80654bd6" /><Relationship Type="http://schemas.openxmlformats.org/officeDocument/2006/relationships/slide" Target="/ppt/slides/slide4.xml" Id="R89bd5cd81f7e42bd" /><Relationship Type="http://schemas.openxmlformats.org/officeDocument/2006/relationships/slide" Target="/ppt/slides/slide5.xml" Id="R683074f7bfdd44d8" /><Relationship Type="http://schemas.openxmlformats.org/officeDocument/2006/relationships/slide" Target="/ppt/slides/slide6.xml" Id="Rd663361ae82f463e" /><Relationship Type="http://schemas.openxmlformats.org/officeDocument/2006/relationships/slide" Target="/ppt/slides/slide7.xml" Id="R072082e7c17a4a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5b1816ff6e344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8c12ea40a94740" /><Relationship Type="http://schemas.openxmlformats.org/officeDocument/2006/relationships/notesMaster" Target="/ppt/notesMasters/notesMaster1.xml" Id="R40cb2cd586c64e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f9a19d31404efb" /><Relationship Type="http://schemas.openxmlformats.org/officeDocument/2006/relationships/notesMaster" Target="/ppt/notesMasters/notesMaster1.xml" Id="R1ed9cee773aa4c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aa2f509c424658" /><Relationship Type="http://schemas.openxmlformats.org/officeDocument/2006/relationships/notesMaster" Target="/ppt/notesMasters/notesMaster1.xml" Id="Ra45ada70d34749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4a326d059f4ecc" /><Relationship Type="http://schemas.openxmlformats.org/officeDocument/2006/relationships/notesMaster" Target="/ppt/notesMasters/notesMaster1.xml" Id="R9e3b76596aef41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5102750f0e4794" /><Relationship Type="http://schemas.openxmlformats.org/officeDocument/2006/relationships/notesMaster" Target="/ppt/notesMasters/notesMaster1.xml" Id="R089a286e4ce34b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ffdb43d22e47e8" /><Relationship Type="http://schemas.openxmlformats.org/officeDocument/2006/relationships/notesMaster" Target="/ppt/notesMasters/notesMaster1.xml" Id="R5b707948975a49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f12fe927814057" /><Relationship Type="http://schemas.openxmlformats.org/officeDocument/2006/relationships/notesMaster" Target="/ppt/notesMasters/notesMaster1.xml" Id="Rf51f30c9c57847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72ae49fcb4cd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92a73196d204f02" /><Relationship Type="http://schemas.openxmlformats.org/officeDocument/2006/relationships/slideLayout" Target="/ppt/slideLayouts/slideLayout2.xml" Id="R0e1a231e683047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1a231e683047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c0292ce3e64ebb" /><Relationship Type="http://schemas.openxmlformats.org/officeDocument/2006/relationships/notesSlide" Target="/ppt/notesSlides/notesSlide1.xml" Id="Rd4a547e27a0648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c004b8d61d410e" /><Relationship Type="http://schemas.openxmlformats.org/officeDocument/2006/relationships/notesSlide" Target="/ppt/notesSlides/notesSlide2.xml" Id="Rd9e5679632534c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0cd27fc1144ee8" /><Relationship Type="http://schemas.openxmlformats.org/officeDocument/2006/relationships/notesSlide" Target="/ppt/notesSlides/notesSlide3.xml" Id="Rcd9f9b6956ab4f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2f3b5811834574" /><Relationship Type="http://schemas.openxmlformats.org/officeDocument/2006/relationships/notesSlide" Target="/ppt/notesSlides/notesSlide4.xml" Id="R65397dff618948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bd4f8c574c4f30" /><Relationship Type="http://schemas.openxmlformats.org/officeDocument/2006/relationships/notesSlide" Target="/ppt/notesSlides/notesSlide5.xml" Id="R13837378637646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11a7317c9647ab" /><Relationship Type="http://schemas.openxmlformats.org/officeDocument/2006/relationships/notesSlide" Target="/ppt/notesSlides/notesSlide6.xml" Id="R7e7a151690cb42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0cfb2859144266" /><Relationship Type="http://schemas.openxmlformats.org/officeDocument/2006/relationships/notesSlide" Target="/ppt/notesSlides/notesSlide7.xml" Id="Raa927bb332a94f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D7A394-C8E0-489B-BA88-B5266FFA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7820E-0F4B-4522-AB6B-0D19469E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2BF11-9F66-4FE0-948B-5395F36F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874D2-B57C-40A8-A177-8E84F12E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875A7-CD36-41F1-BCF5-971A888D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A3CDE-8CAF-4E2A-8322-E4CE7137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6D3AD-E5FD-492E-BCD7-6EC00BAC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21ADC-6095-4FF2-A04C-E0BC4C28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90EC9-C514-4DA6-84AC-89700888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5DC9C-5BF9-43F4-80E2-58D73264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46CC8-177E-4FEB-8BDE-EE3222DC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2EBCFD-969D-4CE2-AF48-D837B94B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F1CE05-A9FC-4F09-917B-8A594722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692A1-2EB3-4C30-A222-F7E0A826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1AA06-5A59-40CA-877D-AC81EACD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4FCCA7-4833-4B24-B248-C1DA329E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641678-24BE-4799-B5B3-2ADC3558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76F62A-1BD5-46FC-96B0-164D84F8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82EEF2-C7E4-44D3-ADA7-D15655C6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INCIDENT QUESTION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AB461C-C1AD-410F-8FAB-714DD077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464F92-648D-4937-944E-76987436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最新バックアップだけを見ると，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復旧先を間違える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9862A3-886A-403B-8803-4C3CFBA9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感染後に取ったバックアップは，新しくても復旧点ではない。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143777-9652-48D2-9BBB-EE3CC7CD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90550"/>
            <a:ext cx="3476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3000" b="1">
                <a:solidFill>
                  <a:srgbClr val="DDE3E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DDE3EA"/>
                </a:solidFill>
                <a:latin typeface="Aptos Display"/>
                <a:ea typeface="Aptos Display"/>
                <a:cs typeface="Aptos Display"/>
              </a:rPr>
              <a:t>LATEST ≠ SAFE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79BD7-D77C-460D-8E22-7D8D35B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10382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5EE99-4B56-4D04-8F74-DA7ED2AD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71900"/>
            <a:ext cx="5476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8511CD-BBE7-48ED-A965-5F189576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048250"/>
            <a:ext cx="4476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横軸: バックアップ時点（古い → 新しい）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AC5551-C7F3-48CF-98FC-715E7BDE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64807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C68BCC-4A65-42B7-A154-6D525008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3860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FEC310-5051-44EC-95AE-4DF77A5C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64807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B41381-44F2-4B70-89F4-6CD05763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3860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C983D5-A359-4BE7-A3D8-42BD9B86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64807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9525">
            <a:solidFill>
              <a:srgbClr val="E33D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ACCF0F-5440-4AA9-BF90-FF7B8801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3860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感染後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F56148-01F7-4848-9B08-E1C2B8D7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64807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9525">
            <a:solidFill>
              <a:srgbClr val="E33D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3FAE68-7C25-44A1-83D4-750219A6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3860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最新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B5277D-2EAD-4FDA-89FD-6DF9CA44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90850"/>
            <a:ext cx="914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6E5"/>
          </a:solidFill>
          <a:ln xmlns:a="http://schemas.openxmlformats.org/drawingml/2006/main" w="9525">
            <a:solidFill>
              <a:srgbClr val="FFE6E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BCF477-6947-4728-B8A2-D456D9B6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3847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推定侵入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244BD7-9313-4042-AC9C-F4A1FB5F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14700"/>
            <a:ext cx="285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0EDDAE-A7B1-4836-B6CD-687D1B19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14650"/>
            <a:ext cx="3333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651873-F567-49D9-B9E1-100FBBFD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05150"/>
            <a:ext cx="2762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復旧で必要なのは「最新」ではなく</a:t>
            </a:r>
          </a:p>
          <a:p xmlns:a="http://schemas.openxmlformats.org/drawingml/2006/main">
            <a:pPr algn="l">
              <a:def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感染前の清浄点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337227-25D2-449D-B092-16F2185F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719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この先の式は，清浄点を</a:t>
            </a:r>
          </a:p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どこまで古く残すかを決める道具。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80A39D-18B7-46C4-9B34-C80C5DB8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01_introduction.tex; 02_model_formulation.tex.</a:t>
            </a:r>
          </a:p>
        </p:txBody>
      </p:sp>
    </p:spTree>
    <p:extLst>
      <p:ext uri="{BB962C8B-B14F-4D97-AF65-F5344CB8AC3E}">
        <p14:creationId xmlns:p14="http://schemas.microsoft.com/office/powerpoint/2010/main" val="15964168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61BA4F-9C12-4B0E-9D70-27EAAC22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7108F-13ED-40F1-94E3-88135058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A66F2-4BEF-4315-B741-76E04E13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6BA7F-ECDE-439D-BB8E-3817CF82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A138A-A9D6-4339-8580-479859C4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6CB8A-C4D2-470A-BF01-B1977151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F728B-2D7F-494B-9A42-AB64F768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9AEF8-84EA-42AE-B117-CF348D42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F70F95-1876-42D0-B69B-62945BA4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98084-9C45-42C8-BB5D-F56EC447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B00014-3BD1-4525-85DE-D76AC564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F3C02-A5F5-4513-B9BD-84091E19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DF4802-F989-485C-8252-281F12EB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D67F7-141D-4052-AA5E-7956BD01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57A3B-7ACB-496E-A9FE-317CC790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3A868-A873-4A6A-B776-EDB4F2BF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E4EE9D-2501-4947-A782-A08BCC3F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280BC9-2C2A-4D62-9EFA-9C4B1549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19E67-9F47-483D-BCD7-9FF84E5C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EVALUATION SHIFT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A27580-1A99-4353-B20D-D7CBD44B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4BB5D5-9A66-4643-91E9-07985A54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良いアラートは，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清浄復旧ホライズン内で鳴る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1DDF56-6591-4BEF-97F4-FFCC360C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検知精度だけでなく，検知時点で戻れる清浄履歴が残っているかを見る。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FAA7D-A542-43B6-88F3-CC0F4F10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0960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3600" b="1">
                <a:solidFill>
                  <a:srgbClr val="DDE3EA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DDE3EA"/>
                </a:solidFill>
                <a:latin typeface="Aptos Display"/>
                <a:ea typeface="Aptos Display"/>
                <a:cs typeface="Aptos Display"/>
              </a:rPr>
              <a:t>ALERT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F85539-0D5E-4D26-A037-736F1652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100965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107283-6651-406F-8F8B-13C51ADC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67150"/>
            <a:ext cx="838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77EA38-EB34-4719-9268-2EFA9EA8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81600"/>
            <a:ext cx="4857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横軸: 感染後に経過した時間（短い → 長い）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527135-67E0-4808-98E0-20A6CC3B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6E5"/>
          </a:solidFill>
          <a:ln xmlns:a="http://schemas.openxmlformats.org/drawingml/2006/main" w="9525">
            <a:solidFill>
              <a:srgbClr val="FFE6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CA6E5E-5083-4C81-A9D0-FD06A2A3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38525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感染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145B2F-EF28-4A18-B72A-32494EA7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FFF2C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6767ED-C660-4008-9000-C32AFF0D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38525"/>
            <a:ext cx="704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E5A100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E5A100"/>
                </a:solidFill>
                <a:latin typeface="Hiragino Sans"/>
                <a:ea typeface="Hiragino Sans"/>
                <a:cs typeface="Hiragino Sans"/>
              </a:rPr>
              <a:t>アラート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4A549C-B4F6-4D0A-A47B-4D840595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909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DDF6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8DBA2B-4C88-49C9-9E62-054332E7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清浄履歴が切れる境界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76DEC8-FD3F-4148-94FA-22FF6B1E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76650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2A6946-A278-4A7D-9846-32FD3306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76650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1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7A5365-0242-4967-B7A8-D19E7EC8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87F73F-0FFC-4075-AE8A-1BA828A0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653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25C453-79F9-47FF-8CC7-FB69EB29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aₙ(Δ)=nΔ : 清浄な復旧点へ戻れる期間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AB2AE5-25EC-4C0C-B5C4-5A3DAB65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638800"/>
            <a:ext cx="7381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読むポイント: アラートがこの緑の範囲に入っていれば，まだ清浄点に戻れる。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6C142F-F036-4093-9541-D91300A6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02_model_formulation.tex; 08_conclusion.tex.</a:t>
            </a:r>
          </a:p>
        </p:txBody>
      </p:sp>
    </p:spTree>
    <p:extLst>
      <p:ext uri="{BB962C8B-B14F-4D97-AF65-F5344CB8AC3E}">
        <p14:creationId xmlns:p14="http://schemas.microsoft.com/office/powerpoint/2010/main" val="12160892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126BD5-2DB4-499C-9A09-410CFFE7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2D867-2CEA-4F99-8456-4EDD7C08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5EA0E-54F7-4C8B-AF92-2A41C4BD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FB9B2-CF36-4D7F-A2C8-E89465CB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40E49-F7D9-410B-B909-3D10CEC8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94B8E-0D22-4FA3-8FAC-D727D927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20BEAD-2372-4598-B57A-2E733C98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7BCF0-EB60-4496-9EA4-D18C18E8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A07CC-64CC-41AB-9AD7-D54C39AE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4D3433-5BF0-43F4-8677-EA65F8F2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B82B7-8DD8-4A65-AC86-9E858C13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5711F-8E14-4E4C-98AB-2B0D624F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313A8-6B1C-4AEB-8E3C-22AE3BF7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741ACA-FA9B-444B-B2D2-1301BFAA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C11B4-EFB1-448D-A049-86ADD73F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E0715-1962-4764-857D-15CEAF61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1925A9-823B-4659-8EF5-556F1E12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F8F0AA-875A-46AA-AF9B-1F1CCE8F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16FF9-91F8-46E2-938F-B09BD5C0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TAIL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301C9-F0DD-4079-A039-2C721DE0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89D71-5E70-486D-A475-4BB2F1F3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重尾潜伏では，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少数の長期感染が保持窓を破る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91FF1B-ED18-4046-B867-CCBEE33C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平均的な潜伏ではなく，右端の長い潜伏がバックアップ設計を壊す。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AD205F-4659-4166-9112-6FF1C11D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0960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3600" b="1">
                <a:solidFill>
                  <a:srgbClr val="DDE3EA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DDE3EA"/>
                </a:solidFill>
                <a:latin typeface="Aptos Display"/>
                <a:ea typeface="Aptos Display"/>
                <a:cs typeface="Aptos Display"/>
              </a:rPr>
              <a:t>TAIL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646944-42C0-4901-A1EA-24D1547D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3D073E-F2A0-4550-A769-888CF7E6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489050-1A0A-40F4-BDD5-C76825EF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薄い尾の見え方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2AA24-B0CD-44EC-9E45-01B44D75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重尾の見え方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C439A5-8105-43C5-BB38-4AEDC580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24425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縦軸: 起きやすさ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F9B606-8E22-45A9-913F-6343B919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24425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横軸: 潜伏期間（短い → 長い）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65891B-CDF2-4317-9989-354B12A1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24425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縦軸: 起きやすさ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B524CD-BFC8-411B-B781-AFE2FE6F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24425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横軸: 潜伏期間（短い → 長い）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255EF8-DD9B-4992-84DC-A6C3C99B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6EB10B-4F0D-4001-AFDA-23D98B17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00400"/>
            <a:ext cx="190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4FBC3B-7DE5-475B-BD0B-9B226EFD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78D5F6-420D-4585-90A2-BC0E903A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190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D4EDDE-6243-467F-AEBB-79586FD5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57600"/>
            <a:ext cx="285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913A5D-FFEA-41D3-904F-6C467DCF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886200"/>
            <a:ext cx="28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DB9F7C-2AB3-4216-9D83-943E3409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33850"/>
            <a:ext cx="285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B93757-FD38-4951-806F-F3C610D1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28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2FAE8C-F58E-4350-B8CE-B3955694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52950"/>
            <a:ext cx="28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7D9932-BB1E-425B-9DA0-DE6DB2F6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667250"/>
            <a:ext cx="285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58716A-B637-433C-950F-0BBB99B9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57600"/>
            <a:ext cx="228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DF07C1-18DF-45DD-86D7-CABDE377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943350"/>
            <a:ext cx="228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DFA0F6-AF10-4FD8-88C7-394063A8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71950"/>
            <a:ext cx="228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43104F-C283-4568-A111-B95416F3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305300"/>
            <a:ext cx="22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F52C78-52C0-4026-842E-B87F942F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0055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80CCA6-D109-43DC-858A-A75C52FD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476750"/>
            <a:ext cx="22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33ABC5-700C-460B-AC78-65EBABEF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339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4E9E85-E4CD-4FBF-ACEE-4BA3EF98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562475"/>
            <a:ext cx="2286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FEE6EB7-07DA-4450-9F34-81D58E3A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581525"/>
            <a:ext cx="2286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1A04F1-5C48-4949-963A-9E3EC570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85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156E2D-9DD2-4A54-868B-32F98E74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57550"/>
            <a:ext cx="285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B79A63-C796-4ACB-83EF-5E8194DF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19450"/>
            <a:ext cx="762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9492B6-9E53-47A3-A146-6C631930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19450"/>
            <a:ext cx="7620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保持窓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AE4948-BE90-424F-B476-F40F1D2E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810250"/>
            <a:ext cx="6524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ここで見るのは棒の高さではなく，右端が保持窓を越えるか。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F2DCAE-13F7-4900-A209-189E21C4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01_introduction.tex; 04_tauber_transition.tex.</a:t>
            </a:r>
          </a:p>
        </p:txBody>
      </p:sp>
    </p:spTree>
    <p:extLst>
      <p:ext uri="{BB962C8B-B14F-4D97-AF65-F5344CB8AC3E}">
        <p14:creationId xmlns:p14="http://schemas.microsoft.com/office/powerpoint/2010/main" val="12473578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67BF79-484A-4E0C-829A-06CB589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632E2-F1EA-4C80-946B-B547A175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3903F-2AFB-4714-AA25-C0FE6A9C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88345C-E7B1-49B1-8565-FA5C216A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CB48D-AB0B-4513-90A4-CC2B812E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525E7-3596-40F5-84A1-4D7F861E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7430A4-FB9B-41EB-8483-D94D259E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38480-E87A-4552-93C3-531DFA5E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90210-E507-4586-B98A-379AB350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90BE21-B1DF-4CBD-9DAE-56F1AA65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F0FC6A-1780-4F8F-9D36-79F3411D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36BCA-1FCD-4A67-B46E-8C762BB2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E3B5B-6DDC-4F2F-A727-902897AF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B0CBE9-66B1-46FF-97AC-D8BBCBA7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4250C-1A99-4EA2-B973-0BED740F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CD500-AB96-4BB8-AFFD-5F093D2F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0BEEF-F627-4F20-A873-D3AB5F4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FD7728-77C2-446F-B2B8-CEE89B5D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F6F83-2DA0-4683-A759-907E95A7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LOSS ACCOUNTING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23D7B9-F141-4DB4-8229-1AA8D249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E5673-7707-482D-BFCF-836DE523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モデルは復旧失敗を，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検知失敗と保持超過に分けて数える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D747BB-73E6-46C0-A9DC-DC0D2EAB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式を読む前に，何の損失を比較しているかを分ける。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BA286-69A9-4E7E-BB04-C714BA15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B0FE9E-AD64-407D-913B-E57954B5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812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A66145-874C-45DA-9A86-67E9B09B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338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6E5"/>
          </a:solidFill>
          <a:ln xmlns:a="http://schemas.openxmlformats.org/drawingml/2006/main" w="9525">
            <a:solidFill>
              <a:srgbClr val="E33D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0BBDB8-A7CD-4279-80EC-DECCF6ED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3812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CAE624-EC23-405B-8791-F235DD0C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13385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6E5"/>
          </a:solidFill>
          <a:ln xmlns:a="http://schemas.openxmlformats.org/drawingml/2006/main" w="9525">
            <a:solidFill>
              <a:srgbClr val="E33D3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EC49B-F786-4BD0-9B8F-0366EB2F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05150"/>
            <a:ext cx="16192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感染が起きる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B75D85-C573-4BAA-98F3-86A51DD5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8605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検知できた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4EAF6B-78B4-42EB-90CE-A005E202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76575"/>
            <a:ext cx="16192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早期封じ込め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B99666-9598-4741-AAC1-3B6F8828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38650"/>
            <a:ext cx="171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検知できない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589F43-0F53-405F-A5F6-FB65AAB3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29175"/>
            <a:ext cx="1809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症状化後に復旧判断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16A9A5-328D-401E-A22F-2496C6F2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清浄点が残る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6CBF29-1CD7-4A68-9A7C-34A16E75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76575"/>
            <a:ext cx="17145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復旧費 + 確認時間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B2FE6D-81ED-487E-AB6E-2CCF3C10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62450"/>
            <a:ext cx="1619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清浄点がない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822BC6-1546-4589-BB13-FB604E81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7815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全損 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03139E-A1DE-41C5-806D-0B107718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76600"/>
            <a:ext cx="1638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A6CDE6-1B77-4EF9-9A27-020154D2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48150"/>
            <a:ext cx="1638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088E82-1403-4154-9DE8-84ECEF7F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1447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831117-9319-4DC4-A320-A1CA7C0C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67250"/>
            <a:ext cx="1447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733A38-63F4-4D2D-95A9-BAACE358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76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FFF2C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08780E-DDE2-4DE2-AFF6-0C7FBCAC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242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E5A100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E5A100"/>
                </a:solidFill>
                <a:latin typeface="Hiragino Sans"/>
                <a:ea typeface="Hiragino Sans"/>
                <a:cs typeface="Hiragino Sans"/>
              </a:rPr>
              <a:t>式が比べる場所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C2BDCA-B5D7-4552-8AA8-3A769C52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91200"/>
            <a:ext cx="7620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全損を避ける価値と，古い清浄点へ戻る負荷の釣り合いを見る。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CFC32F-9AA2-493F-86C4-0587FF21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02_model_formulation.tex; 05_backup_optimization.tex.</a:t>
            </a:r>
          </a:p>
        </p:txBody>
      </p:sp>
    </p:spTree>
    <p:extLst>
      <p:ext uri="{BB962C8B-B14F-4D97-AF65-F5344CB8AC3E}">
        <p14:creationId xmlns:p14="http://schemas.microsoft.com/office/powerpoint/2010/main" val="64597869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B4B872-016F-40C9-A49B-04F8D815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6C147-56C9-449A-916F-3EBAEA32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B75CC-E273-4514-8239-EBB8F7B8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9B6E8-F9D3-44D8-B2FC-DC783D0E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09100-32A7-47C0-936A-50C2A5E7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9B866-24CB-419C-A5C3-79B5EE25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1ADD7D-B505-413C-8D1F-86866A5F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E9078-79B6-4599-9AB6-D28D997B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BB803-2089-4348-A2B4-841C88ED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998F1-DFC3-48B2-990B-CBA39F42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73320-9EE5-430E-B797-DD946FC5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B526E-9BB5-496E-A1AE-88DF5C89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3BBBC-7ACC-402E-86C9-D716630C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89349-A467-4C42-992C-95495917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D7FC45-9BE7-4842-8B50-3F86A36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72CB2-C1EB-4D7E-B29B-43DC2262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BC30CD-EE05-47EB-8D0B-AC8CD431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F70C15-ABF3-4402-8C10-0DD82F0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4CAA25-464A-422B-87C5-7F0E194A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FORMULA READING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45B39-96DD-4719-BA36-6BE52F47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22E215-7776-497A-8E29-1672DFF9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式は，計算ではなく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“何を残すべきか”として読む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797F28-A26F-4E46-A990-76D2CF57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最初に見るのはバックアップ間隔 Δ* ではなく，清浄履歴の長さ a*。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CC133B-36FE-4769-A447-C700E515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0782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9525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50FE50-8D14-4D7E-A9A7-B89F795A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a* = nΔ* =  [ L − (d₁τ_R + d₀) ]  /  [ d₁κ_s 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ED719C-93A9-4DFB-B1D0-E61301EC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276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E2536C-E774-40E9-88DA-8735032E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14575"/>
            <a:ext cx="112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まず a* を読む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FB47F8-2C29-4118-9C23-97122DE4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051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a* = 清浄な復旧点を何日前まで残すべきか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76DEF8-4280-4622-92DE-6C0E78C1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90950"/>
            <a:ext cx="31051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CA2674-8E12-4F8B-AB0B-74AEE1B4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38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1. 分子を見る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E2932-2449-4B14-A7FF-B189E06D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481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全損を避ける価値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0592E6-12DE-42A6-BBD5-1EFC0CC2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2686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L は全損した時の損失。</a:t>
            </a:r>
          </a:p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d₁τ_R+d₀ は通常復旧でも払う損失。</a:t>
            </a:r>
          </a:p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差が大きいほど，古い清浄点を残す価値が上がる。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F0A2DC-7FBE-4545-87F2-278FC341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90950"/>
            <a:ext cx="31051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6E5"/>
          </a:solidFill>
          <a:ln xmlns:a="http://schemas.openxmlformats.org/drawingml/2006/main" w="9525">
            <a:solidFill>
              <a:srgbClr val="E33D3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069E01-C9A4-4146-8D6D-F6A8571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43350"/>
            <a:ext cx="238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2. 分母を見る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A3D5A4-2E00-4EBA-9FE8-698C7950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481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古く戻るほど増える負荷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E3E032-B57C-4CCF-9801-C4A8ED1A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86300"/>
            <a:ext cx="2686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d₁ は停止1日あたり損失。</a:t>
            </a:r>
          </a:p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κ_s は古い復旧点ほど確認時間が増える係数。</a:t>
            </a:r>
          </a:p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大きいほど，長く戻る設計は重くなる。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6891A0-6D44-4957-B12B-73BEA5F5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90950"/>
            <a:ext cx="31051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EFF"/>
          </a:solidFill>
          <a:ln xmlns:a="http://schemas.openxmlformats.org/drawingml/2006/main" w="9525">
            <a:solidFill>
              <a:srgbClr val="376F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B09FED-4A3D-49B9-B227-1694965D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43350"/>
            <a:ext cx="238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76FE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376FEA"/>
                </a:solidFill>
                <a:latin typeface="Hiragino Sans"/>
                <a:ea typeface="Hiragino Sans"/>
                <a:cs typeface="Hiragino Sans"/>
              </a:rPr>
              <a:t>3. 最後に Δ* へ戻す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45890A-95B0-4712-A722-4FAB902C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481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世代数 n で間隔に割る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AD14A7-0566-4530-9752-74F6B36A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86300"/>
            <a:ext cx="2686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n は保持するバックアップ世代数。</a:t>
            </a:r>
          </a:p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Δ* = a*/n。</a:t>
            </a:r>
          </a:p>
          <a:p xmlns:a="http://schemas.openxmlformats.org/drawingml/2006/main">
            <a:pPr algn="l">
              <a:def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世代数を増やせるなら，同じ清浄履歴を短い間隔で実現できる。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8BB7A5-2A1C-456F-BC79-8114B32C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19750"/>
            <a:ext cx="918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807867-9F3E-476C-B1C4-B75C2B67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7912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読み方: 「全損を避ける価値」が「古く戻る負荷」をどこまで上回るか。その釣り合いが a*。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678247-FB9D-408C-B5A6-16BAA2DE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191250"/>
            <a:ext cx="7334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3909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83909A"/>
                </a:solidFill>
                <a:latin typeface="Hiragino Sans"/>
                <a:ea typeface="Hiragino Sans"/>
                <a:cs typeface="Hiragino Sans"/>
              </a:rPr>
              <a:t>条件: Λ=L−(d₁τ_R+d₀)&gt;0, κ_s&gt;0, Δmin&lt;Δ*&lt;Δmax の内点解として読む。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1DDBA1-D89C-4653-A411-8BB9915F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05_backup_optimization.tex, theorem and practical interpretation remark.</a:t>
            </a:r>
          </a:p>
        </p:txBody>
      </p:sp>
    </p:spTree>
    <p:extLst>
      <p:ext uri="{BB962C8B-B14F-4D97-AF65-F5344CB8AC3E}">
        <p14:creationId xmlns:p14="http://schemas.microsoft.com/office/powerpoint/2010/main" val="69579021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C45A6C-2D85-485D-B937-37D80F16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9CB73-E7A0-4F8E-B4CB-6055BC0D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0503F-27BB-428F-8FD1-D74D52FD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B3E871-2588-48CD-B6B8-5C945C43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01EC2-0CA9-4B8B-9FCC-BD77A7F9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F6E2A-CCD1-4B84-9070-EC8E126F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79D82-1ECA-4D5B-87C2-BE05DE9F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85432-1977-4573-B499-CB3344DC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40818-5CCE-4AD8-93F6-860D683C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5D68F-57E2-4BC5-A14F-FF07E0FC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F824B-CE06-4C09-AF26-3BDBD646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AB465-0F57-43F0-A7FF-68CC3F65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AFF4C-BBB1-43AC-9939-27550022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990D91-63E0-4664-A452-0563DA83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ADC8F4-77DF-41E9-803A-82C9076D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D8D31D-2C07-40DC-886E-8038A755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5E743A-37A6-43AB-BA46-1C516672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39B8CF-7460-4E0F-8815-D05CEC15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581EE-AC50-4CE5-BAB9-FA04007E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DESIGN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186A85-D77F-4836-9F9D-627DF5C6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FDBB84-D443-4E6E-962C-A5ADB49C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まず決めるのは，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間隔ではなく清浄履歴の長さ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C06673-CBC4-40AB-84AE-C7EED5B1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a* を決めてから，n で割って Δ* に落とす。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BECBAF-665E-46FC-85E8-69ADC9F2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3FDA9E-3E90-49B9-97B3-F16CB855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3143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1820"/>
                </a:solidFill>
                <a:latin typeface="Aptos Display"/>
                <a:ea typeface="Aptos Display"/>
                <a:cs typeface="Aptos Display"/>
              </a:rPr>
              <a:t>Δ* = a* / 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715DDF-1BFC-41EA-92BE-D600783F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8615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a* は「戻れるべき清浄履歴」。</a:t>
            </a:r>
          </a:p>
          <a:p xmlns:a="http://schemas.openxmlformats.org/drawingml/2006/main">
            <a:pPr algn="l">
              <a:defRPr sz="120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Δ* はそれを何世代で刻むかの結果。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B9EF1-2270-46F9-9E45-1A22BE20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DDF6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FFADD-8610-4571-8ED3-BAE1B19C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19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L が大きい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082A0D-8226-4549-9E0F-DF133458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00325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清浄履歴 a* を長く残す価値が上がる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A4890E-E557-44DC-8F56-8A036136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9562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FFF2C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D9854E-C48F-4DFD-8519-E3038E3F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E5A100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E5A100"/>
                </a:solidFill>
                <a:latin typeface="Hiragino Sans"/>
                <a:ea typeface="Hiragino Sans"/>
                <a:cs typeface="Hiragino Sans"/>
              </a:rPr>
              <a:t>復旧時間 τ_R が長い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52A1AC-2EE1-48C1-8B36-4DF28B61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24200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通常復旧も高くつくので，保持だけでなく復旧短縮も要る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D3D0A3-805C-4AA4-A46D-AA127D98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195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6E5"/>
          </a:solidFill>
          <a:ln xmlns:a="http://schemas.openxmlformats.org/drawingml/2006/main" w="9525">
            <a:solidFill>
              <a:srgbClr val="FFE6E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78963D-C90A-477B-94CE-AC013F75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671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E33D3B"/>
                </a:solidFill>
                <a:latin typeface="Hiragino Sans"/>
                <a:ea typeface="Hiragino Sans"/>
                <a:cs typeface="Hiragino Sans"/>
              </a:rPr>
              <a:t>κ_s が大きい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B83CE7-501B-4996-A023-9D5A8801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48075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古い復旧点ほど確認負荷が重く，a* は伸ばしにくい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86575A-A329-4729-8AB7-D6A5DBFC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4337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EFF"/>
          </a:solidFill>
          <a:ln xmlns:a="http://schemas.openxmlformats.org/drawingml/2006/main" w="9525">
            <a:solidFill>
              <a:srgbClr val="E6EE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AD5014-9614-499F-8400-52F3008E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9100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76FEA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376FEA"/>
                </a:solidFill>
                <a:latin typeface="Hiragino Sans"/>
                <a:ea typeface="Hiragino Sans"/>
                <a:cs typeface="Hiragino Sans"/>
              </a:rPr>
              <a:t>n を増やせる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CE07E3-BF06-4077-A6AC-66A0D0E9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71950"/>
            <a:ext cx="3905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同じ a* を，より短い Δ* で刻む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E07836-153B-4470-B85B-5A291CB2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48300"/>
            <a:ext cx="914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9525">
            <a:solidFill>
              <a:srgbClr val="17202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842863-52BD-4565-AAD7-CAD43B99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66775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結論: この式は「バックアップを何分ごとに取るか」より先に，何日前まで清浄に戻れるべきかを聞いている。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3BC3BC-4D15-492C-BFEA-AD2AB928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05_backup_optimization.tex; 08_conclusion.tex.</a:t>
            </a:r>
          </a:p>
        </p:txBody>
      </p:sp>
    </p:spTree>
    <p:extLst>
      <p:ext uri="{BB962C8B-B14F-4D97-AF65-F5344CB8AC3E}">
        <p14:creationId xmlns:p14="http://schemas.microsoft.com/office/powerpoint/2010/main" val="6024143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9B4F90-1439-4388-905F-90AD5726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2EECF-0F70-4EF9-B20C-B6B40ED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3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BDA99-D7B9-446D-8E10-4A47872D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818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502F5-5B6A-4BA7-BB76-E76241D2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29087-B77E-470B-93F4-0C97A1B4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FCCD2-FF14-4E30-9C0E-00114A9A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E5825-45FF-4150-B286-225D34DC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88475-2C54-447C-83B8-B35E2EF4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8F757-FC53-476F-BBB0-BC6667DF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B67E8-52B5-4C01-AB3F-38A61A3D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53A73-6058-4ABC-A751-D93EDE57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60C4B-A851-4660-9254-25FB770E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852C48-09E4-4078-BA08-E6D3D0E2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25985A-96E0-4F18-8C9B-29776EA4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9AAF68-9BC7-484B-A7FA-05692CC8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EA2064-C965-49E7-923B-3125126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2E5BF5-1385-4055-8A89-AD90238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F4B500-1B12-4E56-8B2F-D8E7A91B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FF0424-C13C-4451-8CC1-B9D5C869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A8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0A887"/>
                </a:solidFill>
                <a:latin typeface="Aptos"/>
                <a:ea typeface="Aptos"/>
                <a:cs typeface="Aptos"/>
              </a:rPr>
              <a:t>OPERATING LOOP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C27529-8022-4443-990B-CCCA40FB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390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3909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887EB6-6B88-4EFE-97F3-16C98C5A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858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式は，現場で使う</a:t>
            </a:r>
          </a:p>
          <a:p xmlns:a="http://schemas.openxmlformats.org/drawingml/2006/main">
            <a:pPr algn="l">
              <a:def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判断手順になる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A7FB2-7BB4-4434-A29D-8F643BDD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検知遅れ・復旧時間・追加保持を同じ表で更新する。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A70BA5-E434-4821-84BE-BB8E467F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79374F-143A-4F99-AB8D-269DC641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21820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1C23DB-C59A-4528-ACCC-A5BC460D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検知遅れを測る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B23954-1B48-46DD-9498-B275B5E6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T_d, β, η を更新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2B87C3-32B2-4BA2-9A4B-F70700AD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861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29390D-F933-4227-8691-740721D0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38500"/>
            <a:ext cx="342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3909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83909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D7C51C-ADB1-412A-80A1-E9D9481D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3DEA69-DF87-4323-A624-93BB2FC9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A88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0A88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B7C9EC-CD75-4128-91F5-AB1AE960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清浄履歴を見る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CCD088-BB92-4F9D-B7BB-32446BC9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a*=nΔ が足りるか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EC7DE-50F0-4C68-8889-4D5BF7FA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4861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724C47-620A-4805-A980-0E9849CC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38500"/>
            <a:ext cx="342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3909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83909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59512-0D90-4ED7-922F-83CAEC95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C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435882-C2A1-4E89-A700-B3B03D52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21820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42B47E-FEF3-4EF1-86C7-529520DA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復旧時間を測る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BCB2F0-C1C9-40B2-BADF-F34FC55C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τ_R, d₁, d₀ を更新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017EFC-92E9-48DE-B625-C806BA33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861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7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4AFA15-DB71-4939-A410-F4081500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38500"/>
            <a:ext cx="342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83909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83909A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ED418D-DEB4-4704-8A80-A721EB44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1526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00A88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41B28E-0F1F-429F-AE28-694ABBCB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527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A88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0A88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16BED3-E3F5-489F-8C9A-DA2A2E52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90850"/>
            <a:ext cx="1333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21820"/>
                </a:solidFill>
                <a:latin typeface="Hiragino Sans"/>
                <a:ea typeface="Hiragino Sans"/>
                <a:cs typeface="Hiragino Sans"/>
              </a:rPr>
              <a:t>保持を決める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71D1FE-284C-4994-9972-F14E1DC3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62350"/>
            <a:ext cx="1695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n, Δ, 追加世代を評価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9DDF59-BF2A-4552-9724-8D9F30C4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9982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9525">
            <a:solidFill>
              <a:srgbClr val="1720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9DC213-9DCF-45C9-AD42-60318EDC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9334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判断は単純: 保存費用 + 復旧できない損失を比べて，追加で何世代残すかを決める。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34599E-E74D-4E7A-AD53-DA1E731D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734050"/>
            <a:ext cx="670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3616D"/>
                </a:solidFill>
                <a:latin typeface="Hiragino Sans"/>
                <a:ea typeface="Hiragino Sans"/>
                <a:cs typeface="Hiragino Sans"/>
              </a:rPr>
              <a:t>ここでも見るのは式そのものではなく「費用を増やす価値があるか」。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C03FD9A-0D46-4E42-AB0F-9350A08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954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F"/>
          </a:solidFill>
          <a:ln xmlns:a="http://schemas.openxmlformats.org/drawingml/2006/main" w="9525">
            <a:solidFill>
              <a:srgbClr val="DDF6E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A2B196-5BC5-4BFE-98AD-87A63304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430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00A887"/>
                </a:solidFill>
                <a:latin typeface="Hiragino Sans"/>
                <a:ea typeface="Hiragino Sans"/>
                <a:cs typeface="Hiragino Sans"/>
              </a:rPr>
              <a:t>判断手順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17D5EA-77E4-4678-A3F3-8C820BC4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1009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9AA5AE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9AA5AE"/>
                </a:solidFill>
                <a:latin typeface="Aptos"/>
                <a:ea typeface="Aptos"/>
                <a:cs typeface="Aptos"/>
              </a:rPr>
              <a:t>Provenance note: 05_backup_optimization.tex; 06_dynamic_retention.tex; 07_numerical_examples.tex; docs/evidence/heavy_tail_backup_source_note.md.</a:t>
            </a:r>
          </a:p>
        </p:txBody>
      </p:sp>
    </p:spTree>
    <p:extLst>
      <p:ext uri="{BB962C8B-B14F-4D97-AF65-F5344CB8AC3E}">
        <p14:creationId xmlns:p14="http://schemas.microsoft.com/office/powerpoint/2010/main" val="8460764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2026-05-16T23:04:11.0030000Z</dcterms:created>
  <dcterms:modified xsi:type="dcterms:W3CDTF">2026-05-16T23:04:11.0030000Z</dcterms:modified>
</coreProperties>
</file>